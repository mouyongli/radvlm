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68" r:id="rId9"/>
  </p:sldIdLst>
  <p:sldSz cx="12192000" cy="6858000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17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216B5DB-5D68-4814-907C-F7227D00AD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24B3AFF-129D-456B-B4F9-5E744A340D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00C0B110-231F-4A48-AE05-5D93A579FCED}" type="datetimeFigureOut">
              <a:rPr lang="de-DE" altLang="de-DE"/>
              <a:pPr>
                <a:defRPr/>
              </a:pPr>
              <a:t>19.01.2026</a:t>
            </a:fld>
            <a:endParaRPr lang="de-DE" alt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2D42C6-B7A4-4ED5-918A-B40D2A33F2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BEAF45-F4F5-4D18-B827-F9B4A96DA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9E6BF9E4-46F6-4039-9038-EF7EDC6EB61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490B3959-9C73-477D-A96D-CFD2D31100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AB0ED7C-5FB7-490C-8F25-F75E55492E0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E0653CA7-91CF-4ABB-86E0-107F0CE43DAB}" type="datetimeFigureOut">
              <a:rPr lang="de-DE" altLang="de-DE"/>
              <a:pPr>
                <a:defRPr/>
              </a:pPr>
              <a:t>19.01.2026</a:t>
            </a:fld>
            <a:endParaRPr lang="de-DE" altLang="de-DE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5A21B49D-2FC6-4CAB-8706-3A59B5A11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91F7BE82-8AE7-46B7-94F9-EB0561465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52C2DF-5042-4EA8-9DF2-7795481E8D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28D133-81F0-41C5-8DC7-1261F64E1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D2483AC7-C354-4F2B-9AC6-9802F9071BE7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lienbildplatzhalter 1">
            <a:extLst>
              <a:ext uri="{FF2B5EF4-FFF2-40B4-BE49-F238E27FC236}">
                <a16:creationId xmlns:a16="http://schemas.microsoft.com/office/drawing/2014/main" id="{2CF24CF4-9761-46ED-A569-EBA65C41E0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izenplatzhalter 2">
            <a:extLst>
              <a:ext uri="{FF2B5EF4-FFF2-40B4-BE49-F238E27FC236}">
                <a16:creationId xmlns:a16="http://schemas.microsoft.com/office/drawing/2014/main" id="{BC2ECC64-C202-4234-9770-B8DF01A25C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de-DE" altLang="de-DE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C5575610-7A69-4565-B1D6-E98B3354490C}"/>
              </a:ext>
            </a:extLst>
          </p:cNvPr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113EC85-DADF-4A3B-A804-FACEE187A047}"/>
              </a:ext>
            </a:extLst>
          </p:cNvPr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9" name="Grafik 14">
            <a:extLst>
              <a:ext uri="{FF2B5EF4-FFF2-40B4-BE49-F238E27FC236}">
                <a16:creationId xmlns:a16="http://schemas.microsoft.com/office/drawing/2014/main" id="{BE146E6A-AEE3-48A0-801D-5C98B8D7F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57250" y="6043613"/>
            <a:ext cx="327693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0859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BE8F10BD-223D-467F-8566-B963B3245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7BC09ED-EB1F-408E-93CB-4A13A0E5EF59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9" name="Grafik 14">
            <a:extLst>
              <a:ext uri="{FF2B5EF4-FFF2-40B4-BE49-F238E27FC236}">
                <a16:creationId xmlns:a16="http://schemas.microsoft.com/office/drawing/2014/main" id="{7EE959C5-3B35-42EB-9D8E-4F98CE6A67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57250" y="6043613"/>
            <a:ext cx="327693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708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D4EE611E-B53B-410B-BB0F-748799C31EBA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>
            <a:extLst>
              <a:ext uri="{FF2B5EF4-FFF2-40B4-BE49-F238E27FC236}">
                <a16:creationId xmlns:a16="http://schemas.microsoft.com/office/drawing/2014/main" id="{0258E79C-4EE5-45F0-90ED-92811741A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7" name="Grafik 14">
            <a:extLst>
              <a:ext uri="{FF2B5EF4-FFF2-40B4-BE49-F238E27FC236}">
                <a16:creationId xmlns:a16="http://schemas.microsoft.com/office/drawing/2014/main" id="{1F3FAFFD-AA49-45CF-87EB-53E4C44CE8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57250" y="6043613"/>
            <a:ext cx="327693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959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0BACA7F1-8CE0-4C7D-8279-492E1B91A710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14">
            <a:extLst>
              <a:ext uri="{FF2B5EF4-FFF2-40B4-BE49-F238E27FC236}">
                <a16:creationId xmlns:a16="http://schemas.microsoft.com/office/drawing/2014/main" id="{844545F9-6803-469A-BF8D-BCA10B91E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57250" y="6043613"/>
            <a:ext cx="327693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5933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>
            <a:extLst>
              <a:ext uri="{FF2B5EF4-FFF2-40B4-BE49-F238E27FC236}">
                <a16:creationId xmlns:a16="http://schemas.microsoft.com/office/drawing/2014/main" id="{39ECF4EF-76C6-4549-86EB-0760FBAAC044}"/>
              </a:ext>
            </a:extLst>
          </p:cNvPr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14">
            <a:extLst>
              <a:ext uri="{FF2B5EF4-FFF2-40B4-BE49-F238E27FC236}">
                <a16:creationId xmlns:a16="http://schemas.microsoft.com/office/drawing/2014/main" id="{B2BE1BA2-CEC2-49AA-843D-581BF914C6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57250" y="6043613"/>
            <a:ext cx="327693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2738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31128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8814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>
            <a:extLst>
              <a:ext uri="{FF2B5EF4-FFF2-40B4-BE49-F238E27FC236}">
                <a16:creationId xmlns:a16="http://schemas.microsoft.com/office/drawing/2014/main" id="{5CF526AC-29B7-4CB1-914E-44F9FA3EF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0874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50E548E8-D756-42E7-8C62-3E71DB1E3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5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52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BB3EDB2-A946-42FD-9702-24948BF3A4F1}"/>
              </a:ext>
            </a:extLst>
          </p:cNvPr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 dirty="0" err="1">
                <a:solidFill>
                  <a:schemeClr val="tx2"/>
                </a:solidFill>
              </a:rPr>
              <a:t>Thank</a:t>
            </a:r>
            <a:r>
              <a:rPr lang="de-DE" altLang="de-DE" sz="3200" b="1" dirty="0">
                <a:solidFill>
                  <a:schemeClr val="tx2"/>
                </a:solidFill>
              </a:rPr>
              <a:t> </a:t>
            </a:r>
            <a:r>
              <a:rPr lang="de-DE" altLang="de-DE" sz="3200" b="1" dirty="0" err="1">
                <a:solidFill>
                  <a:schemeClr val="tx2"/>
                </a:solidFill>
              </a:rPr>
              <a:t>you</a:t>
            </a:r>
            <a:endParaRPr lang="en-US" altLang="de-DE" sz="3200" b="1" dirty="0">
              <a:solidFill>
                <a:schemeClr val="tx2"/>
              </a:solidFill>
            </a:endParaRPr>
          </a:p>
        </p:txBody>
      </p:sp>
      <p:cxnSp>
        <p:nvCxnSpPr>
          <p:cNvPr id="5" name="Gerader Verbinder 11">
            <a:extLst>
              <a:ext uri="{FF2B5EF4-FFF2-40B4-BE49-F238E27FC236}">
                <a16:creationId xmlns:a16="http://schemas.microsoft.com/office/drawing/2014/main" id="{6B101EF6-1AE1-4767-A73B-683987A98886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Grafik 14">
            <a:extLst>
              <a:ext uri="{FF2B5EF4-FFF2-40B4-BE49-F238E27FC236}">
                <a16:creationId xmlns:a16="http://schemas.microsoft.com/office/drawing/2014/main" id="{F1C69CA9-37B1-46BF-BEED-1F224D9B64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57250" y="6043613"/>
            <a:ext cx="327693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5055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97A0A06-3ED0-4FBF-AD6A-C681B1FBF6A1}"/>
              </a:ext>
            </a:extLst>
          </p:cNvPr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de-DE" sz="900" dirty="0">
                <a:solidFill>
                  <a:schemeClr val="tx2"/>
                </a:solidFill>
              </a:rPr>
              <a:t>Knowledge Graph-Enhanced Vision-Language Models for Radiology Report Generation  </a:t>
            </a:r>
            <a:r>
              <a:rPr lang="de-DE" altLang="de-DE" sz="900" dirty="0">
                <a:solidFill>
                  <a:schemeClr val="tx2"/>
                </a:solidFill>
              </a:rPr>
              <a:t>|  Antonia Gustke  |  Master Thesis |  WS2025/26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4C5A2FE3-CAB4-4857-A3EC-ADF25F4E6B88}"/>
              </a:ext>
            </a:extLst>
          </p:cNvPr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DEECD01C-4E83-4F2F-AC6F-146FCCB9B2D4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>
            <a:extLst>
              <a:ext uri="{FF2B5EF4-FFF2-40B4-BE49-F238E27FC236}">
                <a16:creationId xmlns:a16="http://schemas.microsoft.com/office/drawing/2014/main" id="{8EECAAF6-51DE-4A47-806F-524744DF8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>
            <a:extLst>
              <a:ext uri="{FF2B5EF4-FFF2-40B4-BE49-F238E27FC236}">
                <a16:creationId xmlns:a16="http://schemas.microsoft.com/office/drawing/2014/main" id="{ED6CCCE8-CFD8-41FA-BD5C-3AF2942F0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492F1D3-FF01-4B47-92F8-A40E57589C0B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‹Nr.›</a:t>
            </a:fld>
            <a:endParaRPr lang="de-DE" altLang="de-DE" sz="900">
              <a:solidFill>
                <a:schemeClr val="tx2"/>
              </a:solidFill>
            </a:endParaRPr>
          </a:p>
        </p:txBody>
      </p:sp>
      <p:pic>
        <p:nvPicPr>
          <p:cNvPr id="2" name="Grafik 14">
            <a:extLst>
              <a:ext uri="{FF2B5EF4-FFF2-40B4-BE49-F238E27FC236}">
                <a16:creationId xmlns:a16="http://schemas.microsoft.com/office/drawing/2014/main" id="{F8220276-ADB8-4F0F-9AD2-C74FD80DB47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57250" y="6043613"/>
            <a:ext cx="327693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57" r:id="rId6"/>
    <p:sldLayoutId id="2147483858" r:id="rId7"/>
    <p:sldLayoutId id="2147483865" r:id="rId8"/>
    <p:sldLayoutId id="2147483866" r:id="rId9"/>
    <p:sldLayoutId id="2147483859" r:id="rId10"/>
    <p:sldLayoutId id="2147483867" r:id="rId11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el 1">
            <a:extLst>
              <a:ext uri="{FF2B5EF4-FFF2-40B4-BE49-F238E27FC236}">
                <a16:creationId xmlns:a16="http://schemas.microsoft.com/office/drawing/2014/main" id="{8C797AB0-9B27-447C-A8E5-77C549306087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385763" y="2487613"/>
            <a:ext cx="11483975" cy="539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r>
              <a:rPr lang="en-US" dirty="0"/>
              <a:t>Knowledge Graph-Enhanced Vision-Language Models for Radiology Report Generation</a:t>
            </a:r>
            <a:endParaRPr lang="de-DE" dirty="0"/>
          </a:p>
        </p:txBody>
      </p:sp>
      <p:sp>
        <p:nvSpPr>
          <p:cNvPr id="10243" name="Untertitel 2">
            <a:extLst>
              <a:ext uri="{FF2B5EF4-FFF2-40B4-BE49-F238E27FC236}">
                <a16:creationId xmlns:a16="http://schemas.microsoft.com/office/drawing/2014/main" id="{99C85671-ACC6-4C58-A8D3-35222A0E58FC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385762" y="3429000"/>
            <a:ext cx="11483975" cy="165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r>
              <a:rPr lang="de-DE" dirty="0"/>
              <a:t>Master Thesis </a:t>
            </a:r>
            <a:r>
              <a:rPr lang="de-DE" dirty="0" err="1"/>
              <a:t>Proposal</a:t>
            </a:r>
            <a:endParaRPr lang="de-DE" altLang="de-DE" dirty="0">
              <a:ea typeface="ＭＳ Ｐゴシック" panose="020B0600070205080204" pitchFamily="34" charset="-128"/>
            </a:endParaRPr>
          </a:p>
          <a:p>
            <a:r>
              <a:rPr lang="de-DE" altLang="de-DE" dirty="0">
                <a:ea typeface="ＭＳ Ｐゴシック" panose="020B0600070205080204" pitchFamily="34" charset="-128"/>
              </a:rPr>
              <a:t>Antonia Gustke, 460097</a:t>
            </a:r>
          </a:p>
          <a:p>
            <a:r>
              <a:rPr lang="de-DE" altLang="de-DE" dirty="0" err="1">
                <a:ea typeface="ＭＳ Ｐゴシック" panose="020B0600070205080204" pitchFamily="34" charset="-128"/>
              </a:rPr>
              <a:t>Advisor</a:t>
            </a:r>
            <a:r>
              <a:rPr lang="de-DE" altLang="de-DE" dirty="0">
                <a:ea typeface="ＭＳ Ｐゴシック" panose="020B0600070205080204" pitchFamily="34" charset="-128"/>
              </a:rPr>
              <a:t>: </a:t>
            </a:r>
            <a:r>
              <a:rPr lang="de-DE" altLang="de-DE" dirty="0" err="1">
                <a:ea typeface="ＭＳ Ｐゴシック" panose="020B0600070205080204" pitchFamily="34" charset="-128"/>
              </a:rPr>
              <a:t>Yongli</a:t>
            </a:r>
            <a:r>
              <a:rPr lang="de-DE" altLang="de-DE" dirty="0">
                <a:ea typeface="ＭＳ Ｐゴシック" panose="020B0600070205080204" pitchFamily="34" charset="-128"/>
              </a:rPr>
              <a:t> </a:t>
            </a:r>
            <a:r>
              <a:rPr lang="de-DE" altLang="de-DE" dirty="0" err="1">
                <a:ea typeface="ＭＳ Ｐゴシック" panose="020B0600070205080204" pitchFamily="34" charset="-128"/>
              </a:rPr>
              <a:t>Mou</a:t>
            </a:r>
            <a:r>
              <a:rPr lang="de-DE" altLang="de-DE" dirty="0">
                <a:ea typeface="ＭＳ Ｐゴシック" panose="020B0600070205080204" pitchFamily="34" charset="-128"/>
              </a:rPr>
              <a:t>, </a:t>
            </a:r>
            <a:r>
              <a:rPr lang="de-DE" altLang="de-DE" dirty="0" err="1">
                <a:ea typeface="ＭＳ Ｐゴシック" panose="020B0600070205080204" pitchFamily="34" charset="-128"/>
              </a:rPr>
              <a:t>M.Sc</a:t>
            </a:r>
            <a:r>
              <a:rPr lang="de-DE" altLang="de-DE" dirty="0">
                <a:ea typeface="ＭＳ Ｐゴシック" panose="020B0600070205080204" pitchFamily="34" charset="-128"/>
              </a:rPr>
              <a:t>.</a:t>
            </a:r>
          </a:p>
          <a:p>
            <a:r>
              <a:rPr lang="de-DE" altLang="de-DE" dirty="0">
                <a:ea typeface="ＭＳ Ｐゴシック" panose="020B0600070205080204" pitchFamily="34" charset="-128"/>
              </a:rPr>
              <a:t>Supervisor: Prof. Dr. Stefan Decker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7E21376-3D0F-8C36-DB79-35489B8FE4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Unusual grammar and style</a:t>
            </a:r>
          </a:p>
          <a:p>
            <a:r>
              <a:rPr lang="en-US" dirty="0"/>
              <a:t>Unnatural sentence structure</a:t>
            </a:r>
          </a:p>
          <a:p>
            <a:r>
              <a:rPr lang="en-US" dirty="0"/>
              <a:t>Repetition and rigid templates</a:t>
            </a:r>
          </a:p>
          <a:p>
            <a:r>
              <a:rPr lang="en-US" dirty="0"/>
              <a:t>Incoherent statements</a:t>
            </a:r>
          </a:p>
          <a:p>
            <a:endParaRPr lang="en-US" dirty="0"/>
          </a:p>
          <a:p>
            <a:r>
              <a:rPr lang="en-US" dirty="0"/>
              <a:t>=&gt; Linguistic problem, not a medical one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04AFE85-07FA-E221-67DB-353125AA6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 Statement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5084407-0C9B-1272-4D46-156DD14DF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missing</a:t>
            </a:r>
            <a:r>
              <a:rPr lang="de-DE" dirty="0"/>
              <a:t> in </a:t>
            </a:r>
            <a:r>
              <a:rPr lang="de-DE" dirty="0" err="1"/>
              <a:t>radiology</a:t>
            </a:r>
            <a:r>
              <a:rPr lang="de-DE" dirty="0"/>
              <a:t> </a:t>
            </a:r>
            <a:r>
              <a:rPr lang="de-DE" dirty="0" err="1"/>
              <a:t>reports</a:t>
            </a:r>
            <a:r>
              <a:rPr lang="de-DE" dirty="0"/>
              <a:t> </a:t>
            </a:r>
            <a:r>
              <a:rPr lang="de-DE" dirty="0" err="1"/>
              <a:t>written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AI?</a:t>
            </a:r>
          </a:p>
        </p:txBody>
      </p:sp>
    </p:spTree>
    <p:extLst>
      <p:ext uri="{BB962C8B-B14F-4D97-AF65-F5344CB8AC3E}">
        <p14:creationId xmlns:p14="http://schemas.microsoft.com/office/powerpoint/2010/main" val="876620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5D1A80A-ECE3-320D-4036-35C9ACF1CE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Development of an AI model that:</a:t>
            </a:r>
          </a:p>
          <a:p>
            <a:pPr lvl="1"/>
            <a:r>
              <a:rPr lang="en-US" dirty="0"/>
              <a:t>Is clinically correct (measured separately)</a:t>
            </a:r>
          </a:p>
          <a:p>
            <a:pPr lvl="1"/>
            <a:r>
              <a:rPr lang="en-US" dirty="0"/>
              <a:t>Sounds like a human (evaluated by you)</a:t>
            </a:r>
          </a:p>
          <a:p>
            <a:r>
              <a:rPr lang="en-US" dirty="0"/>
              <a:t>Focus:</a:t>
            </a:r>
          </a:p>
          <a:p>
            <a:pPr lvl="1"/>
            <a:r>
              <a:rPr lang="en-US" dirty="0"/>
              <a:t>Style</a:t>
            </a:r>
          </a:p>
          <a:p>
            <a:pPr lvl="1"/>
            <a:r>
              <a:rPr lang="en-US" dirty="0"/>
              <a:t>Coherence</a:t>
            </a:r>
          </a:p>
          <a:p>
            <a:pPr lvl="1"/>
            <a:r>
              <a:rPr lang="en-US" dirty="0"/>
              <a:t>Readability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386BE6A-D8F7-3BEA-A2C4-39F65D7E3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Goal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thesis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8011BED-3521-8232-40BE-9F4778466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207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B3A4EC3-4E85-A279-AA19-179CACB772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Analogue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, a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learns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b="1" dirty="0" err="1"/>
              <a:t>feedback</a:t>
            </a:r>
            <a:endParaRPr lang="de-DE" b="1" dirty="0"/>
          </a:p>
          <a:p>
            <a:r>
              <a:rPr lang="de-DE" dirty="0"/>
              <a:t>A </a:t>
            </a:r>
            <a:r>
              <a:rPr lang="de-DE" dirty="0" err="1"/>
              <a:t>pretrained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reports</a:t>
            </a:r>
            <a:endParaRPr lang="de-DE" dirty="0"/>
          </a:p>
          <a:p>
            <a:r>
              <a:rPr lang="de-DE" dirty="0" err="1"/>
              <a:t>Evaluated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human („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report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in </a:t>
            </a:r>
            <a:r>
              <a:rPr lang="de-DE" dirty="0" err="1"/>
              <a:t>terms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style, </a:t>
            </a:r>
            <a:r>
              <a:rPr lang="de-DE" dirty="0" err="1"/>
              <a:t>coherence</a:t>
            </a:r>
            <a:r>
              <a:rPr lang="de-DE" dirty="0"/>
              <a:t> and </a:t>
            </a:r>
            <a:r>
              <a:rPr lang="de-DE" dirty="0" err="1"/>
              <a:t>readablility</a:t>
            </a:r>
            <a:r>
              <a:rPr lang="de-DE" dirty="0"/>
              <a:t>?“) </a:t>
            </a:r>
          </a:p>
          <a:p>
            <a:r>
              <a:rPr lang="de-DE" dirty="0"/>
              <a:t>Model </a:t>
            </a:r>
            <a:r>
              <a:rPr lang="de-DE" dirty="0" err="1"/>
              <a:t>learns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preference</a:t>
            </a:r>
            <a:r>
              <a:rPr lang="de-DE" dirty="0"/>
              <a:t> </a:t>
            </a:r>
            <a:r>
              <a:rPr lang="de-DE" dirty="0" err="1"/>
              <a:t>pairs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4E8AE36-998E-A818-8798-80F216B5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How </a:t>
            </a:r>
            <a:r>
              <a:rPr lang="de-DE" dirty="0" err="1"/>
              <a:t>does</a:t>
            </a:r>
            <a:r>
              <a:rPr lang="de-DE" dirty="0"/>
              <a:t> an AI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„</a:t>
            </a:r>
            <a:r>
              <a:rPr lang="de-DE" dirty="0" err="1"/>
              <a:t>sound</a:t>
            </a:r>
            <a:r>
              <a:rPr lang="de-DE" dirty="0"/>
              <a:t> like a human“?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A6686BB-E41F-FFF7-C727-C1FBCD8E1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26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1C30513-BFF4-608A-2316-3F90B4878B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6DE1F46-A451-00B8-AC7F-07EFC0BE9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Direct</a:t>
            </a:r>
            <a:r>
              <a:rPr lang="de-DE" dirty="0"/>
              <a:t> Preference </a:t>
            </a:r>
            <a:r>
              <a:rPr lang="de-DE" dirty="0" err="1"/>
              <a:t>Optimization</a:t>
            </a:r>
            <a:r>
              <a:rPr lang="de-DE" dirty="0"/>
              <a:t>?</a:t>
            </a:r>
          </a:p>
        </p:txBody>
      </p:sp>
      <p:pic>
        <p:nvPicPr>
          <p:cNvPr id="40" name="Inhaltsplatzhalter 39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E3DC8D00-F077-F1C4-BBA7-65D6D68BD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580" y="2853530"/>
            <a:ext cx="1800000" cy="1800000"/>
          </a:xfrm>
        </p:spPr>
      </p:pic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960ED0BD-2DA3-6326-B137-BC2C77B1FE2E}"/>
              </a:ext>
            </a:extLst>
          </p:cNvPr>
          <p:cNvGrpSpPr>
            <a:grpSpLocks noChangeAspect="1"/>
          </p:cNvGrpSpPr>
          <p:nvPr/>
        </p:nvGrpSpPr>
        <p:grpSpPr>
          <a:xfrm>
            <a:off x="967405" y="2791047"/>
            <a:ext cx="1867950" cy="1800000"/>
            <a:chOff x="6890327" y="1636222"/>
            <a:chExt cx="826807" cy="796741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1497A537-E1DF-3C14-D7AC-BE828B8F8F7B}"/>
                </a:ext>
              </a:extLst>
            </p:cNvPr>
            <p:cNvSpPr/>
            <p:nvPr/>
          </p:nvSpPr>
          <p:spPr>
            <a:xfrm>
              <a:off x="6890327" y="1636222"/>
              <a:ext cx="826807" cy="7967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70D64B35-9071-F5C8-FE07-0BE39DC5FB80}"/>
                </a:ext>
              </a:extLst>
            </p:cNvPr>
            <p:cNvCxnSpPr/>
            <p:nvPr/>
          </p:nvCxnSpPr>
          <p:spPr>
            <a:xfrm>
              <a:off x="6933946" y="1679066"/>
              <a:ext cx="0" cy="78123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A7C84333-9420-DE32-3F22-888A70CB5C9B}"/>
                </a:ext>
              </a:extLst>
            </p:cNvPr>
            <p:cNvCxnSpPr>
              <a:cxnSpLocks/>
            </p:cNvCxnSpPr>
            <p:nvPr/>
          </p:nvCxnSpPr>
          <p:spPr>
            <a:xfrm>
              <a:off x="6933946" y="1679066"/>
              <a:ext cx="78123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2B90778B-4CA2-DEE7-04E2-A6F34C43F440}"/>
                </a:ext>
              </a:extLst>
            </p:cNvPr>
            <p:cNvCxnSpPr/>
            <p:nvPr/>
          </p:nvCxnSpPr>
          <p:spPr>
            <a:xfrm>
              <a:off x="7678526" y="1677687"/>
              <a:ext cx="0" cy="78123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904A3D1A-0A07-E0DD-7701-7CA93FA4437E}"/>
                </a:ext>
              </a:extLst>
            </p:cNvPr>
            <p:cNvCxnSpPr>
              <a:cxnSpLocks/>
            </p:cNvCxnSpPr>
            <p:nvPr/>
          </p:nvCxnSpPr>
          <p:spPr>
            <a:xfrm>
              <a:off x="7600402" y="1677687"/>
              <a:ext cx="78123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942695D9-0F7B-B841-581E-A2745EF7A942}"/>
                </a:ext>
              </a:extLst>
            </p:cNvPr>
            <p:cNvCxnSpPr/>
            <p:nvPr/>
          </p:nvCxnSpPr>
          <p:spPr>
            <a:xfrm>
              <a:off x="7675245" y="2312951"/>
              <a:ext cx="0" cy="78123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72EA2C57-08F6-18A8-4551-9740E4256B6F}"/>
                </a:ext>
              </a:extLst>
            </p:cNvPr>
            <p:cNvCxnSpPr>
              <a:cxnSpLocks/>
            </p:cNvCxnSpPr>
            <p:nvPr/>
          </p:nvCxnSpPr>
          <p:spPr>
            <a:xfrm>
              <a:off x="7597121" y="2391074"/>
              <a:ext cx="78123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403FD563-0627-8ECF-399D-F3F8A943B1B9}"/>
                </a:ext>
              </a:extLst>
            </p:cNvPr>
            <p:cNvCxnSpPr/>
            <p:nvPr/>
          </p:nvCxnSpPr>
          <p:spPr>
            <a:xfrm>
              <a:off x="6935300" y="2312951"/>
              <a:ext cx="0" cy="78123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4D708A45-3D42-787B-0FC1-0425ABC9DA98}"/>
                </a:ext>
              </a:extLst>
            </p:cNvPr>
            <p:cNvCxnSpPr>
              <a:cxnSpLocks/>
            </p:cNvCxnSpPr>
            <p:nvPr/>
          </p:nvCxnSpPr>
          <p:spPr>
            <a:xfrm>
              <a:off x="6933946" y="2391074"/>
              <a:ext cx="78123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8" name="Grafik 17" descr="Lungen mit einfarbiger Füllung">
              <a:extLst>
                <a:ext uri="{FF2B5EF4-FFF2-40B4-BE49-F238E27FC236}">
                  <a16:creationId xmlns:a16="http://schemas.microsoft.com/office/drawing/2014/main" id="{5A5AA7E5-FE93-97F1-FD14-8130125F3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973008" y="1703870"/>
              <a:ext cx="661446" cy="661446"/>
            </a:xfrm>
            <a:prstGeom prst="rect">
              <a:avLst/>
            </a:prstGeom>
          </p:spPr>
        </p:pic>
      </p:grpSp>
      <p:pic>
        <p:nvPicPr>
          <p:cNvPr id="42" name="Grafik 41" descr="Dokument Silhouette">
            <a:extLst>
              <a:ext uri="{FF2B5EF4-FFF2-40B4-BE49-F238E27FC236}">
                <a16:creationId xmlns:a16="http://schemas.microsoft.com/office/drawing/2014/main" id="{8529F607-F878-B5BF-2CB5-3154055180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2043878"/>
            <a:ext cx="1800000" cy="1800000"/>
          </a:xfrm>
          <a:prstGeom prst="rect">
            <a:avLst/>
          </a:prstGeom>
        </p:spPr>
      </p:pic>
      <p:pic>
        <p:nvPicPr>
          <p:cNvPr id="43" name="Grafik 42" descr="Dokument Silhouette">
            <a:extLst>
              <a:ext uri="{FF2B5EF4-FFF2-40B4-BE49-F238E27FC236}">
                <a16:creationId xmlns:a16="http://schemas.microsoft.com/office/drawing/2014/main" id="{002CF2FF-44E1-F2EF-B791-3A5AE98858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3910368"/>
            <a:ext cx="1800000" cy="1800000"/>
          </a:xfrm>
          <a:prstGeom prst="rect">
            <a:avLst/>
          </a:prstGeom>
        </p:spPr>
      </p:pic>
      <p:pic>
        <p:nvPicPr>
          <p:cNvPr id="45" name="Grafik 44" descr="Ärztin Silhouette">
            <a:extLst>
              <a:ext uri="{FF2B5EF4-FFF2-40B4-BE49-F238E27FC236}">
                <a16:creationId xmlns:a16="http://schemas.microsoft.com/office/drawing/2014/main" id="{DA3D6A69-A663-9CFA-0F89-DE8499E6BA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6122" y="2853530"/>
            <a:ext cx="1800000" cy="1800000"/>
          </a:xfrm>
          <a:prstGeom prst="rect">
            <a:avLst/>
          </a:prstGeom>
        </p:spPr>
      </p:pic>
      <p:sp>
        <p:nvSpPr>
          <p:cNvPr id="51" name="Pfeil: nach unten gekrümmt 50">
            <a:extLst>
              <a:ext uri="{FF2B5EF4-FFF2-40B4-BE49-F238E27FC236}">
                <a16:creationId xmlns:a16="http://schemas.microsoft.com/office/drawing/2014/main" id="{0102C3C6-0B93-D620-2DFC-0D88966CE9D6}"/>
              </a:ext>
            </a:extLst>
          </p:cNvPr>
          <p:cNvSpPr/>
          <p:nvPr/>
        </p:nvSpPr>
        <p:spPr>
          <a:xfrm flipH="1">
            <a:off x="4329332" y="1291816"/>
            <a:ext cx="5175849" cy="912655"/>
          </a:xfrm>
          <a:prstGeom prst="curved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80B0EA16-9ECC-47C4-2B43-10AAD46FAE0F}"/>
              </a:ext>
            </a:extLst>
          </p:cNvPr>
          <p:cNvSpPr txBox="1"/>
          <p:nvPr/>
        </p:nvSpPr>
        <p:spPr>
          <a:xfrm>
            <a:off x="6369478" y="1868384"/>
            <a:ext cx="1095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Report A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B1E2619F-4100-9512-B8B3-177CD04AE057}"/>
              </a:ext>
            </a:extLst>
          </p:cNvPr>
          <p:cNvSpPr txBox="1"/>
          <p:nvPr/>
        </p:nvSpPr>
        <p:spPr>
          <a:xfrm>
            <a:off x="6369477" y="3725702"/>
            <a:ext cx="1095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Report B</a:t>
            </a:r>
          </a:p>
        </p:txBody>
      </p:sp>
      <p:sp>
        <p:nvSpPr>
          <p:cNvPr id="54" name="Pfeil: nach rechts 53">
            <a:extLst>
              <a:ext uri="{FF2B5EF4-FFF2-40B4-BE49-F238E27FC236}">
                <a16:creationId xmlns:a16="http://schemas.microsoft.com/office/drawing/2014/main" id="{F420CC70-FFD4-BF1D-FF37-DA57F551EC10}"/>
              </a:ext>
            </a:extLst>
          </p:cNvPr>
          <p:cNvSpPr/>
          <p:nvPr/>
        </p:nvSpPr>
        <p:spPr>
          <a:xfrm>
            <a:off x="2948254" y="3605842"/>
            <a:ext cx="572530" cy="238036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Pfeil: nach rechts 54">
            <a:extLst>
              <a:ext uri="{FF2B5EF4-FFF2-40B4-BE49-F238E27FC236}">
                <a16:creationId xmlns:a16="http://schemas.microsoft.com/office/drawing/2014/main" id="{F52F57B9-A74B-386F-A32A-E46D9C703506}"/>
              </a:ext>
            </a:extLst>
          </p:cNvPr>
          <p:cNvSpPr/>
          <p:nvPr/>
        </p:nvSpPr>
        <p:spPr>
          <a:xfrm>
            <a:off x="5523470" y="3029317"/>
            <a:ext cx="572530" cy="238036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Pfeil: nach rechts 55">
            <a:extLst>
              <a:ext uri="{FF2B5EF4-FFF2-40B4-BE49-F238E27FC236}">
                <a16:creationId xmlns:a16="http://schemas.microsoft.com/office/drawing/2014/main" id="{4F864B3C-D3B4-6403-D83B-0AFF964BC412}"/>
              </a:ext>
            </a:extLst>
          </p:cNvPr>
          <p:cNvSpPr/>
          <p:nvPr/>
        </p:nvSpPr>
        <p:spPr>
          <a:xfrm>
            <a:off x="5523470" y="4202956"/>
            <a:ext cx="572530" cy="238036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Pfeil: nach rechts 56">
            <a:extLst>
              <a:ext uri="{FF2B5EF4-FFF2-40B4-BE49-F238E27FC236}">
                <a16:creationId xmlns:a16="http://schemas.microsoft.com/office/drawing/2014/main" id="{1631F4E9-0490-29C4-3C1A-BA40D75546CA}"/>
              </a:ext>
            </a:extLst>
          </p:cNvPr>
          <p:cNvSpPr/>
          <p:nvPr/>
        </p:nvSpPr>
        <p:spPr>
          <a:xfrm>
            <a:off x="7933592" y="3026544"/>
            <a:ext cx="572530" cy="238036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Pfeil: nach rechts 57">
            <a:extLst>
              <a:ext uri="{FF2B5EF4-FFF2-40B4-BE49-F238E27FC236}">
                <a16:creationId xmlns:a16="http://schemas.microsoft.com/office/drawing/2014/main" id="{2851EFE5-6517-7D09-EC3F-06444A5649F8}"/>
              </a:ext>
            </a:extLst>
          </p:cNvPr>
          <p:cNvSpPr/>
          <p:nvPr/>
        </p:nvSpPr>
        <p:spPr>
          <a:xfrm>
            <a:off x="7933592" y="4200183"/>
            <a:ext cx="572530" cy="238036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Sprechblase: oval 58">
            <a:extLst>
              <a:ext uri="{FF2B5EF4-FFF2-40B4-BE49-F238E27FC236}">
                <a16:creationId xmlns:a16="http://schemas.microsoft.com/office/drawing/2014/main" id="{540F360D-C6C5-ED9C-BAB7-6CAA475AB7A0}"/>
              </a:ext>
            </a:extLst>
          </p:cNvPr>
          <p:cNvSpPr/>
          <p:nvPr/>
        </p:nvSpPr>
        <p:spPr>
          <a:xfrm>
            <a:off x="9564657" y="2342777"/>
            <a:ext cx="1200701" cy="637953"/>
          </a:xfrm>
          <a:prstGeom prst="wedgeEllipseCallo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35257C1A-B3CB-5989-AB21-55F194AFDB19}"/>
              </a:ext>
            </a:extLst>
          </p:cNvPr>
          <p:cNvSpPr txBox="1"/>
          <p:nvPr/>
        </p:nvSpPr>
        <p:spPr>
          <a:xfrm>
            <a:off x="9617229" y="2477087"/>
            <a:ext cx="1095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Report B</a:t>
            </a:r>
          </a:p>
        </p:txBody>
      </p:sp>
    </p:spTree>
    <p:extLst>
      <p:ext uri="{BB962C8B-B14F-4D97-AF65-F5344CB8AC3E}">
        <p14:creationId xmlns:p14="http://schemas.microsoft.com/office/powerpoint/2010/main" val="3139250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D656FF7-F846-5213-4291-55D467A3FB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Procedure</a:t>
            </a:r>
            <a:r>
              <a:rPr lang="de-DE" dirty="0"/>
              <a:t> per </a:t>
            </a:r>
            <a:r>
              <a:rPr lang="de-DE" dirty="0" err="1"/>
              <a:t>case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You</a:t>
            </a:r>
            <a:r>
              <a:rPr lang="de-DE" dirty="0"/>
              <a:t> will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chest</a:t>
            </a:r>
            <a:r>
              <a:rPr lang="de-DE" dirty="0"/>
              <a:t> x-</a:t>
            </a:r>
            <a:r>
              <a:rPr lang="de-DE" dirty="0" err="1"/>
              <a:t>rays</a:t>
            </a:r>
            <a:r>
              <a:rPr lang="de-DE" dirty="0"/>
              <a:t> (1-3 per </a:t>
            </a:r>
            <a:r>
              <a:rPr lang="de-DE" dirty="0" err="1"/>
              <a:t>case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Read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reports</a:t>
            </a:r>
            <a:r>
              <a:rPr lang="de-DE" dirty="0"/>
              <a:t> </a:t>
            </a:r>
            <a:r>
              <a:rPr lang="de-DE" dirty="0" err="1"/>
              <a:t>corresponding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images</a:t>
            </a:r>
            <a:endParaRPr lang="de-DE" dirty="0"/>
          </a:p>
          <a:p>
            <a:pPr lvl="1"/>
            <a:r>
              <a:rPr lang="de-DE" dirty="0"/>
              <a:t>Select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report</a:t>
            </a:r>
            <a:r>
              <a:rPr lang="de-DE" dirty="0"/>
              <a:t> </a:t>
            </a:r>
            <a:r>
              <a:rPr lang="de-DE" dirty="0" err="1"/>
              <a:t>sounds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human-like</a:t>
            </a:r>
          </a:p>
          <a:p>
            <a:pPr lvl="1"/>
            <a:endParaRPr lang="de-DE" dirty="0"/>
          </a:p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scope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survey</a:t>
            </a:r>
            <a:r>
              <a:rPr lang="de-DE" dirty="0"/>
              <a:t>:</a:t>
            </a:r>
          </a:p>
          <a:p>
            <a:pPr lvl="1"/>
            <a:r>
              <a:rPr lang="en-US" dirty="0"/>
              <a:t>Evaluate the diagnosis</a:t>
            </a:r>
          </a:p>
          <a:p>
            <a:pPr lvl="1"/>
            <a:r>
              <a:rPr lang="en-US" dirty="0"/>
              <a:t>Look for errors</a:t>
            </a:r>
          </a:p>
          <a:p>
            <a:pPr lvl="1"/>
            <a:endParaRPr lang="de-DE" dirty="0"/>
          </a:p>
          <a:p>
            <a:r>
              <a:rPr lang="de-DE" dirty="0"/>
              <a:t>Time </a:t>
            </a:r>
            <a:r>
              <a:rPr lang="de-DE" dirty="0" err="1"/>
              <a:t>estimation</a:t>
            </a:r>
            <a:r>
              <a:rPr lang="de-DE" dirty="0"/>
              <a:t> (</a:t>
            </a:r>
            <a:r>
              <a:rPr lang="de-DE" dirty="0" err="1"/>
              <a:t>proof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concept</a:t>
            </a:r>
            <a:r>
              <a:rPr lang="de-DE" dirty="0"/>
              <a:t>):</a:t>
            </a:r>
          </a:p>
          <a:p>
            <a:pPr lvl="1"/>
            <a:r>
              <a:rPr lang="en-US" dirty="0"/>
              <a:t>30 - 45 seconds per case</a:t>
            </a:r>
          </a:p>
          <a:p>
            <a:pPr lvl="1"/>
            <a:r>
              <a:rPr lang="en-US" dirty="0"/>
              <a:t>Assuming 3 radiologists</a:t>
            </a:r>
          </a:p>
          <a:p>
            <a:pPr lvl="1"/>
            <a:r>
              <a:rPr lang="en-US" dirty="0"/>
              <a:t>160 cases for the proof of concept</a:t>
            </a:r>
          </a:p>
          <a:p>
            <a:pPr lvl="1"/>
            <a:r>
              <a:rPr lang="en-US" b="1" dirty="0"/>
              <a:t>=&gt; 25 - 40 minutes per radiologist</a:t>
            </a:r>
          </a:p>
          <a:p>
            <a:pPr lvl="1"/>
            <a:r>
              <a:rPr lang="en-US" dirty="0"/>
              <a:t>(&gt;10 hours for full dataset for each radiologist)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B95C982-A9AF-63DD-BBAA-66CA5AD4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How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help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F7D5A9-CF43-F8B0-1835-9B1F9062F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6535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64F2024-B89F-7980-B9E9-7FB7DF8E59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D3FD4E6-1C7F-521D-511E-7054505A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case</a:t>
            </a:r>
            <a:endParaRPr lang="de-DE" dirty="0"/>
          </a:p>
        </p:txBody>
      </p:sp>
      <p:pic>
        <p:nvPicPr>
          <p:cNvPr id="8" name="Inhaltsplatzhalter 7" descr="Ein Bild, das Röntgenfilm, medizinische Bildgebung, Radiologie, medizinisches Bildgebungsverfahren enthält.&#10;&#10;KI-generierte Inhalte können fehlerhaft sein.">
            <a:extLst>
              <a:ext uri="{FF2B5EF4-FFF2-40B4-BE49-F238E27FC236}">
                <a16:creationId xmlns:a16="http://schemas.microsoft.com/office/drawing/2014/main" id="{0CA4864B-5BB7-73C8-051E-FB5CA28BD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142" y="926298"/>
            <a:ext cx="2026631" cy="2435765"/>
          </a:xfrm>
        </p:spPr>
      </p:pic>
      <p:pic>
        <p:nvPicPr>
          <p:cNvPr id="6" name="Grafik 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0972BE5A-383A-FDCA-57DC-8E0514C9B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562" y="1404000"/>
            <a:ext cx="8232476" cy="4454518"/>
          </a:xfrm>
          <a:prstGeom prst="rect">
            <a:avLst/>
          </a:prstGeom>
        </p:spPr>
      </p:pic>
      <p:pic>
        <p:nvPicPr>
          <p:cNvPr id="10" name="Grafik 9" descr="Ein Bild, das Röntgenfilm, medizinische Bildgebung, Radiologie, medizinisches Bildgebungsverfahren enthält.&#10;&#10;KI-generierte Inhalte können fehlerhaft sein.">
            <a:extLst>
              <a:ext uri="{FF2B5EF4-FFF2-40B4-BE49-F238E27FC236}">
                <a16:creationId xmlns:a16="http://schemas.microsoft.com/office/drawing/2014/main" id="{F3355571-F6FE-FA55-29AB-BEF76FA5A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142" y="3489385"/>
            <a:ext cx="2026631" cy="243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03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F6FC6DE-A4B5-E9DF-8FAE-4A4103854C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5_Presentation_Template.potx" id="{7171C32C-714E-4AC9-8070-78E18E66E008}" vid="{0D342B9F-AA1A-4E22-AFF2-99CA19B7D0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DPO_for_radiologists</Template>
  <TotalTime>0</TotalTime>
  <Words>247</Words>
  <Application>Microsoft Office PowerPoint</Application>
  <PresentationFormat>Breitbild</PresentationFormat>
  <Paragraphs>47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ＭＳ Ｐゴシック</vt:lpstr>
      <vt:lpstr>Arial</vt:lpstr>
      <vt:lpstr>Calibri</vt:lpstr>
      <vt:lpstr>Symbol</vt:lpstr>
      <vt:lpstr>Wingdings</vt:lpstr>
      <vt:lpstr>Präsentation_Master_RWTH_Institute_16zu9</vt:lpstr>
      <vt:lpstr>Knowledge Graph-Enhanced Vision-Language Models for Radiology Report Generation</vt:lpstr>
      <vt:lpstr>Problem Statement</vt:lpstr>
      <vt:lpstr>Goal of my thesis</vt:lpstr>
      <vt:lpstr>How does an AI model learn to „sound like a human“?</vt:lpstr>
      <vt:lpstr>What is Direct Preference Optimization?</vt:lpstr>
      <vt:lpstr>How you can help</vt:lpstr>
      <vt:lpstr>Example case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Antonia Gustke</dc:creator>
  <cp:lastModifiedBy>Antonia Gustke</cp:lastModifiedBy>
  <cp:revision>8</cp:revision>
  <dcterms:created xsi:type="dcterms:W3CDTF">2026-01-19T16:34:35Z</dcterms:created>
  <dcterms:modified xsi:type="dcterms:W3CDTF">2026-01-23T10:32:36Z</dcterms:modified>
</cp:coreProperties>
</file>