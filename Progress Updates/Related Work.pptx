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8" r:id="rId1"/>
  </p:sldMasterIdLst>
  <p:notesMasterIdLst>
    <p:notesMasterId r:id="rId17"/>
  </p:notesMasterIdLst>
  <p:handoutMasterIdLst>
    <p:handoutMasterId r:id="rId18"/>
  </p:handoutMasterIdLst>
  <p:sldIdLst>
    <p:sldId id="256" r:id="rId2"/>
    <p:sldId id="270" r:id="rId3"/>
    <p:sldId id="269" r:id="rId4"/>
    <p:sldId id="273" r:id="rId5"/>
    <p:sldId id="272" r:id="rId6"/>
    <p:sldId id="274" r:id="rId7"/>
    <p:sldId id="279" r:id="rId8"/>
    <p:sldId id="275" r:id="rId9"/>
    <p:sldId id="281" r:id="rId10"/>
    <p:sldId id="280" r:id="rId11"/>
    <p:sldId id="276" r:id="rId12"/>
    <p:sldId id="277" r:id="rId13"/>
    <p:sldId id="278" r:id="rId14"/>
    <p:sldId id="268" r:id="rId15"/>
    <p:sldId id="271" r:id="rId16"/>
  </p:sldIdLst>
  <p:sldSz cx="12192000" cy="6858000"/>
  <p:notesSz cx="7099300" cy="10234613"/>
  <p:defaultTextStyle>
    <a:defPPr>
      <a:defRPr lang="de-DE"/>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E7E7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2861" autoAdjust="0"/>
  </p:normalViewPr>
  <p:slideViewPr>
    <p:cSldViewPr snapToGrid="0">
      <p:cViewPr varScale="1">
        <p:scale>
          <a:sx n="52" d="100"/>
          <a:sy n="52" d="100"/>
        </p:scale>
        <p:origin x="1872" y="38"/>
      </p:cViewPr>
      <p:guideLst>
        <p:guide pos="3840"/>
        <p:guide orient="horz" pos="2160"/>
      </p:guideLst>
    </p:cSldViewPr>
  </p:slideViewPr>
  <p:notesTextViewPr>
    <p:cViewPr>
      <p:scale>
        <a:sx n="100" d="100"/>
        <a:sy n="100" d="100"/>
      </p:scale>
      <p:origin x="0" y="-1651"/>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D216B5DB-5D68-4814-907C-F7227D00ADB6}"/>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de-DE"/>
          </a:p>
        </p:txBody>
      </p:sp>
      <p:sp>
        <p:nvSpPr>
          <p:cNvPr id="3" name="Datumsplatzhalter 2">
            <a:extLst>
              <a:ext uri="{FF2B5EF4-FFF2-40B4-BE49-F238E27FC236}">
                <a16:creationId xmlns:a16="http://schemas.microsoft.com/office/drawing/2014/main" id="{C24B3AFF-129D-456B-B4F9-5E744A340D93}"/>
              </a:ext>
            </a:extLst>
          </p:cNvPr>
          <p:cNvSpPr>
            <a:spLocks noGrp="1"/>
          </p:cNvSpPr>
          <p:nvPr>
            <p:ph type="dt" sz="quarter" idx="1"/>
          </p:nvPr>
        </p:nvSpPr>
        <p:spPr>
          <a:xfrm>
            <a:off x="4021138" y="0"/>
            <a:ext cx="3076575" cy="51276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00C0B110-231F-4A48-AE05-5D93A579FCED}" type="datetimeFigureOut">
              <a:rPr lang="de-DE" altLang="de-DE"/>
              <a:pPr>
                <a:defRPr/>
              </a:pPr>
              <a:t>19.11.2025</a:t>
            </a:fld>
            <a:endParaRPr lang="de-DE" altLang="de-DE"/>
          </a:p>
        </p:txBody>
      </p:sp>
      <p:sp>
        <p:nvSpPr>
          <p:cNvPr id="4" name="Fußzeilenplatzhalter 3">
            <a:extLst>
              <a:ext uri="{FF2B5EF4-FFF2-40B4-BE49-F238E27FC236}">
                <a16:creationId xmlns:a16="http://schemas.microsoft.com/office/drawing/2014/main" id="{552D42C6-B7A4-4ED5-918A-B40D2A33F24B}"/>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5" name="Foliennummernplatzhalter 4">
            <a:extLst>
              <a:ext uri="{FF2B5EF4-FFF2-40B4-BE49-F238E27FC236}">
                <a16:creationId xmlns:a16="http://schemas.microsoft.com/office/drawing/2014/main" id="{45BEAF45-F4F5-4D18-B827-F9B4A96DA3D3}"/>
              </a:ext>
            </a:extLst>
          </p:cNvPr>
          <p:cNvSpPr>
            <a:spLocks noGrp="1"/>
          </p:cNvSpPr>
          <p:nvPr>
            <p:ph type="sldNum" sz="quarter" idx="3"/>
          </p:nvPr>
        </p:nvSpPr>
        <p:spPr>
          <a:xfrm>
            <a:off x="4021138" y="9721850"/>
            <a:ext cx="3076575" cy="51276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vl1pPr>
          </a:lstStyle>
          <a:p>
            <a:fld id="{9E6BF9E4-46F6-4039-9038-EF7EDC6EB619}" type="slidenum">
              <a:rPr lang="de-DE" altLang="de-DE"/>
              <a:pPr/>
              <a:t>‹Nr.›</a:t>
            </a:fld>
            <a:endParaRPr lang="de-DE" altLang="de-D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490B3959-9C73-477D-A96D-CFD2D3110016}"/>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3" name="Datumsplatzhalter 2">
            <a:extLst>
              <a:ext uri="{FF2B5EF4-FFF2-40B4-BE49-F238E27FC236}">
                <a16:creationId xmlns:a16="http://schemas.microsoft.com/office/drawing/2014/main" id="{EAB0ED7C-5FB7-490C-8F25-F75E55492E0B}"/>
              </a:ext>
            </a:extLst>
          </p:cNvPr>
          <p:cNvSpPr>
            <a:spLocks noGrp="1"/>
          </p:cNvSpPr>
          <p:nvPr>
            <p:ph type="dt" idx="1"/>
          </p:nvPr>
        </p:nvSpPr>
        <p:spPr>
          <a:xfrm>
            <a:off x="4021138" y="0"/>
            <a:ext cx="3076575" cy="512763"/>
          </a:xfrm>
          <a:prstGeom prst="rect">
            <a:avLst/>
          </a:prstGeom>
        </p:spPr>
        <p:txBody>
          <a:bodyPr vert="horz" wrap="square" lIns="91440" tIns="45720" rIns="91440" bIns="45720" numCol="1" anchor="t" anchorCtr="0" compatLnSpc="1">
            <a:prstTxWarp prst="textNoShape">
              <a:avLst/>
            </a:prstTxWarp>
          </a:bodyPr>
          <a:lstStyle>
            <a:lvl1pPr algn="r" eaLnBrk="1" hangingPunct="1">
              <a:defRPr sz="1000" smtClean="0"/>
            </a:lvl1pPr>
          </a:lstStyle>
          <a:p>
            <a:pPr>
              <a:defRPr/>
            </a:pPr>
            <a:fld id="{E0653CA7-91CF-4ABB-86E0-107F0CE43DAB}" type="datetimeFigureOut">
              <a:rPr lang="de-DE" altLang="de-DE"/>
              <a:pPr>
                <a:defRPr/>
              </a:pPr>
              <a:t>19.11.2025</a:t>
            </a:fld>
            <a:endParaRPr lang="de-DE" altLang="de-DE"/>
          </a:p>
        </p:txBody>
      </p:sp>
      <p:sp>
        <p:nvSpPr>
          <p:cNvPr id="4" name="Folienbildplatzhalter 3">
            <a:extLst>
              <a:ext uri="{FF2B5EF4-FFF2-40B4-BE49-F238E27FC236}">
                <a16:creationId xmlns:a16="http://schemas.microsoft.com/office/drawing/2014/main" id="{5A21B49D-2FC6-4CAB-8706-3A59B5A11ED0}"/>
              </a:ext>
            </a:extLst>
          </p:cNvPr>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a:extLst>
              <a:ext uri="{FF2B5EF4-FFF2-40B4-BE49-F238E27FC236}">
                <a16:creationId xmlns:a16="http://schemas.microsoft.com/office/drawing/2014/main" id="{91F7BE82-8AE7-46B7-94F9-EB0561465CBF}"/>
              </a:ext>
            </a:extLst>
          </p:cNvPr>
          <p:cNvSpPr>
            <a:spLocks noGrp="1"/>
          </p:cNvSpPr>
          <p:nvPr>
            <p:ph type="body" sz="quarter" idx="3"/>
          </p:nvPr>
        </p:nvSpPr>
        <p:spPr>
          <a:xfrm>
            <a:off x="709613" y="4926013"/>
            <a:ext cx="5680075" cy="4029075"/>
          </a:xfrm>
          <a:prstGeom prst="rect">
            <a:avLst/>
          </a:prstGeom>
        </p:spPr>
        <p:txBody>
          <a:bodyPr vert="horz" wrap="square" lIns="91440" tIns="45720" rIns="91440" bIns="45720" numCol="1" anchor="t" anchorCtr="0" compatLnSpc="1">
            <a:prstTxWarp prst="textNoShape">
              <a:avLst/>
            </a:prstTxWarp>
          </a:bodyPr>
          <a:lstStyle/>
          <a:p>
            <a:pPr lvl="0"/>
            <a:r>
              <a:rPr lang="de-DE" altLang="de-DE" noProof="0"/>
              <a:t>Textmasterformat bearbeiten</a:t>
            </a:r>
          </a:p>
          <a:p>
            <a:pPr lvl="1"/>
            <a:r>
              <a:rPr lang="de-DE" altLang="de-DE" noProof="0"/>
              <a:t>Zweite Ebene</a:t>
            </a:r>
          </a:p>
          <a:p>
            <a:pPr lvl="2"/>
            <a:r>
              <a:rPr lang="de-DE" altLang="de-DE" noProof="0"/>
              <a:t>Dritte Ebene</a:t>
            </a:r>
          </a:p>
          <a:p>
            <a:pPr lvl="3"/>
            <a:r>
              <a:rPr lang="de-DE" altLang="de-DE" noProof="0"/>
              <a:t>Vierte Ebene</a:t>
            </a:r>
          </a:p>
          <a:p>
            <a:pPr lvl="4"/>
            <a:r>
              <a:rPr lang="de-DE" altLang="de-DE" noProof="0"/>
              <a:t>Fünfte Ebene</a:t>
            </a:r>
          </a:p>
        </p:txBody>
      </p:sp>
      <p:sp>
        <p:nvSpPr>
          <p:cNvPr id="6" name="Fußzeilenplatzhalter 5">
            <a:extLst>
              <a:ext uri="{FF2B5EF4-FFF2-40B4-BE49-F238E27FC236}">
                <a16:creationId xmlns:a16="http://schemas.microsoft.com/office/drawing/2014/main" id="{7052C2DF-5042-4EA8-9DF2-7795481E8D4D}"/>
              </a:ext>
            </a:extLst>
          </p:cNvPr>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eaLnBrk="1" fontAlgn="auto" hangingPunct="1">
              <a:spcBef>
                <a:spcPts val="0"/>
              </a:spcBef>
              <a:spcAft>
                <a:spcPts val="0"/>
              </a:spcAft>
              <a:defRPr sz="1000">
                <a:latin typeface="Arial" pitchFamily="34" charset="0"/>
                <a:ea typeface="+mn-ea"/>
                <a:cs typeface="Arial" pitchFamily="34" charset="0"/>
              </a:defRPr>
            </a:lvl1pPr>
          </a:lstStyle>
          <a:p>
            <a:pPr>
              <a:defRPr/>
            </a:pPr>
            <a:endParaRPr lang="de-DE"/>
          </a:p>
        </p:txBody>
      </p:sp>
      <p:sp>
        <p:nvSpPr>
          <p:cNvPr id="7" name="Foliennummernplatzhalter 6">
            <a:extLst>
              <a:ext uri="{FF2B5EF4-FFF2-40B4-BE49-F238E27FC236}">
                <a16:creationId xmlns:a16="http://schemas.microsoft.com/office/drawing/2014/main" id="{B328D133-81F0-41C5-8DC7-1261F64E1353}"/>
              </a:ext>
            </a:extLst>
          </p:cNvPr>
          <p:cNvSpPr>
            <a:spLocks noGrp="1"/>
          </p:cNvSpPr>
          <p:nvPr>
            <p:ph type="sldNum" sz="quarter" idx="5"/>
          </p:nvPr>
        </p:nvSpPr>
        <p:spPr>
          <a:xfrm>
            <a:off x="4021138" y="9721850"/>
            <a:ext cx="3076575" cy="512763"/>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vl1pPr>
          </a:lstStyle>
          <a:p>
            <a:fld id="{D2483AC7-C354-4F2B-9AC6-9802F9071BE7}" type="slidenum">
              <a:rPr lang="de-DE" altLang="de-DE"/>
              <a:pPr/>
              <a:t>‹Nr.›</a:t>
            </a:fld>
            <a:endParaRPr lang="de-DE" altLang="de-DE"/>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000" kern="1200">
        <a:solidFill>
          <a:schemeClr val="tx1"/>
        </a:solidFill>
        <a:latin typeface="Arial" pitchFamily="34" charset="0"/>
        <a:ea typeface="ＭＳ Ｐゴシック" charset="0"/>
        <a:cs typeface="Arial" pitchFamily="34" charset="0"/>
      </a:defRPr>
    </a:lvl1pPr>
    <a:lvl2pPr marL="4572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2pPr>
    <a:lvl3pPr marL="9144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3pPr>
    <a:lvl4pPr marL="13716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4pPr>
    <a:lvl5pPr marL="1828800" algn="l" rtl="0" eaLnBrk="0" fontAlgn="base" hangingPunct="0">
      <a:spcBef>
        <a:spcPct val="30000"/>
      </a:spcBef>
      <a:spcAft>
        <a:spcPct val="0"/>
      </a:spcAft>
      <a:defRPr sz="1000" kern="1200">
        <a:solidFill>
          <a:schemeClr val="tx1"/>
        </a:solidFill>
        <a:latin typeface="Arial" pitchFamily="34" charset="0"/>
        <a:ea typeface="Arial" charset="0"/>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lienbildplatzhalter 1">
            <a:extLst>
              <a:ext uri="{FF2B5EF4-FFF2-40B4-BE49-F238E27FC236}">
                <a16:creationId xmlns:a16="http://schemas.microsoft.com/office/drawing/2014/main" id="{2CF24CF4-9761-46ED-A569-EBA65C41E0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izenplatzhalter 2">
            <a:extLst>
              <a:ext uri="{FF2B5EF4-FFF2-40B4-BE49-F238E27FC236}">
                <a16:creationId xmlns:a16="http://schemas.microsoft.com/office/drawing/2014/main" id="{BC2ECC64-C202-4234-9770-B8DF01A25C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de-DE" altLang="de-DE">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Embeddings</a:t>
            </a:r>
            <a:r>
              <a:rPr lang="de-DE" dirty="0"/>
              <a:t>:</a:t>
            </a:r>
          </a:p>
          <a:p>
            <a:pPr marL="171450" indent="-171450">
              <a:buFontTx/>
              <a:buChar char="-"/>
            </a:pPr>
            <a:r>
              <a:rPr lang="de-DE" dirty="0"/>
              <a:t>Image: </a:t>
            </a:r>
            <a:r>
              <a:rPr lang="en-US" dirty="0"/>
              <a:t>ResNet-152, which is pretrained on ImageNet and fine-tuned on </a:t>
            </a:r>
            <a:r>
              <a:rPr lang="en-US" dirty="0" err="1"/>
              <a:t>CheXpert</a:t>
            </a:r>
            <a:r>
              <a:rPr lang="en-US" dirty="0"/>
              <a:t> dataset</a:t>
            </a:r>
            <a:endParaRPr lang="de-DE" dirty="0"/>
          </a:p>
          <a:p>
            <a:pPr marL="171450" indent="-171450">
              <a:buFontTx/>
              <a:buChar char="-"/>
            </a:pPr>
            <a:r>
              <a:rPr lang="de-DE" dirty="0"/>
              <a:t>Reports: </a:t>
            </a:r>
            <a:r>
              <a:rPr lang="en-US" dirty="0"/>
              <a:t>BERT encoder followed by a max-pooling layer for all reports</a:t>
            </a:r>
            <a:endParaRPr lang="de-DE" dirty="0"/>
          </a:p>
          <a:p>
            <a:pPr marL="171450" indent="-171450">
              <a:buFontTx/>
              <a:buChar char="-"/>
            </a:pPr>
            <a:r>
              <a:rPr lang="de-DE" dirty="0"/>
              <a:t>Graph: </a:t>
            </a:r>
            <a:r>
              <a:rPr lang="en-US" dirty="0"/>
              <a:t>based on the graph convolution operation (see Thomas N. Kipf and Max Welling. Semi-supervised classification with graph convolutional networks. In ICLR, 2017.)</a:t>
            </a:r>
          </a:p>
          <a:p>
            <a:pPr marL="171450" indent="-171450">
              <a:buFontTx/>
              <a:buChar char="-"/>
            </a:pPr>
            <a:endParaRPr lang="de-DE" dirty="0"/>
          </a:p>
          <a:p>
            <a:pPr marL="0" indent="0">
              <a:buFontTx/>
              <a:buNone/>
            </a:pPr>
            <a:r>
              <a:rPr lang="de-DE" dirty="0"/>
              <a:t>Knowledge Graph:</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de-DE" dirty="0" err="1"/>
              <a:t>Based</a:t>
            </a:r>
            <a:r>
              <a:rPr lang="de-DE" dirty="0"/>
              <a:t> on </a:t>
            </a:r>
            <a:r>
              <a:rPr lang="de-DE" dirty="0" err="1"/>
              <a:t>Yixiao</a:t>
            </a:r>
            <a:r>
              <a:rPr lang="de-DE" dirty="0"/>
              <a:t> Zhang, </a:t>
            </a:r>
            <a:r>
              <a:rPr lang="de-DE" dirty="0" err="1"/>
              <a:t>Xiaosong</a:t>
            </a:r>
            <a:r>
              <a:rPr lang="de-DE" dirty="0"/>
              <a:t> Wang, </a:t>
            </a:r>
            <a:r>
              <a:rPr lang="de-DE" dirty="0" err="1"/>
              <a:t>Ziyue</a:t>
            </a:r>
            <a:r>
              <a:rPr lang="de-DE" dirty="0"/>
              <a:t> </a:t>
            </a:r>
            <a:r>
              <a:rPr lang="de-DE" dirty="0" err="1"/>
              <a:t>Xu</a:t>
            </a:r>
            <a:r>
              <a:rPr lang="de-DE" dirty="0"/>
              <a:t>, </a:t>
            </a:r>
            <a:r>
              <a:rPr lang="de-DE" dirty="0" err="1"/>
              <a:t>Qihang</a:t>
            </a:r>
            <a:r>
              <a:rPr lang="de-DE" dirty="0"/>
              <a:t> </a:t>
            </a:r>
            <a:r>
              <a:rPr lang="de-DE" dirty="0" err="1"/>
              <a:t>Yu</a:t>
            </a:r>
            <a:r>
              <a:rPr lang="de-DE" dirty="0"/>
              <a:t>, Alan L. </a:t>
            </a:r>
            <a:r>
              <a:rPr lang="de-DE" dirty="0" err="1"/>
              <a:t>Yuille</a:t>
            </a:r>
            <a:r>
              <a:rPr lang="de-DE" dirty="0"/>
              <a:t>, and </a:t>
            </a:r>
            <a:r>
              <a:rPr lang="de-DE" dirty="0" err="1"/>
              <a:t>Daguang</a:t>
            </a:r>
            <a:r>
              <a:rPr lang="de-DE" dirty="0"/>
              <a:t> </a:t>
            </a:r>
            <a:r>
              <a:rPr lang="de-DE" dirty="0" err="1"/>
              <a:t>Xu</a:t>
            </a:r>
            <a:r>
              <a:rPr lang="de-DE" dirty="0"/>
              <a:t>. </a:t>
            </a:r>
            <a:r>
              <a:rPr lang="de-DE" b="1" dirty="0" err="1"/>
              <a:t>When</a:t>
            </a:r>
            <a:r>
              <a:rPr lang="de-DE" b="1" dirty="0"/>
              <a:t> </a:t>
            </a:r>
            <a:r>
              <a:rPr lang="de-DE" b="1" dirty="0" err="1"/>
              <a:t>radiology</a:t>
            </a:r>
            <a:r>
              <a:rPr lang="de-DE" b="1" dirty="0"/>
              <a:t> </a:t>
            </a:r>
            <a:r>
              <a:rPr lang="de-DE" b="1" dirty="0" err="1"/>
              <a:t>report</a:t>
            </a:r>
            <a:r>
              <a:rPr lang="de-DE" b="1" dirty="0"/>
              <a:t> </a:t>
            </a:r>
            <a:r>
              <a:rPr lang="de-DE" b="1" dirty="0" err="1"/>
              <a:t>generation</a:t>
            </a:r>
            <a:r>
              <a:rPr lang="de-DE" b="1" dirty="0"/>
              <a:t> </a:t>
            </a:r>
            <a:r>
              <a:rPr lang="de-DE" b="1" dirty="0" err="1"/>
              <a:t>meets</a:t>
            </a:r>
            <a:r>
              <a:rPr lang="de-DE" b="1" dirty="0"/>
              <a:t> </a:t>
            </a:r>
            <a:r>
              <a:rPr lang="de-DE" b="1" dirty="0" err="1"/>
              <a:t>knowledge</a:t>
            </a:r>
            <a:r>
              <a:rPr lang="de-DE" b="1" dirty="0"/>
              <a:t> graph</a:t>
            </a:r>
            <a:r>
              <a:rPr lang="de-DE" dirty="0"/>
              <a:t>. In AAAI, 2020.</a:t>
            </a:r>
          </a:p>
          <a:p>
            <a:pPr marL="171450" indent="-171450">
              <a:buFontTx/>
              <a:buChar char="-"/>
            </a:pPr>
            <a:endParaRPr lang="de-DE" dirty="0"/>
          </a:p>
          <a:p>
            <a:r>
              <a:rPr lang="de-DE" dirty="0"/>
              <a:t>Base Models:</a:t>
            </a:r>
          </a:p>
          <a:p>
            <a:pPr marL="171450" indent="-171450">
              <a:buFontTx/>
              <a:buChar char="-"/>
            </a:pPr>
            <a:r>
              <a:rPr lang="de-DE" dirty="0" err="1"/>
              <a:t>implementations</a:t>
            </a:r>
            <a:r>
              <a:rPr lang="de-DE" dirty="0"/>
              <a:t> </a:t>
            </a:r>
            <a:r>
              <a:rPr lang="de-DE" dirty="0" err="1"/>
              <a:t>of</a:t>
            </a:r>
            <a:r>
              <a:rPr lang="de-DE" dirty="0"/>
              <a:t> HRNN </a:t>
            </a:r>
            <a:r>
              <a:rPr lang="de-DE" dirty="0" err="1"/>
              <a:t>models</a:t>
            </a:r>
            <a:endParaRPr lang="de-DE" dirty="0"/>
          </a:p>
          <a:p>
            <a:pPr marL="171450" indent="-171450">
              <a:buFontTx/>
              <a:buChar char="-"/>
            </a:pPr>
            <a:endParaRPr lang="de-DE" dirty="0"/>
          </a:p>
          <a:p>
            <a:r>
              <a:rPr lang="de-DE" dirty="0" err="1"/>
              <a:t>Dimensions</a:t>
            </a:r>
            <a:r>
              <a:rPr lang="de-DE" dirty="0"/>
              <a:t>:</a:t>
            </a:r>
          </a:p>
          <a:p>
            <a:pPr marL="171450" indent="-171450">
              <a:buFontTx/>
              <a:buChar char="-"/>
            </a:pPr>
            <a:r>
              <a:rPr lang="de-DE" dirty="0"/>
              <a:t>Image </a:t>
            </a:r>
            <a:r>
              <a:rPr lang="de-DE" dirty="0" err="1"/>
              <a:t>features</a:t>
            </a:r>
            <a:r>
              <a:rPr lang="de-DE" dirty="0"/>
              <a:t>: </a:t>
            </a:r>
            <a:r>
              <a:rPr lang="en-US" dirty="0"/>
              <a:t>2,048 feature maps in the shape of 7 × 7 which are further projected into 512 feature maps -&gt; 49 tokens x 512 features per token</a:t>
            </a:r>
          </a:p>
          <a:p>
            <a:pPr marL="171450" indent="-171450">
              <a:buFontTx/>
              <a:buChar char="-"/>
            </a:pPr>
            <a:r>
              <a:rPr lang="en-US" dirty="0"/>
              <a:t>Number of retrieved reports: 100</a:t>
            </a:r>
          </a:p>
          <a:p>
            <a:pPr marL="171450" indent="-171450">
              <a:buFontTx/>
              <a:buChar char="-"/>
            </a:pPr>
            <a:r>
              <a:rPr lang="en-US" dirty="0"/>
              <a:t>Number of heads in MHA: 8</a:t>
            </a:r>
          </a:p>
          <a:p>
            <a:pPr marL="171450" indent="-171450">
              <a:buFontTx/>
              <a:buChar char="-"/>
            </a:pPr>
            <a:endParaRPr lang="en-US" dirty="0"/>
          </a:p>
          <a:p>
            <a:pPr marL="0" indent="0">
              <a:buFontTx/>
              <a:buNone/>
            </a:pPr>
            <a:r>
              <a:rPr lang="de-DE" dirty="0"/>
              <a:t>Further </a:t>
            </a:r>
            <a:r>
              <a:rPr lang="de-DE" dirty="0" err="1"/>
              <a:t>notes</a:t>
            </a:r>
            <a:r>
              <a:rPr lang="de-DE" dirty="0"/>
              <a:t>:</a:t>
            </a:r>
          </a:p>
          <a:p>
            <a:pPr marL="0" indent="0">
              <a:buFontTx/>
              <a:buNone/>
            </a:pPr>
            <a:r>
              <a:rPr lang="de-DE" dirty="0"/>
              <a:t>- </a:t>
            </a:r>
            <a:r>
              <a:rPr lang="en-US" dirty="0"/>
              <a:t>model is optimized by minimizing the cross-entropy loss</a:t>
            </a:r>
          </a:p>
          <a:p>
            <a:pPr marL="171450" indent="-171450">
              <a:buFontTx/>
              <a:buChar char="-"/>
            </a:pPr>
            <a:endParaRPr lang="de-DE" dirty="0"/>
          </a:p>
          <a:p>
            <a:r>
              <a:rPr lang="de-DE" dirty="0"/>
              <a:t>Not </a:t>
            </a:r>
            <a:r>
              <a:rPr lang="de-DE" dirty="0" err="1"/>
              <a:t>stated</a:t>
            </a:r>
            <a:r>
              <a:rPr lang="de-DE" dirty="0"/>
              <a:t>:</a:t>
            </a:r>
          </a:p>
          <a:p>
            <a:pPr marL="171450" indent="-171450">
              <a:buFontTx/>
              <a:buChar char="-"/>
            </a:pPr>
            <a:r>
              <a:rPr lang="de-DE" dirty="0" err="1"/>
              <a:t>How</a:t>
            </a:r>
            <a:r>
              <a:rPr lang="de-DE" dirty="0"/>
              <a:t> </a:t>
            </a:r>
            <a:r>
              <a:rPr lang="de-DE" dirty="0" err="1"/>
              <a:t>the</a:t>
            </a:r>
            <a:r>
              <a:rPr lang="de-DE" dirty="0"/>
              <a:t> </a:t>
            </a:r>
            <a:r>
              <a:rPr lang="de-DE" dirty="0" err="1"/>
              <a:t>topic</a:t>
            </a:r>
            <a:r>
              <a:rPr lang="de-DE" dirty="0"/>
              <a:t> </a:t>
            </a:r>
            <a:r>
              <a:rPr lang="de-DE" dirty="0" err="1"/>
              <a:t>bag</a:t>
            </a:r>
            <a:r>
              <a:rPr lang="de-DE" dirty="0"/>
              <a:t> </a:t>
            </a:r>
            <a:r>
              <a:rPr lang="de-DE" dirty="0" err="1"/>
              <a:t>is</a:t>
            </a:r>
            <a:r>
              <a:rPr lang="de-DE" dirty="0"/>
              <a:t> </a:t>
            </a:r>
            <a:r>
              <a:rPr lang="de-DE" dirty="0" err="1"/>
              <a:t>generated</a:t>
            </a:r>
            <a:r>
              <a:rPr lang="de-DE" dirty="0"/>
              <a:t>. </a:t>
            </a:r>
            <a:r>
              <a:rPr lang="de-DE" dirty="0" err="1"/>
              <a:t>Since</a:t>
            </a:r>
            <a:r>
              <a:rPr lang="de-DE" dirty="0"/>
              <a:t> </a:t>
            </a:r>
            <a:r>
              <a:rPr lang="de-DE" dirty="0" err="1"/>
              <a:t>it</a:t>
            </a:r>
            <a:r>
              <a:rPr lang="de-DE" dirty="0"/>
              <a:t> </a:t>
            </a:r>
            <a:r>
              <a:rPr lang="de-DE" dirty="0" err="1"/>
              <a:t>is</a:t>
            </a:r>
            <a:r>
              <a:rPr lang="de-DE" dirty="0"/>
              <a:t> </a:t>
            </a:r>
            <a:r>
              <a:rPr lang="de-DE" dirty="0" err="1"/>
              <a:t>fixed</a:t>
            </a:r>
            <a:r>
              <a:rPr lang="de-DE" dirty="0"/>
              <a:t>, I </a:t>
            </a:r>
            <a:r>
              <a:rPr lang="de-DE" dirty="0" err="1"/>
              <a:t>assume</a:t>
            </a:r>
            <a:r>
              <a:rPr lang="de-DE" dirty="0"/>
              <a:t>, </a:t>
            </a:r>
            <a:r>
              <a:rPr lang="de-DE" dirty="0" err="1"/>
              <a:t>that</a:t>
            </a:r>
            <a:r>
              <a:rPr lang="de-DE" dirty="0"/>
              <a:t> </a:t>
            </a:r>
            <a:r>
              <a:rPr lang="de-DE" dirty="0" err="1"/>
              <a:t>it</a:t>
            </a:r>
            <a:r>
              <a:rPr lang="de-DE" dirty="0"/>
              <a:t> </a:t>
            </a:r>
            <a:r>
              <a:rPr lang="de-DE" dirty="0" err="1"/>
              <a:t>comes</a:t>
            </a:r>
            <a:r>
              <a:rPr lang="de-DE" dirty="0"/>
              <a:t> </a:t>
            </a:r>
            <a:r>
              <a:rPr lang="de-DE" dirty="0" err="1"/>
              <a:t>from</a:t>
            </a:r>
            <a:r>
              <a:rPr lang="de-DE" dirty="0"/>
              <a:t> a different source and </a:t>
            </a:r>
            <a:r>
              <a:rPr lang="de-DE" dirty="0" err="1"/>
              <a:t>is</a:t>
            </a:r>
            <a:r>
              <a:rPr lang="de-DE" dirty="0"/>
              <a:t> not </a:t>
            </a:r>
            <a:r>
              <a:rPr lang="de-DE" dirty="0" err="1"/>
              <a:t>constructed</a:t>
            </a:r>
            <a:r>
              <a:rPr lang="de-DE" dirty="0"/>
              <a:t> </a:t>
            </a:r>
            <a:r>
              <a:rPr lang="de-DE" dirty="0" err="1"/>
              <a:t>from</a:t>
            </a:r>
            <a:r>
              <a:rPr lang="de-DE" dirty="0"/>
              <a:t> </a:t>
            </a:r>
            <a:r>
              <a:rPr lang="de-DE" dirty="0" err="1"/>
              <a:t>the</a:t>
            </a:r>
            <a:r>
              <a:rPr lang="de-DE" dirty="0"/>
              <a:t> </a:t>
            </a:r>
            <a:r>
              <a:rPr lang="de-DE" dirty="0" err="1"/>
              <a:t>training</a:t>
            </a:r>
            <a:r>
              <a:rPr lang="de-DE" dirty="0"/>
              <a:t> </a:t>
            </a:r>
            <a:r>
              <a:rPr lang="de-DE" dirty="0" err="1"/>
              <a:t>data</a:t>
            </a:r>
            <a:endParaRPr lang="de-DE" dirty="0"/>
          </a:p>
          <a:p>
            <a:pPr marL="171450" indent="-171450">
              <a:buFontTx/>
              <a:buChar char="-"/>
            </a:pPr>
            <a:r>
              <a:rPr lang="de-DE" dirty="0" err="1"/>
              <a:t>Which</a:t>
            </a:r>
            <a:r>
              <a:rPr lang="de-DE" dirty="0"/>
              <a:t> </a:t>
            </a:r>
            <a:r>
              <a:rPr lang="de-DE" dirty="0" err="1"/>
              <a:t>word</a:t>
            </a:r>
            <a:r>
              <a:rPr lang="de-DE" dirty="0"/>
              <a:t> </a:t>
            </a:r>
            <a:r>
              <a:rPr lang="de-DE" dirty="0" err="1"/>
              <a:t>embedding</a:t>
            </a:r>
            <a:r>
              <a:rPr lang="de-DE" dirty="0"/>
              <a:t> </a:t>
            </a:r>
            <a:r>
              <a:rPr lang="de-DE" dirty="0" err="1"/>
              <a:t>is</a:t>
            </a:r>
            <a:r>
              <a:rPr lang="de-DE" dirty="0"/>
              <a:t> </a:t>
            </a:r>
            <a:r>
              <a:rPr lang="de-DE" dirty="0" err="1"/>
              <a:t>used</a:t>
            </a:r>
            <a:r>
              <a:rPr lang="de-DE" dirty="0"/>
              <a:t> </a:t>
            </a:r>
            <a:r>
              <a:rPr lang="de-DE" dirty="0" err="1"/>
              <a:t>for</a:t>
            </a:r>
            <a:r>
              <a:rPr lang="de-DE" dirty="0"/>
              <a:t> </a:t>
            </a:r>
            <a:r>
              <a:rPr lang="de-DE" dirty="0" err="1"/>
              <a:t>the</a:t>
            </a:r>
            <a:r>
              <a:rPr lang="de-DE" dirty="0"/>
              <a:t> </a:t>
            </a:r>
            <a:r>
              <a:rPr lang="de-DE" dirty="0" err="1"/>
              <a:t>topic</a:t>
            </a:r>
            <a:r>
              <a:rPr lang="de-DE" dirty="0"/>
              <a:t> </a:t>
            </a:r>
            <a:r>
              <a:rPr lang="de-DE" dirty="0" err="1"/>
              <a:t>bag</a:t>
            </a:r>
            <a:r>
              <a:rPr lang="de-DE" dirty="0"/>
              <a:t>. I </a:t>
            </a:r>
            <a:r>
              <a:rPr lang="de-DE" dirty="0" err="1"/>
              <a:t>assume</a:t>
            </a:r>
            <a:r>
              <a:rPr lang="de-DE" dirty="0"/>
              <a:t> a BERT </a:t>
            </a:r>
            <a:r>
              <a:rPr lang="de-DE" dirty="0" err="1"/>
              <a:t>encoder</a:t>
            </a:r>
            <a:r>
              <a:rPr lang="de-DE" dirty="0"/>
              <a:t>, </a:t>
            </a:r>
            <a:r>
              <a:rPr lang="de-DE" dirty="0" err="1"/>
              <a:t>since</a:t>
            </a:r>
            <a:r>
              <a:rPr lang="de-DE" dirty="0"/>
              <a:t> </a:t>
            </a:r>
            <a:r>
              <a:rPr lang="de-DE" dirty="0" err="1"/>
              <a:t>it</a:t>
            </a:r>
            <a:r>
              <a:rPr lang="de-DE" dirty="0"/>
              <a:t> </a:t>
            </a:r>
            <a:r>
              <a:rPr lang="de-DE" dirty="0" err="1"/>
              <a:t>is</a:t>
            </a:r>
            <a:r>
              <a:rPr lang="de-DE" dirty="0"/>
              <a:t> </a:t>
            </a:r>
            <a:r>
              <a:rPr lang="de-DE" dirty="0" err="1"/>
              <a:t>used</a:t>
            </a:r>
            <a:r>
              <a:rPr lang="de-DE" dirty="0"/>
              <a:t> </a:t>
            </a:r>
            <a:r>
              <a:rPr lang="de-DE" dirty="0" err="1"/>
              <a:t>for</a:t>
            </a:r>
            <a:r>
              <a:rPr lang="de-DE" dirty="0"/>
              <a:t> </a:t>
            </a:r>
            <a:r>
              <a:rPr lang="de-DE" dirty="0" err="1"/>
              <a:t>report</a:t>
            </a:r>
            <a:r>
              <a:rPr lang="de-DE" dirty="0"/>
              <a:t> </a:t>
            </a:r>
            <a:r>
              <a:rPr lang="de-DE" dirty="0" err="1"/>
              <a:t>embedding</a:t>
            </a:r>
            <a:endParaRPr lang="de-DE" dirty="0"/>
          </a:p>
          <a:p>
            <a:pPr marL="171450" indent="-171450">
              <a:buFontTx/>
              <a:buChar char="-"/>
            </a:pPr>
            <a:r>
              <a:rPr lang="de-DE" dirty="0" err="1"/>
              <a:t>How</a:t>
            </a:r>
            <a:r>
              <a:rPr lang="de-DE" dirty="0"/>
              <a:t> </a:t>
            </a:r>
            <a:r>
              <a:rPr lang="de-DE" dirty="0" err="1"/>
              <a:t>the</a:t>
            </a:r>
            <a:r>
              <a:rPr lang="de-DE" dirty="0"/>
              <a:t> Graph </a:t>
            </a:r>
            <a:r>
              <a:rPr lang="de-DE" dirty="0" err="1"/>
              <a:t>embedding</a:t>
            </a:r>
            <a:r>
              <a:rPr lang="de-DE" dirty="0"/>
              <a:t> </a:t>
            </a:r>
            <a:r>
              <a:rPr lang="de-DE" dirty="0" err="1"/>
              <a:t>works</a:t>
            </a:r>
            <a:endParaRPr lang="de-DE" dirty="0"/>
          </a:p>
        </p:txBody>
      </p:sp>
    </p:spTree>
    <p:extLst>
      <p:ext uri="{BB962C8B-B14F-4D97-AF65-F5344CB8AC3E}">
        <p14:creationId xmlns:p14="http://schemas.microsoft.com/office/powerpoint/2010/main" val="2086197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B711-A4B6-2D7F-42A9-ED204D87123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9FA0B1F-7A14-44B6-68D1-A4A124A27D0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8168762-27FE-9DA3-3811-4679F9CCD47D}"/>
              </a:ext>
            </a:extLst>
          </p:cNvPr>
          <p:cNvSpPr>
            <a:spLocks noGrp="1"/>
          </p:cNvSpPr>
          <p:nvPr>
            <p:ph type="body" idx="1"/>
          </p:nvPr>
        </p:nvSpPr>
        <p:spPr/>
        <p:txBody>
          <a:bodyPr/>
          <a:lstStyle/>
          <a:p>
            <a:r>
              <a:rPr lang="de-DE" dirty="0" err="1"/>
              <a:t>Embeddings</a:t>
            </a:r>
            <a:r>
              <a:rPr lang="de-DE" dirty="0"/>
              <a:t>:</a:t>
            </a:r>
          </a:p>
          <a:p>
            <a:pPr marL="171450" indent="-171450">
              <a:buFontTx/>
              <a:buChar char="-"/>
            </a:pPr>
            <a:r>
              <a:rPr lang="de-DE" dirty="0"/>
              <a:t>Image: ResNet-101 </a:t>
            </a:r>
            <a:r>
              <a:rPr lang="de-DE" dirty="0" err="1"/>
              <a:t>pre-trained</a:t>
            </a:r>
            <a:r>
              <a:rPr lang="de-DE" dirty="0"/>
              <a:t> on </a:t>
            </a:r>
            <a:r>
              <a:rPr lang="de-DE" dirty="0" err="1"/>
              <a:t>ImageNet</a:t>
            </a:r>
            <a:endParaRPr lang="de-DE" dirty="0"/>
          </a:p>
          <a:p>
            <a:pPr marL="171450" indent="-171450">
              <a:buFontTx/>
              <a:buChar char="-"/>
            </a:pPr>
            <a:r>
              <a:rPr lang="de-DE" dirty="0"/>
              <a:t>Reports: </a:t>
            </a:r>
            <a:r>
              <a:rPr lang="de-DE" dirty="0" err="1"/>
              <a:t>follows</a:t>
            </a:r>
            <a:r>
              <a:rPr lang="de-DE" dirty="0"/>
              <a:t> BERT Encoder, but </a:t>
            </a:r>
            <a:r>
              <a:rPr lang="de-DE" dirty="0" err="1"/>
              <a:t>implemented</a:t>
            </a:r>
            <a:r>
              <a:rPr lang="de-DE" dirty="0"/>
              <a:t> </a:t>
            </a:r>
            <a:r>
              <a:rPr lang="de-DE" dirty="0" err="1"/>
              <a:t>by</a:t>
            </a:r>
            <a:r>
              <a:rPr lang="de-DE" dirty="0"/>
              <a:t> </a:t>
            </a:r>
            <a:r>
              <a:rPr lang="de-DE" dirty="0" err="1"/>
              <a:t>the</a:t>
            </a:r>
            <a:r>
              <a:rPr lang="de-DE" dirty="0"/>
              <a:t> </a:t>
            </a:r>
            <a:r>
              <a:rPr lang="de-DE" dirty="0" err="1"/>
              <a:t>authors</a:t>
            </a:r>
            <a:r>
              <a:rPr lang="de-DE" dirty="0"/>
              <a:t> and </a:t>
            </a:r>
            <a:r>
              <a:rPr lang="de-DE" dirty="0" err="1"/>
              <a:t>trained</a:t>
            </a:r>
            <a:r>
              <a:rPr lang="de-DE" dirty="0"/>
              <a:t> </a:t>
            </a:r>
            <a:r>
              <a:rPr lang="de-DE" dirty="0" err="1"/>
              <a:t>from</a:t>
            </a:r>
            <a:r>
              <a:rPr lang="de-DE" dirty="0"/>
              <a:t> scratch, Generator </a:t>
            </a:r>
            <a:r>
              <a:rPr lang="de-DE" dirty="0" err="1"/>
              <a:t>too</a:t>
            </a:r>
            <a:endParaRPr lang="de-DE" dirty="0"/>
          </a:p>
          <a:p>
            <a:pPr marL="171450" indent="-171450">
              <a:buFontTx/>
              <a:buChar char="-"/>
            </a:pPr>
            <a:endParaRPr lang="en-US" dirty="0"/>
          </a:p>
          <a:p>
            <a:pPr marL="0" indent="0">
              <a:buFontTx/>
              <a:buNone/>
            </a:pPr>
            <a:r>
              <a:rPr lang="en-US" dirty="0"/>
              <a:t>Knowledge Graph:</a:t>
            </a:r>
          </a:p>
          <a:p>
            <a:pPr marL="171450" indent="-171450">
              <a:buFontTx/>
              <a:buChar char="-"/>
            </a:pPr>
            <a:r>
              <a:rPr lang="de-DE" dirty="0"/>
              <a:t>None</a:t>
            </a:r>
          </a:p>
          <a:p>
            <a:pPr marL="171450" indent="-171450">
              <a:buFontTx/>
              <a:buChar char="-"/>
            </a:pPr>
            <a:endParaRPr lang="de-DE" dirty="0"/>
          </a:p>
          <a:p>
            <a:r>
              <a:rPr lang="de-DE" dirty="0"/>
              <a:t>Base Models:</a:t>
            </a:r>
          </a:p>
          <a:p>
            <a:pPr marL="171450" indent="-171450">
              <a:buFontTx/>
              <a:buChar char="-"/>
            </a:pPr>
            <a:r>
              <a:rPr lang="de-DE" dirty="0"/>
              <a:t>None</a:t>
            </a:r>
          </a:p>
          <a:p>
            <a:pPr marL="171450" indent="-171450">
              <a:buFontTx/>
              <a:buChar char="-"/>
            </a:pPr>
            <a:endParaRPr lang="de-DE" dirty="0"/>
          </a:p>
          <a:p>
            <a:r>
              <a:rPr lang="de-DE" dirty="0" err="1"/>
              <a:t>Dimensions</a:t>
            </a:r>
            <a:r>
              <a:rPr lang="de-DE" dirty="0"/>
              <a:t>:</a:t>
            </a:r>
          </a:p>
          <a:p>
            <a:pPr marL="171450" indent="-171450">
              <a:buFontTx/>
              <a:buChar char="-"/>
            </a:pPr>
            <a:r>
              <a:rPr lang="de-DE" dirty="0"/>
              <a:t>Images </a:t>
            </a:r>
            <a:r>
              <a:rPr lang="de-DE" dirty="0" err="1"/>
              <a:t>are</a:t>
            </a:r>
            <a:r>
              <a:rPr lang="de-DE" dirty="0"/>
              <a:t> </a:t>
            </a:r>
            <a:r>
              <a:rPr lang="de-DE" dirty="0" err="1"/>
              <a:t>scaled</a:t>
            </a:r>
            <a:r>
              <a:rPr lang="de-DE" dirty="0"/>
              <a:t> </a:t>
            </a:r>
            <a:r>
              <a:rPr lang="de-DE" dirty="0" err="1"/>
              <a:t>to</a:t>
            </a:r>
            <a:r>
              <a:rPr lang="de-DE" dirty="0"/>
              <a:t> 224x224</a:t>
            </a:r>
          </a:p>
          <a:p>
            <a:pPr marL="171450" indent="-171450">
              <a:buFontTx/>
              <a:buChar char="-"/>
            </a:pPr>
            <a:r>
              <a:rPr lang="de-DE" dirty="0"/>
              <a:t>D: </a:t>
            </a:r>
            <a:r>
              <a:rPr lang="de-DE" dirty="0" err="1"/>
              <a:t>dimension</a:t>
            </a:r>
            <a:r>
              <a:rPr lang="de-DE" dirty="0"/>
              <a:t> </a:t>
            </a:r>
            <a:r>
              <a:rPr lang="de-DE" dirty="0" err="1"/>
              <a:t>of</a:t>
            </a:r>
            <a:r>
              <a:rPr lang="de-DE" dirty="0"/>
              <a:t> </a:t>
            </a:r>
            <a:r>
              <a:rPr lang="de-DE" dirty="0" err="1"/>
              <a:t>the</a:t>
            </a:r>
            <a:r>
              <a:rPr lang="de-DE" dirty="0"/>
              <a:t> </a:t>
            </a:r>
            <a:r>
              <a:rPr lang="de-DE" dirty="0" err="1"/>
              <a:t>model</a:t>
            </a:r>
            <a:r>
              <a:rPr lang="de-DE" dirty="0"/>
              <a:t> = 512</a:t>
            </a:r>
          </a:p>
          <a:p>
            <a:pPr marL="171450" indent="-171450">
              <a:buFontTx/>
              <a:buChar char="-"/>
            </a:pPr>
            <a:endParaRPr lang="de-DE" dirty="0"/>
          </a:p>
          <a:p>
            <a:pPr marL="0" indent="0">
              <a:buFontTx/>
              <a:buNone/>
            </a:pPr>
            <a:r>
              <a:rPr lang="de-DE" dirty="0"/>
              <a:t>Further </a:t>
            </a:r>
            <a:r>
              <a:rPr lang="de-DE" dirty="0" err="1"/>
              <a:t>notes</a:t>
            </a:r>
            <a:r>
              <a:rPr lang="de-DE" dirty="0"/>
              <a:t>:</a:t>
            </a:r>
          </a:p>
          <a:p>
            <a:pPr marL="171450" indent="-171450">
              <a:buFontTx/>
              <a:buChar char="-"/>
            </a:pPr>
            <a:r>
              <a:rPr lang="de-DE" dirty="0"/>
              <a:t>Pooling in </a:t>
            </a:r>
            <a:r>
              <a:rPr lang="de-DE" dirty="0" err="1"/>
              <a:t>images</a:t>
            </a:r>
            <a:r>
              <a:rPr lang="de-DE" dirty="0"/>
              <a:t>: </a:t>
            </a:r>
            <a:r>
              <a:rPr lang="de-DE" dirty="0" err="1"/>
              <a:t>average</a:t>
            </a:r>
            <a:r>
              <a:rPr lang="de-DE" dirty="0"/>
              <a:t> </a:t>
            </a:r>
            <a:r>
              <a:rPr lang="de-DE" dirty="0" err="1"/>
              <a:t>pooling</a:t>
            </a:r>
            <a:endParaRPr lang="de-DE" dirty="0"/>
          </a:p>
          <a:p>
            <a:pPr marL="171450" indent="-171450">
              <a:buFontTx/>
              <a:buChar char="-"/>
            </a:pPr>
            <a:r>
              <a:rPr lang="de-DE" dirty="0"/>
              <a:t>Pooling </a:t>
            </a:r>
            <a:r>
              <a:rPr lang="de-DE" dirty="0" err="1"/>
              <a:t>for</a:t>
            </a:r>
            <a:r>
              <a:rPr lang="de-DE" dirty="0"/>
              <a:t> </a:t>
            </a:r>
            <a:r>
              <a:rPr lang="de-DE" dirty="0" err="1"/>
              <a:t>reports</a:t>
            </a:r>
            <a:r>
              <a:rPr lang="de-DE" dirty="0"/>
              <a:t>: </a:t>
            </a:r>
            <a:r>
              <a:rPr lang="de-DE" dirty="0" err="1"/>
              <a:t>take</a:t>
            </a:r>
            <a:r>
              <a:rPr lang="de-DE" dirty="0"/>
              <a:t> CLS </a:t>
            </a:r>
            <a:r>
              <a:rPr lang="de-DE" dirty="0" err="1"/>
              <a:t>token</a:t>
            </a:r>
            <a:r>
              <a:rPr lang="de-DE" dirty="0"/>
              <a:t> (</a:t>
            </a:r>
            <a:r>
              <a:rPr lang="de-DE" dirty="0" err="1"/>
              <a:t>this</a:t>
            </a:r>
            <a:r>
              <a:rPr lang="de-DE" dirty="0"/>
              <a:t> </a:t>
            </a:r>
            <a:r>
              <a:rPr lang="de-DE" dirty="0" err="1"/>
              <a:t>is</a:t>
            </a:r>
            <a:r>
              <a:rPr lang="de-DE" dirty="0"/>
              <a:t> </a:t>
            </a:r>
            <a:r>
              <a:rPr lang="de-DE" dirty="0" err="1"/>
              <a:t>the</a:t>
            </a:r>
            <a:r>
              <a:rPr lang="de-DE" dirty="0"/>
              <a:t> </a:t>
            </a:r>
            <a:r>
              <a:rPr lang="de-DE" dirty="0" err="1"/>
              <a:t>aggregated</a:t>
            </a:r>
            <a:r>
              <a:rPr lang="de-DE" dirty="0"/>
              <a:t> </a:t>
            </a:r>
            <a:r>
              <a:rPr lang="de-DE" dirty="0" err="1"/>
              <a:t>representation</a:t>
            </a:r>
            <a:r>
              <a:rPr lang="de-DE" dirty="0"/>
              <a:t> </a:t>
            </a:r>
            <a:r>
              <a:rPr lang="de-DE" dirty="0" err="1"/>
              <a:t>of</a:t>
            </a:r>
            <a:r>
              <a:rPr lang="de-DE" dirty="0"/>
              <a:t> </a:t>
            </a:r>
            <a:r>
              <a:rPr lang="de-DE" dirty="0" err="1"/>
              <a:t>the</a:t>
            </a:r>
            <a:r>
              <a:rPr lang="de-DE" dirty="0"/>
              <a:t> </a:t>
            </a:r>
            <a:r>
              <a:rPr lang="de-DE" dirty="0" err="1"/>
              <a:t>entire</a:t>
            </a:r>
            <a:r>
              <a:rPr lang="de-DE" dirty="0"/>
              <a:t> </a:t>
            </a:r>
            <a:r>
              <a:rPr lang="de-DE" dirty="0" err="1"/>
              <a:t>sequence</a:t>
            </a:r>
            <a:r>
              <a:rPr lang="de-DE" dirty="0"/>
              <a:t>)</a:t>
            </a:r>
          </a:p>
          <a:p>
            <a:pPr marL="171450" indent="-171450">
              <a:buFontTx/>
              <a:buChar char="-"/>
            </a:pPr>
            <a:r>
              <a:rPr lang="de-DE" dirty="0"/>
              <a:t>The </a:t>
            </a:r>
            <a:r>
              <a:rPr lang="de-DE" dirty="0" err="1"/>
              <a:t>decoder</a:t>
            </a:r>
            <a:r>
              <a:rPr lang="de-DE" dirty="0"/>
              <a:t> </a:t>
            </a:r>
            <a:r>
              <a:rPr lang="de-DE" dirty="0" err="1"/>
              <a:t>concatenates</a:t>
            </a:r>
            <a:r>
              <a:rPr lang="de-DE" dirty="0"/>
              <a:t> </a:t>
            </a:r>
            <a:r>
              <a:rPr lang="de-DE" dirty="0" err="1"/>
              <a:t>visual</a:t>
            </a:r>
            <a:r>
              <a:rPr lang="de-DE" dirty="0"/>
              <a:t> </a:t>
            </a:r>
            <a:r>
              <a:rPr lang="de-DE" dirty="0" err="1"/>
              <a:t>features</a:t>
            </a:r>
            <a:r>
              <a:rPr lang="de-DE" dirty="0"/>
              <a:t> and </a:t>
            </a:r>
            <a:r>
              <a:rPr lang="de-DE" dirty="0" err="1"/>
              <a:t>knowledge.enhanced</a:t>
            </a:r>
            <a:r>
              <a:rPr lang="de-DE" dirty="0"/>
              <a:t> </a:t>
            </a:r>
            <a:r>
              <a:rPr lang="de-DE" dirty="0" err="1"/>
              <a:t>features</a:t>
            </a:r>
            <a:endParaRPr lang="de-DE" dirty="0"/>
          </a:p>
          <a:p>
            <a:pPr marL="171450" indent="-171450">
              <a:buFontTx/>
              <a:buChar char="-"/>
            </a:pPr>
            <a:r>
              <a:rPr lang="de-DE" dirty="0"/>
              <a:t>Cross-</a:t>
            </a:r>
            <a:r>
              <a:rPr lang="de-DE" dirty="0" err="1"/>
              <a:t>entropy</a:t>
            </a:r>
            <a:r>
              <a:rPr lang="de-DE" dirty="0"/>
              <a:t> </a:t>
            </a:r>
            <a:r>
              <a:rPr lang="de-DE" dirty="0" err="1"/>
              <a:t>loss</a:t>
            </a:r>
            <a:r>
              <a:rPr lang="de-DE" dirty="0"/>
              <a:t> </a:t>
            </a:r>
            <a:r>
              <a:rPr lang="de-DE" dirty="0" err="1"/>
              <a:t>for</a:t>
            </a:r>
            <a:r>
              <a:rPr lang="de-DE" dirty="0"/>
              <a:t> </a:t>
            </a:r>
            <a:r>
              <a:rPr lang="de-DE" dirty="0" err="1"/>
              <a:t>aligning</a:t>
            </a:r>
            <a:r>
              <a:rPr lang="de-DE" dirty="0"/>
              <a:t> </a:t>
            </a:r>
            <a:r>
              <a:rPr lang="de-DE" dirty="0" err="1"/>
              <a:t>textual+textual</a:t>
            </a:r>
            <a:endParaRPr lang="de-DE" dirty="0"/>
          </a:p>
          <a:p>
            <a:pPr marL="171450" indent="-171450">
              <a:buFontTx/>
              <a:buChar char="-"/>
            </a:pPr>
            <a:r>
              <a:rPr lang="de-DE" dirty="0"/>
              <a:t>Triplet </a:t>
            </a:r>
            <a:r>
              <a:rPr lang="de-DE" dirty="0" err="1"/>
              <a:t>margin</a:t>
            </a:r>
            <a:r>
              <a:rPr lang="de-DE" dirty="0"/>
              <a:t> </a:t>
            </a:r>
            <a:r>
              <a:rPr lang="de-DE" dirty="0" err="1"/>
              <a:t>loss</a:t>
            </a:r>
            <a:r>
              <a:rPr lang="de-DE" dirty="0"/>
              <a:t> </a:t>
            </a:r>
            <a:r>
              <a:rPr lang="de-DE" dirty="0" err="1"/>
              <a:t>for</a:t>
            </a:r>
            <a:r>
              <a:rPr lang="de-DE" dirty="0"/>
              <a:t> </a:t>
            </a:r>
            <a:r>
              <a:rPr lang="de-DE" dirty="0" err="1"/>
              <a:t>aligning</a:t>
            </a:r>
            <a:r>
              <a:rPr lang="de-DE" dirty="0"/>
              <a:t> </a:t>
            </a:r>
            <a:r>
              <a:rPr lang="de-DE" dirty="0" err="1"/>
              <a:t>visual</a:t>
            </a:r>
            <a:r>
              <a:rPr lang="de-DE" dirty="0"/>
              <a:t> </a:t>
            </a:r>
            <a:r>
              <a:rPr lang="de-DE" dirty="0" err="1"/>
              <a:t>features</a:t>
            </a:r>
            <a:r>
              <a:rPr lang="de-DE" dirty="0"/>
              <a:t> and </a:t>
            </a:r>
            <a:r>
              <a:rPr lang="de-DE" dirty="0" err="1"/>
              <a:t>textual</a:t>
            </a:r>
            <a:r>
              <a:rPr lang="de-DE" dirty="0"/>
              <a:t> </a:t>
            </a:r>
            <a:r>
              <a:rPr lang="de-DE" dirty="0" err="1"/>
              <a:t>embeddings</a:t>
            </a:r>
            <a:endParaRPr lang="de-DE" dirty="0"/>
          </a:p>
          <a:p>
            <a:pPr marL="171450" indent="-171450">
              <a:buFontTx/>
              <a:buChar char="-"/>
            </a:pPr>
            <a:r>
              <a:rPr lang="de-DE" dirty="0"/>
              <a:t>Binary </a:t>
            </a:r>
            <a:r>
              <a:rPr lang="de-DE" dirty="0" err="1"/>
              <a:t>cross-entropy</a:t>
            </a:r>
            <a:r>
              <a:rPr lang="de-DE" dirty="0"/>
              <a:t> </a:t>
            </a:r>
            <a:r>
              <a:rPr lang="de-DE" dirty="0" err="1"/>
              <a:t>loss</a:t>
            </a:r>
            <a:r>
              <a:rPr lang="de-DE" dirty="0"/>
              <a:t> </a:t>
            </a:r>
            <a:r>
              <a:rPr lang="de-DE" dirty="0" err="1"/>
              <a:t>for</a:t>
            </a:r>
            <a:r>
              <a:rPr lang="de-DE" dirty="0"/>
              <a:t> </a:t>
            </a:r>
            <a:r>
              <a:rPr lang="de-DE" dirty="0" err="1"/>
              <a:t>aligning</a:t>
            </a:r>
            <a:r>
              <a:rPr lang="de-DE" dirty="0"/>
              <a:t> </a:t>
            </a:r>
            <a:r>
              <a:rPr lang="de-DE" dirty="0" err="1"/>
              <a:t>visual</a:t>
            </a:r>
            <a:r>
              <a:rPr lang="de-DE" dirty="0"/>
              <a:t> </a:t>
            </a:r>
            <a:r>
              <a:rPr lang="de-DE" dirty="0" err="1"/>
              <a:t>features</a:t>
            </a:r>
            <a:r>
              <a:rPr lang="de-DE" dirty="0"/>
              <a:t> and </a:t>
            </a:r>
            <a:r>
              <a:rPr lang="de-DE" dirty="0" err="1"/>
              <a:t>disease</a:t>
            </a:r>
            <a:r>
              <a:rPr lang="de-DE" dirty="0"/>
              <a:t> </a:t>
            </a:r>
            <a:r>
              <a:rPr lang="de-DE" dirty="0" err="1"/>
              <a:t>labels</a:t>
            </a:r>
            <a:endParaRPr lang="de-DE" dirty="0"/>
          </a:p>
          <a:p>
            <a:pPr marL="0" indent="0">
              <a:buFontTx/>
              <a:buNone/>
            </a:pPr>
            <a:endParaRPr lang="de-DE" dirty="0"/>
          </a:p>
          <a:p>
            <a:r>
              <a:rPr lang="de-DE" dirty="0"/>
              <a:t>Not </a:t>
            </a:r>
            <a:r>
              <a:rPr lang="de-DE" dirty="0" err="1"/>
              <a:t>stated</a:t>
            </a:r>
            <a:r>
              <a:rPr lang="de-DE" dirty="0"/>
              <a:t>:</a:t>
            </a:r>
          </a:p>
          <a:p>
            <a:pPr marL="171450" indent="-171450">
              <a:buFontTx/>
              <a:buChar char="-"/>
            </a:pPr>
            <a:r>
              <a:rPr lang="de-DE" dirty="0" err="1"/>
              <a:t>Number</a:t>
            </a:r>
            <a:r>
              <a:rPr lang="de-DE" dirty="0"/>
              <a:t> </a:t>
            </a:r>
            <a:r>
              <a:rPr lang="de-DE" dirty="0" err="1"/>
              <a:t>of</a:t>
            </a:r>
            <a:r>
              <a:rPr lang="de-DE" dirty="0"/>
              <a:t> </a:t>
            </a:r>
            <a:r>
              <a:rPr lang="de-DE" dirty="0" err="1"/>
              <a:t>features</a:t>
            </a:r>
            <a:endParaRPr lang="de-DE" dirty="0"/>
          </a:p>
          <a:p>
            <a:pPr marL="171450" indent="-171450">
              <a:buFontTx/>
              <a:buChar char="-"/>
            </a:pPr>
            <a:r>
              <a:rPr lang="de-DE" dirty="0"/>
              <a:t>Dimension </a:t>
            </a:r>
            <a:r>
              <a:rPr lang="de-DE" dirty="0" err="1"/>
              <a:t>of</a:t>
            </a:r>
            <a:r>
              <a:rPr lang="de-DE" dirty="0"/>
              <a:t> </a:t>
            </a:r>
            <a:r>
              <a:rPr lang="de-DE" dirty="0" err="1"/>
              <a:t>each</a:t>
            </a:r>
            <a:r>
              <a:rPr lang="de-DE" dirty="0"/>
              <a:t> feature</a:t>
            </a:r>
          </a:p>
          <a:p>
            <a:endParaRPr lang="de-DE" dirty="0"/>
          </a:p>
        </p:txBody>
      </p:sp>
    </p:spTree>
    <p:extLst>
      <p:ext uri="{BB962C8B-B14F-4D97-AF65-F5344CB8AC3E}">
        <p14:creationId xmlns:p14="http://schemas.microsoft.com/office/powerpoint/2010/main" val="3025504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Embeddings</a:t>
            </a:r>
            <a:r>
              <a:rPr lang="de-DE" dirty="0"/>
              <a:t>:</a:t>
            </a:r>
          </a:p>
          <a:p>
            <a:pPr marL="171450" indent="-171450">
              <a:buFontTx/>
              <a:buChar char="-"/>
            </a:pPr>
            <a:r>
              <a:rPr lang="de-DE" dirty="0"/>
              <a:t>Image: </a:t>
            </a:r>
            <a:r>
              <a:rPr lang="de-DE" dirty="0" err="1"/>
              <a:t>Swin</a:t>
            </a:r>
            <a:r>
              <a:rPr lang="de-DE" dirty="0"/>
              <a:t> Transformer (Liu, Z., Lin, Y., Cao, Y., Hu, H., Wei, Y., Zhang, Z., Lin, S., Guo, B.: </a:t>
            </a:r>
            <a:r>
              <a:rPr lang="de-DE" dirty="0" err="1"/>
              <a:t>Swin</a:t>
            </a:r>
            <a:r>
              <a:rPr lang="de-DE" dirty="0"/>
              <a:t> </a:t>
            </a:r>
            <a:r>
              <a:rPr lang="de-DE" dirty="0" err="1"/>
              <a:t>transformer</a:t>
            </a:r>
            <a:r>
              <a:rPr lang="de-DE" dirty="0"/>
              <a:t>: </a:t>
            </a:r>
            <a:r>
              <a:rPr lang="de-DE" dirty="0" err="1"/>
              <a:t>Hierarchical</a:t>
            </a:r>
            <a:r>
              <a:rPr lang="de-DE" dirty="0"/>
              <a:t> </a:t>
            </a:r>
            <a:r>
              <a:rPr lang="de-DE" dirty="0" err="1"/>
              <a:t>vision</a:t>
            </a:r>
            <a:r>
              <a:rPr lang="de-DE" dirty="0"/>
              <a:t> </a:t>
            </a:r>
            <a:r>
              <a:rPr lang="de-DE" dirty="0" err="1"/>
              <a:t>transformer</a:t>
            </a:r>
            <a:r>
              <a:rPr lang="de-DE" dirty="0"/>
              <a:t> </a:t>
            </a:r>
            <a:r>
              <a:rPr lang="de-DE" dirty="0" err="1"/>
              <a:t>using</a:t>
            </a:r>
            <a:r>
              <a:rPr lang="de-DE" dirty="0"/>
              <a:t> </a:t>
            </a:r>
            <a:r>
              <a:rPr lang="de-DE" dirty="0" err="1"/>
              <a:t>shifted</a:t>
            </a:r>
            <a:r>
              <a:rPr lang="de-DE" dirty="0"/>
              <a:t> </a:t>
            </a:r>
            <a:r>
              <a:rPr lang="de-DE" dirty="0" err="1"/>
              <a:t>windows</a:t>
            </a:r>
            <a:r>
              <a:rPr lang="de-DE" dirty="0"/>
              <a:t>. In: Proceedings </a:t>
            </a:r>
            <a:r>
              <a:rPr lang="de-DE" dirty="0" err="1"/>
              <a:t>of</a:t>
            </a:r>
            <a:r>
              <a:rPr lang="de-DE" dirty="0"/>
              <a:t> </a:t>
            </a:r>
            <a:r>
              <a:rPr lang="de-DE" dirty="0" err="1"/>
              <a:t>the</a:t>
            </a:r>
            <a:r>
              <a:rPr lang="de-DE" dirty="0"/>
              <a:t> IEEE/CVF international </a:t>
            </a:r>
            <a:r>
              <a:rPr lang="de-DE" dirty="0" err="1"/>
              <a:t>conference</a:t>
            </a:r>
            <a:r>
              <a:rPr lang="de-DE" dirty="0"/>
              <a:t> on </a:t>
            </a:r>
            <a:r>
              <a:rPr lang="de-DE" dirty="0" err="1"/>
              <a:t>computer</a:t>
            </a:r>
            <a:r>
              <a:rPr lang="de-DE" dirty="0"/>
              <a:t> </a:t>
            </a:r>
            <a:r>
              <a:rPr lang="de-DE" dirty="0" err="1"/>
              <a:t>vision</a:t>
            </a:r>
            <a:r>
              <a:rPr lang="de-DE" dirty="0"/>
              <a:t>. pp. 10012–10022 (2021)) on LLaMA2-7B</a:t>
            </a:r>
          </a:p>
          <a:p>
            <a:pPr marL="171450" indent="-171450">
              <a:buFontTx/>
              <a:buChar char="-"/>
            </a:pPr>
            <a:r>
              <a:rPr lang="en-US" dirty="0"/>
              <a:t>Disease Entity Names: </a:t>
            </a:r>
            <a:r>
              <a:rPr lang="de-DE" dirty="0"/>
              <a:t>LLaMA Word Embedding Layer</a:t>
            </a:r>
            <a:endParaRPr lang="en-US" dirty="0"/>
          </a:p>
          <a:p>
            <a:pPr marL="171450" indent="-171450">
              <a:buFontTx/>
              <a:buChar char="-"/>
            </a:pPr>
            <a:r>
              <a:rPr lang="en-US" dirty="0"/>
              <a:t>Graph: adjacency matrix is used</a:t>
            </a:r>
          </a:p>
          <a:p>
            <a:pPr marL="171450" indent="-171450">
              <a:buFontTx/>
              <a:buChar char="-"/>
            </a:pPr>
            <a:r>
              <a:rPr lang="en-US" dirty="0"/>
              <a:t>LLM: </a:t>
            </a:r>
            <a:r>
              <a:rPr lang="de-DE" dirty="0"/>
              <a:t>LLaMA2-7B</a:t>
            </a:r>
            <a:endParaRPr lang="en-US" dirty="0"/>
          </a:p>
          <a:p>
            <a:pPr marL="171450" indent="-171450">
              <a:buFontTx/>
              <a:buChar char="-"/>
            </a:pPr>
            <a:endParaRPr lang="en-US" dirty="0"/>
          </a:p>
          <a:p>
            <a:pPr marL="0" indent="0">
              <a:buFontTx/>
              <a:buNone/>
            </a:pPr>
            <a:r>
              <a:rPr lang="en-US" dirty="0"/>
              <a:t>Knowledge Graph:</a:t>
            </a:r>
          </a:p>
          <a:p>
            <a:pPr marL="171450" indent="-171450">
              <a:buFontTx/>
              <a:buChar char="-"/>
            </a:pPr>
            <a:r>
              <a:rPr lang="en-US" dirty="0"/>
              <a:t>Based on </a:t>
            </a:r>
            <a:r>
              <a:rPr lang="de-DE" dirty="0"/>
              <a:t>Irvin, J., </a:t>
            </a:r>
            <a:r>
              <a:rPr lang="de-DE" dirty="0" err="1"/>
              <a:t>Rajpurkar</a:t>
            </a:r>
            <a:r>
              <a:rPr lang="de-DE" dirty="0"/>
              <a:t>, P., Ko, M., </a:t>
            </a:r>
            <a:r>
              <a:rPr lang="de-DE" dirty="0" err="1"/>
              <a:t>Yu</a:t>
            </a:r>
            <a:r>
              <a:rPr lang="de-DE" dirty="0"/>
              <a:t>, Y., </a:t>
            </a:r>
            <a:r>
              <a:rPr lang="de-DE" dirty="0" err="1"/>
              <a:t>Ciurea-Ilcus</a:t>
            </a:r>
            <a:r>
              <a:rPr lang="de-DE" dirty="0"/>
              <a:t>, S., Chute, C., </a:t>
            </a:r>
            <a:r>
              <a:rPr lang="de-DE" dirty="0" err="1"/>
              <a:t>Marklund</a:t>
            </a:r>
            <a:r>
              <a:rPr lang="de-DE" dirty="0"/>
              <a:t>, H., </a:t>
            </a:r>
            <a:r>
              <a:rPr lang="de-DE" dirty="0" err="1"/>
              <a:t>Haghgoo</a:t>
            </a:r>
            <a:r>
              <a:rPr lang="de-DE" dirty="0"/>
              <a:t>, B., Ball, R., </a:t>
            </a:r>
            <a:r>
              <a:rPr lang="de-DE" dirty="0" err="1"/>
              <a:t>Shpanskaya</a:t>
            </a:r>
            <a:r>
              <a:rPr lang="de-DE" dirty="0"/>
              <a:t>, K., et al.: </a:t>
            </a:r>
            <a:r>
              <a:rPr lang="de-DE" b="1" dirty="0" err="1"/>
              <a:t>Chexpert</a:t>
            </a:r>
            <a:r>
              <a:rPr lang="de-DE" dirty="0"/>
              <a:t>: A large </a:t>
            </a:r>
            <a:r>
              <a:rPr lang="de-DE" dirty="0" err="1"/>
              <a:t>chest</a:t>
            </a:r>
            <a:r>
              <a:rPr lang="de-DE" dirty="0"/>
              <a:t> </a:t>
            </a:r>
            <a:r>
              <a:rPr lang="de-DE" dirty="0" err="1"/>
              <a:t>radiograph</a:t>
            </a:r>
            <a:r>
              <a:rPr lang="de-DE" dirty="0"/>
              <a:t> </a:t>
            </a:r>
            <a:r>
              <a:rPr lang="de-DE" dirty="0" err="1"/>
              <a:t>dataset</a:t>
            </a:r>
            <a:r>
              <a:rPr lang="de-DE" dirty="0"/>
              <a:t> </a:t>
            </a:r>
            <a:r>
              <a:rPr lang="de-DE" dirty="0" err="1"/>
              <a:t>with</a:t>
            </a:r>
            <a:r>
              <a:rPr lang="de-DE" dirty="0"/>
              <a:t> </a:t>
            </a:r>
            <a:r>
              <a:rPr lang="de-DE" dirty="0" err="1"/>
              <a:t>uncertainty</a:t>
            </a:r>
            <a:r>
              <a:rPr lang="de-DE" dirty="0"/>
              <a:t> </a:t>
            </a:r>
            <a:r>
              <a:rPr lang="de-DE" dirty="0" err="1"/>
              <a:t>labels</a:t>
            </a:r>
            <a:r>
              <a:rPr lang="de-DE" dirty="0"/>
              <a:t> and expert </a:t>
            </a:r>
            <a:r>
              <a:rPr lang="de-DE" dirty="0" err="1"/>
              <a:t>comparison</a:t>
            </a:r>
            <a:r>
              <a:rPr lang="de-DE" dirty="0"/>
              <a:t>. In: Proceedings </a:t>
            </a:r>
            <a:r>
              <a:rPr lang="de-DE" dirty="0" err="1"/>
              <a:t>of</a:t>
            </a:r>
            <a:r>
              <a:rPr lang="de-DE" dirty="0"/>
              <a:t> </a:t>
            </a:r>
            <a:r>
              <a:rPr lang="de-DE" dirty="0" err="1"/>
              <a:t>the</a:t>
            </a:r>
            <a:r>
              <a:rPr lang="de-DE" dirty="0"/>
              <a:t> AAAI </a:t>
            </a:r>
            <a:r>
              <a:rPr lang="de-DE" dirty="0" err="1"/>
              <a:t>conference</a:t>
            </a:r>
            <a:r>
              <a:rPr lang="de-DE" dirty="0"/>
              <a:t> on </a:t>
            </a:r>
            <a:r>
              <a:rPr lang="de-DE" dirty="0" err="1"/>
              <a:t>artificial</a:t>
            </a:r>
            <a:r>
              <a:rPr lang="de-DE" dirty="0"/>
              <a:t> </a:t>
            </a:r>
            <a:r>
              <a:rPr lang="de-DE" dirty="0" err="1"/>
              <a:t>intelligence</a:t>
            </a:r>
            <a:r>
              <a:rPr lang="de-DE" dirty="0"/>
              <a:t>. vol. 33, pp. 590–597 (2019) </a:t>
            </a:r>
          </a:p>
          <a:p>
            <a:pPr marL="171450" indent="-171450">
              <a:buFontTx/>
              <a:buChar char="-"/>
            </a:pPr>
            <a:r>
              <a:rPr lang="de-DE" dirty="0"/>
              <a:t>14 </a:t>
            </a:r>
            <a:r>
              <a:rPr lang="de-DE" dirty="0" err="1"/>
              <a:t>nodes</a:t>
            </a:r>
            <a:endParaRPr lang="de-DE" dirty="0"/>
          </a:p>
          <a:p>
            <a:pPr marL="171450" indent="-171450">
              <a:buFontTx/>
              <a:buChar char="-"/>
            </a:pPr>
            <a:r>
              <a:rPr lang="en-US" dirty="0"/>
              <a:t>Each disease entity is represented by the word embedding of its name</a:t>
            </a:r>
          </a:p>
          <a:p>
            <a:pPr marL="171450" indent="-171450">
              <a:buFontTx/>
              <a:buChar char="-"/>
            </a:pPr>
            <a:r>
              <a:rPr lang="en-US" dirty="0"/>
              <a:t>abnormalities within the same region exhibit stronger correlations than those across different organs</a:t>
            </a:r>
            <a:endParaRPr lang="de-DE" dirty="0"/>
          </a:p>
          <a:p>
            <a:endParaRPr lang="de-DE" dirty="0"/>
          </a:p>
          <a:p>
            <a:r>
              <a:rPr lang="de-DE" dirty="0"/>
              <a:t>Base Models:</a:t>
            </a:r>
          </a:p>
          <a:p>
            <a:pPr marL="171450" indent="-171450">
              <a:buFontTx/>
              <a:buChar char="-"/>
            </a:pPr>
            <a:r>
              <a:rPr lang="de-DE" dirty="0"/>
              <a:t>LLaMA2-7B</a:t>
            </a:r>
          </a:p>
          <a:p>
            <a:pPr marL="171450" indent="-171450">
              <a:buFontTx/>
              <a:buChar char="-"/>
            </a:pPr>
            <a:endParaRPr lang="de-DE" dirty="0"/>
          </a:p>
          <a:p>
            <a:r>
              <a:rPr lang="de-DE" dirty="0" err="1"/>
              <a:t>Dimensions</a:t>
            </a:r>
            <a:r>
              <a:rPr lang="de-DE" dirty="0"/>
              <a:t>:</a:t>
            </a:r>
          </a:p>
          <a:p>
            <a:pPr marL="171450" indent="-171450">
              <a:buFontTx/>
              <a:buChar char="-"/>
            </a:pPr>
            <a:r>
              <a:rPr lang="de-DE" dirty="0" err="1"/>
              <a:t>Number</a:t>
            </a:r>
            <a:r>
              <a:rPr lang="de-DE" dirty="0"/>
              <a:t> </a:t>
            </a:r>
            <a:r>
              <a:rPr lang="de-DE" dirty="0" err="1"/>
              <a:t>of</a:t>
            </a:r>
            <a:r>
              <a:rPr lang="de-DE" dirty="0"/>
              <a:t> </a:t>
            </a:r>
            <a:r>
              <a:rPr lang="de-DE" dirty="0" err="1"/>
              <a:t>disease</a:t>
            </a:r>
            <a:r>
              <a:rPr lang="de-DE" dirty="0"/>
              <a:t> </a:t>
            </a:r>
            <a:r>
              <a:rPr lang="de-DE" dirty="0" err="1"/>
              <a:t>entities</a:t>
            </a:r>
            <a:r>
              <a:rPr lang="de-DE" dirty="0"/>
              <a:t>: 14</a:t>
            </a:r>
          </a:p>
          <a:p>
            <a:pPr marL="171450" indent="-171450">
              <a:buFontTx/>
              <a:buChar char="-"/>
            </a:pPr>
            <a:endParaRPr lang="de-DE" dirty="0"/>
          </a:p>
          <a:p>
            <a:pPr marL="0" indent="0">
              <a:buFontTx/>
              <a:buNone/>
            </a:pPr>
            <a:r>
              <a:rPr lang="de-DE" dirty="0"/>
              <a:t>Further </a:t>
            </a:r>
            <a:r>
              <a:rPr lang="de-DE" dirty="0" err="1"/>
              <a:t>notes</a:t>
            </a:r>
            <a:r>
              <a:rPr lang="de-DE" dirty="0"/>
              <a:t>:</a:t>
            </a:r>
          </a:p>
          <a:p>
            <a:pPr marL="0" indent="0">
              <a:buFontTx/>
              <a:buNone/>
            </a:pPr>
            <a:r>
              <a:rPr lang="de-DE" dirty="0"/>
              <a:t>- </a:t>
            </a:r>
            <a:r>
              <a:rPr lang="en-US" dirty="0"/>
              <a:t>model is optimized by minimizing the cross-entropy loss</a:t>
            </a:r>
            <a:endParaRPr lang="de-DE" dirty="0"/>
          </a:p>
          <a:p>
            <a:pPr marL="0" indent="0">
              <a:buFontTx/>
              <a:buNone/>
            </a:pPr>
            <a:endParaRPr lang="de-DE" dirty="0"/>
          </a:p>
          <a:p>
            <a:r>
              <a:rPr lang="de-DE" dirty="0"/>
              <a:t>Not </a:t>
            </a:r>
            <a:r>
              <a:rPr lang="de-DE" dirty="0" err="1"/>
              <a:t>stated</a:t>
            </a:r>
            <a:r>
              <a:rPr lang="de-DE" dirty="0"/>
              <a:t>:</a:t>
            </a:r>
          </a:p>
          <a:p>
            <a:pPr marL="171450" indent="-171450">
              <a:buFontTx/>
              <a:buChar char="-"/>
            </a:pPr>
            <a:r>
              <a:rPr lang="de-DE" dirty="0" err="1"/>
              <a:t>How</a:t>
            </a:r>
            <a:r>
              <a:rPr lang="de-DE" dirty="0"/>
              <a:t> </a:t>
            </a:r>
            <a:r>
              <a:rPr lang="de-DE" dirty="0" err="1"/>
              <a:t>many</a:t>
            </a:r>
            <a:r>
              <a:rPr lang="de-DE" dirty="0"/>
              <a:t> </a:t>
            </a:r>
            <a:r>
              <a:rPr lang="de-DE" dirty="0" err="1"/>
              <a:t>heads</a:t>
            </a:r>
            <a:r>
              <a:rPr lang="de-DE" dirty="0"/>
              <a:t> </a:t>
            </a:r>
            <a:r>
              <a:rPr lang="de-DE" dirty="0" err="1"/>
              <a:t>are</a:t>
            </a:r>
            <a:r>
              <a:rPr lang="de-DE" dirty="0"/>
              <a:t> </a:t>
            </a:r>
            <a:r>
              <a:rPr lang="de-DE" dirty="0" err="1"/>
              <a:t>used</a:t>
            </a:r>
            <a:endParaRPr lang="de-DE" dirty="0"/>
          </a:p>
          <a:p>
            <a:pPr marL="171450" indent="-171450">
              <a:buFontTx/>
              <a:buChar char="-"/>
            </a:pPr>
            <a:r>
              <a:rPr lang="en-US" dirty="0"/>
              <a:t>S: the number of features</a:t>
            </a:r>
          </a:p>
          <a:p>
            <a:pPr marL="171450" indent="-171450">
              <a:buFontTx/>
              <a:buChar char="-"/>
            </a:pPr>
            <a:r>
              <a:rPr lang="en-US" dirty="0"/>
              <a:t>dv: the dimensionality of each feature</a:t>
            </a:r>
          </a:p>
          <a:p>
            <a:pPr marL="171450" indent="-171450">
              <a:buFontTx/>
              <a:buChar char="-"/>
            </a:pPr>
            <a:r>
              <a:rPr lang="en-US" dirty="0" err="1"/>
              <a:t>θv</a:t>
            </a:r>
            <a:r>
              <a:rPr lang="en-US" dirty="0"/>
              <a:t>: the parameters of the Swin Transformer</a:t>
            </a:r>
            <a:endParaRPr lang="de-DE" dirty="0"/>
          </a:p>
          <a:p>
            <a:endParaRPr lang="de-DE" dirty="0"/>
          </a:p>
        </p:txBody>
      </p:sp>
    </p:spTree>
    <p:extLst>
      <p:ext uri="{BB962C8B-B14F-4D97-AF65-F5344CB8AC3E}">
        <p14:creationId xmlns:p14="http://schemas.microsoft.com/office/powerpoint/2010/main" val="4064045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5E03-8A79-874A-5F16-0D6973A179E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2048BA0-0CCD-34A9-DAA9-D830F68AA06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46B9DA2-CF97-EF2C-424B-440DA7AEB854}"/>
              </a:ext>
            </a:extLst>
          </p:cNvPr>
          <p:cNvSpPr>
            <a:spLocks noGrp="1"/>
          </p:cNvSpPr>
          <p:nvPr>
            <p:ph type="body" idx="1"/>
          </p:nvPr>
        </p:nvSpPr>
        <p:spPr/>
        <p:txBody>
          <a:bodyPr/>
          <a:lstStyle/>
          <a:p>
            <a:r>
              <a:rPr lang="de-DE" dirty="0" err="1"/>
              <a:t>Embeddings</a:t>
            </a:r>
            <a:r>
              <a:rPr lang="de-DE" dirty="0"/>
              <a:t>:</a:t>
            </a:r>
          </a:p>
          <a:p>
            <a:pPr marL="171450" indent="-171450">
              <a:buFontTx/>
              <a:buChar char="-"/>
            </a:pPr>
            <a:r>
              <a:rPr lang="de-DE" dirty="0" err="1"/>
              <a:t>image</a:t>
            </a:r>
            <a:r>
              <a:rPr lang="de-DE" dirty="0"/>
              <a:t>: </a:t>
            </a:r>
            <a:r>
              <a:rPr lang="de-DE" dirty="0" err="1"/>
              <a:t>SigLIP</a:t>
            </a:r>
            <a:endParaRPr lang="de-DE" dirty="0"/>
          </a:p>
          <a:p>
            <a:pPr marL="171450" indent="-171450">
              <a:buFontTx/>
              <a:buChar char="-"/>
            </a:pPr>
            <a:endParaRPr lang="de-DE" dirty="0"/>
          </a:p>
          <a:p>
            <a:pPr marL="171450" indent="-171450">
              <a:buFontTx/>
              <a:buChar char="-"/>
            </a:pPr>
            <a:endParaRPr lang="en-US" dirty="0"/>
          </a:p>
          <a:p>
            <a:pPr marL="0" indent="0">
              <a:buFontTx/>
              <a:buNone/>
            </a:pPr>
            <a:r>
              <a:rPr lang="en-US" dirty="0"/>
              <a:t>Knowledge Graph:</a:t>
            </a:r>
          </a:p>
          <a:p>
            <a:pPr marL="0" indent="0">
              <a:buFontTx/>
              <a:buNone/>
            </a:pPr>
            <a:r>
              <a:rPr lang="en-US" dirty="0"/>
              <a:t>- None</a:t>
            </a:r>
          </a:p>
          <a:p>
            <a:endParaRPr lang="de-DE" dirty="0"/>
          </a:p>
          <a:p>
            <a:r>
              <a:rPr lang="de-DE" dirty="0"/>
              <a:t>Base Models:</a:t>
            </a:r>
          </a:p>
          <a:p>
            <a:pPr marL="171450" indent="-171450">
              <a:buFontTx/>
              <a:buChar char="-"/>
            </a:pPr>
            <a:r>
              <a:rPr lang="de-DE" dirty="0"/>
              <a:t>BLIP-3: </a:t>
            </a:r>
            <a:r>
              <a:rPr lang="de-DE" dirty="0" err="1"/>
              <a:t>SigLIP</a:t>
            </a:r>
            <a:r>
              <a:rPr lang="de-DE" dirty="0"/>
              <a:t> </a:t>
            </a:r>
            <a:r>
              <a:rPr lang="de-DE" dirty="0" err="1"/>
              <a:t>as</a:t>
            </a:r>
            <a:r>
              <a:rPr lang="de-DE" dirty="0"/>
              <a:t> </a:t>
            </a:r>
            <a:r>
              <a:rPr lang="de-DE" dirty="0" err="1"/>
              <a:t>vision</a:t>
            </a:r>
            <a:r>
              <a:rPr lang="de-DE" dirty="0"/>
              <a:t> </a:t>
            </a:r>
            <a:r>
              <a:rPr lang="de-DE" dirty="0" err="1"/>
              <a:t>encoder</a:t>
            </a:r>
            <a:r>
              <a:rPr lang="de-DE" dirty="0"/>
              <a:t>, </a:t>
            </a:r>
            <a:r>
              <a:rPr lang="de-DE" dirty="0" err="1"/>
              <a:t>Perceiver</a:t>
            </a:r>
            <a:r>
              <a:rPr lang="de-DE" dirty="0"/>
              <a:t> </a:t>
            </a:r>
            <a:r>
              <a:rPr lang="de-DE" dirty="0" err="1"/>
              <a:t>Resampler</a:t>
            </a:r>
            <a:r>
              <a:rPr lang="de-DE" dirty="0"/>
              <a:t> (</a:t>
            </a:r>
            <a:r>
              <a:rPr lang="de-DE" dirty="0" err="1"/>
              <a:t>to</a:t>
            </a:r>
            <a:r>
              <a:rPr lang="de-DE" dirty="0"/>
              <a:t> sample </a:t>
            </a:r>
            <a:r>
              <a:rPr lang="de-DE" dirty="0" err="1"/>
              <a:t>vision</a:t>
            </a:r>
            <a:r>
              <a:rPr lang="de-DE" dirty="0"/>
              <a:t> </a:t>
            </a:r>
            <a:r>
              <a:rPr lang="de-DE" dirty="0" err="1"/>
              <a:t>tokens</a:t>
            </a:r>
            <a:r>
              <a:rPr lang="de-DE" dirty="0"/>
              <a:t>) and Phi-3-mini </a:t>
            </a:r>
            <a:r>
              <a:rPr lang="de-DE" dirty="0" err="1"/>
              <a:t>language</a:t>
            </a:r>
            <a:r>
              <a:rPr lang="de-DE" dirty="0"/>
              <a:t> </a:t>
            </a:r>
            <a:r>
              <a:rPr lang="de-DE" dirty="0" err="1"/>
              <a:t>model</a:t>
            </a:r>
            <a:endParaRPr lang="de-DE" dirty="0"/>
          </a:p>
          <a:p>
            <a:pPr marL="171450" indent="-171450">
              <a:buFontTx/>
              <a:buChar char="-"/>
            </a:pPr>
            <a:r>
              <a:rPr lang="de-DE" dirty="0"/>
              <a:t>Expert </a:t>
            </a:r>
            <a:r>
              <a:rPr lang="de-DE" dirty="0" err="1"/>
              <a:t>model</a:t>
            </a:r>
            <a:r>
              <a:rPr lang="de-DE" dirty="0"/>
              <a:t> </a:t>
            </a:r>
            <a:r>
              <a:rPr lang="de-DE" dirty="0" err="1"/>
              <a:t>consists</a:t>
            </a:r>
            <a:r>
              <a:rPr lang="de-DE" dirty="0"/>
              <a:t> </a:t>
            </a:r>
            <a:r>
              <a:rPr lang="de-DE" dirty="0" err="1"/>
              <a:t>of</a:t>
            </a:r>
            <a:r>
              <a:rPr lang="de-DE" dirty="0"/>
              <a:t> a </a:t>
            </a:r>
            <a:r>
              <a:rPr lang="de-DE" dirty="0" err="1"/>
              <a:t>Swin</a:t>
            </a:r>
            <a:r>
              <a:rPr lang="de-DE" dirty="0"/>
              <a:t> Transformer V2 and a </a:t>
            </a:r>
            <a:r>
              <a:rPr lang="de-DE" dirty="0" err="1"/>
              <a:t>BioClinicalBERT</a:t>
            </a:r>
            <a:endParaRPr lang="de-DE" dirty="0"/>
          </a:p>
          <a:p>
            <a:pPr marL="171450" indent="-171450">
              <a:buFontTx/>
              <a:buChar char="-"/>
            </a:pPr>
            <a:endParaRPr lang="de-DE" dirty="0"/>
          </a:p>
          <a:p>
            <a:r>
              <a:rPr lang="de-DE" dirty="0" err="1"/>
              <a:t>Dimensions</a:t>
            </a:r>
            <a:r>
              <a:rPr lang="de-DE" dirty="0"/>
              <a:t>:</a:t>
            </a:r>
          </a:p>
          <a:p>
            <a:pPr marL="171450" indent="-171450">
              <a:buFontTx/>
              <a:buChar char="-"/>
            </a:pPr>
            <a:r>
              <a:rPr lang="de-DE" dirty="0"/>
              <a:t>Top-2 </a:t>
            </a:r>
            <a:r>
              <a:rPr lang="de-DE" dirty="0" err="1"/>
              <a:t>reports</a:t>
            </a:r>
            <a:r>
              <a:rPr lang="de-DE" dirty="0"/>
              <a:t> </a:t>
            </a:r>
            <a:r>
              <a:rPr lang="de-DE" dirty="0" err="1"/>
              <a:t>are</a:t>
            </a:r>
            <a:r>
              <a:rPr lang="de-DE" dirty="0"/>
              <a:t> </a:t>
            </a:r>
            <a:r>
              <a:rPr lang="de-DE" dirty="0" err="1"/>
              <a:t>used</a:t>
            </a:r>
            <a:r>
              <a:rPr lang="de-DE" dirty="0"/>
              <a:t> </a:t>
            </a:r>
            <a:r>
              <a:rPr lang="de-DE" dirty="0" err="1"/>
              <a:t>as</a:t>
            </a:r>
            <a:r>
              <a:rPr lang="de-DE" dirty="0"/>
              <a:t> </a:t>
            </a:r>
            <a:r>
              <a:rPr lang="de-DE" dirty="0" err="1"/>
              <a:t>knowledge</a:t>
            </a:r>
            <a:endParaRPr lang="de-DE" dirty="0"/>
          </a:p>
          <a:p>
            <a:pPr marL="171450" indent="-171450">
              <a:buFontTx/>
              <a:buChar char="-"/>
            </a:pPr>
            <a:r>
              <a:rPr lang="de-DE" dirty="0"/>
              <a:t>Base </a:t>
            </a:r>
            <a:r>
              <a:rPr lang="de-DE" dirty="0" err="1"/>
              <a:t>resolution</a:t>
            </a:r>
            <a:r>
              <a:rPr lang="de-DE" dirty="0"/>
              <a:t>: 384 x 384</a:t>
            </a:r>
          </a:p>
          <a:p>
            <a:pPr marL="171450" indent="-171450">
              <a:buFontTx/>
              <a:buChar char="-"/>
            </a:pPr>
            <a:r>
              <a:rPr lang="de-DE" dirty="0"/>
              <a:t>128 </a:t>
            </a:r>
            <a:r>
              <a:rPr lang="de-DE" dirty="0" err="1"/>
              <a:t>learned</a:t>
            </a:r>
            <a:r>
              <a:rPr lang="de-DE" dirty="0"/>
              <a:t> </a:t>
            </a:r>
            <a:r>
              <a:rPr lang="de-DE" dirty="0" err="1"/>
              <a:t>query</a:t>
            </a:r>
            <a:r>
              <a:rPr lang="de-DE" dirty="0"/>
              <a:t> </a:t>
            </a:r>
            <a:r>
              <a:rPr lang="de-DE" dirty="0" err="1"/>
              <a:t>tokens</a:t>
            </a:r>
            <a:endParaRPr lang="de-DE" dirty="0"/>
          </a:p>
          <a:p>
            <a:endParaRPr lang="de-DE" dirty="0"/>
          </a:p>
          <a:p>
            <a:pPr marL="0" indent="0">
              <a:buFontTx/>
              <a:buNone/>
            </a:pPr>
            <a:r>
              <a:rPr lang="de-DE" dirty="0"/>
              <a:t>Further </a:t>
            </a:r>
            <a:r>
              <a:rPr lang="de-DE" dirty="0" err="1"/>
              <a:t>notes</a:t>
            </a:r>
            <a:r>
              <a:rPr lang="de-DE" dirty="0"/>
              <a:t>:</a:t>
            </a:r>
          </a:p>
          <a:p>
            <a:pPr marL="171450" indent="-171450">
              <a:buFontTx/>
              <a:buChar char="-"/>
            </a:pPr>
            <a:r>
              <a:rPr lang="de-DE" dirty="0" err="1"/>
              <a:t>Similarity</a:t>
            </a:r>
            <a:r>
              <a:rPr lang="de-DE" dirty="0"/>
              <a:t> </a:t>
            </a:r>
            <a:r>
              <a:rPr lang="de-DE" dirty="0" err="1"/>
              <a:t>of</a:t>
            </a:r>
            <a:r>
              <a:rPr lang="de-DE" dirty="0"/>
              <a:t> </a:t>
            </a:r>
            <a:r>
              <a:rPr lang="de-DE" dirty="0" err="1"/>
              <a:t>images</a:t>
            </a:r>
            <a:r>
              <a:rPr lang="de-DE" dirty="0"/>
              <a:t> </a:t>
            </a:r>
            <a:r>
              <a:rPr lang="de-DE" dirty="0" err="1"/>
              <a:t>is</a:t>
            </a:r>
            <a:r>
              <a:rPr lang="de-DE" dirty="0"/>
              <a:t> </a:t>
            </a:r>
            <a:r>
              <a:rPr lang="de-DE" dirty="0" err="1"/>
              <a:t>calculated</a:t>
            </a:r>
            <a:r>
              <a:rPr lang="de-DE" dirty="0"/>
              <a:t> </a:t>
            </a:r>
            <a:r>
              <a:rPr lang="en-US" dirty="0"/>
              <a:t>using the expert model output probability vector and KL‐divergence between normalized vectors to find closest reports</a:t>
            </a:r>
            <a:endParaRPr lang="de-DE" dirty="0"/>
          </a:p>
          <a:p>
            <a:pPr marL="171450" indent="-171450">
              <a:buFontTx/>
              <a:buChar char="-"/>
            </a:pPr>
            <a:r>
              <a:rPr lang="de-DE" dirty="0"/>
              <a:t>Semi-</a:t>
            </a:r>
            <a:r>
              <a:rPr lang="de-DE" dirty="0" err="1"/>
              <a:t>structured</a:t>
            </a:r>
            <a:r>
              <a:rPr lang="de-DE" dirty="0"/>
              <a:t> </a:t>
            </a:r>
            <a:r>
              <a:rPr lang="de-DE" dirty="0" err="1"/>
              <a:t>knowledge</a:t>
            </a:r>
            <a:r>
              <a:rPr lang="de-DE" dirty="0"/>
              <a:t>: </a:t>
            </a:r>
            <a:r>
              <a:rPr lang="de-DE" dirty="0" err="1"/>
              <a:t>each</a:t>
            </a:r>
            <a:r>
              <a:rPr lang="de-DE" dirty="0"/>
              <a:t> </a:t>
            </a:r>
            <a:r>
              <a:rPr lang="de-DE" dirty="0" err="1"/>
              <a:t>sentence</a:t>
            </a:r>
            <a:r>
              <a:rPr lang="de-DE" dirty="0"/>
              <a:t> </a:t>
            </a:r>
            <a:r>
              <a:rPr lang="de-DE" dirty="0" err="1"/>
              <a:t>is</a:t>
            </a:r>
            <a:r>
              <a:rPr lang="de-DE" dirty="0"/>
              <a:t> </a:t>
            </a:r>
            <a:r>
              <a:rPr lang="de-DE" dirty="0" err="1"/>
              <a:t>annotated</a:t>
            </a:r>
            <a:r>
              <a:rPr lang="de-DE" dirty="0"/>
              <a:t> </a:t>
            </a:r>
            <a:r>
              <a:rPr lang="de-DE" dirty="0" err="1"/>
              <a:t>using</a:t>
            </a:r>
            <a:r>
              <a:rPr lang="de-DE" dirty="0"/>
              <a:t> 14 </a:t>
            </a:r>
            <a:r>
              <a:rPr lang="de-DE" dirty="0" err="1"/>
              <a:t>CheXpert</a:t>
            </a:r>
            <a:r>
              <a:rPr lang="de-DE" dirty="0"/>
              <a:t> </a:t>
            </a:r>
            <a:r>
              <a:rPr lang="de-DE" dirty="0" err="1"/>
              <a:t>labels</a:t>
            </a:r>
            <a:r>
              <a:rPr lang="de-DE" dirty="0"/>
              <a:t>, </a:t>
            </a:r>
            <a:r>
              <a:rPr lang="de-DE" dirty="0" err="1"/>
              <a:t>keep</a:t>
            </a:r>
            <a:r>
              <a:rPr lang="de-DE" dirty="0"/>
              <a:t> </a:t>
            </a:r>
            <a:r>
              <a:rPr lang="de-DE" dirty="0" err="1"/>
              <a:t>only</a:t>
            </a:r>
            <a:r>
              <a:rPr lang="de-DE" dirty="0"/>
              <a:t> positive </a:t>
            </a:r>
            <a:r>
              <a:rPr lang="de-DE" dirty="0" err="1"/>
              <a:t>observations</a:t>
            </a:r>
            <a:endParaRPr lang="de-DE" dirty="0"/>
          </a:p>
          <a:p>
            <a:pPr marL="171450" indent="-171450">
              <a:buFontTx/>
              <a:buChar char="-"/>
            </a:pPr>
            <a:r>
              <a:rPr lang="de-DE" dirty="0"/>
              <a:t>Expert </a:t>
            </a:r>
            <a:r>
              <a:rPr lang="de-DE" dirty="0" err="1"/>
              <a:t>model</a:t>
            </a:r>
            <a:r>
              <a:rPr lang="de-DE" dirty="0"/>
              <a:t> </a:t>
            </a:r>
            <a:r>
              <a:rPr lang="de-DE" dirty="0" err="1"/>
              <a:t>is</a:t>
            </a:r>
            <a:r>
              <a:rPr lang="de-DE" dirty="0"/>
              <a:t> </a:t>
            </a:r>
            <a:r>
              <a:rPr lang="de-DE" dirty="0" err="1"/>
              <a:t>trained</a:t>
            </a:r>
            <a:r>
              <a:rPr lang="de-DE" dirty="0"/>
              <a:t> </a:t>
            </a:r>
            <a:r>
              <a:rPr lang="de-DE" dirty="0" err="1"/>
              <a:t>using</a:t>
            </a:r>
            <a:r>
              <a:rPr lang="de-DE" dirty="0"/>
              <a:t> </a:t>
            </a:r>
            <a:r>
              <a:rPr lang="de-DE" dirty="0" err="1"/>
              <a:t>binary</a:t>
            </a:r>
            <a:r>
              <a:rPr lang="de-DE" dirty="0"/>
              <a:t> </a:t>
            </a:r>
            <a:r>
              <a:rPr lang="de-DE" dirty="0" err="1"/>
              <a:t>cross-entropy</a:t>
            </a:r>
            <a:r>
              <a:rPr lang="de-DE" dirty="0"/>
              <a:t> </a:t>
            </a:r>
            <a:r>
              <a:rPr lang="de-DE" dirty="0" err="1"/>
              <a:t>loss</a:t>
            </a:r>
            <a:r>
              <a:rPr lang="de-DE" dirty="0"/>
              <a:t> (</a:t>
            </a:r>
            <a:r>
              <a:rPr lang="de-DE" dirty="0" err="1"/>
              <a:t>trained</a:t>
            </a:r>
            <a:r>
              <a:rPr lang="de-DE" dirty="0"/>
              <a:t> on </a:t>
            </a:r>
            <a:r>
              <a:rPr lang="de-DE" dirty="0" err="1"/>
              <a:t>images</a:t>
            </a:r>
            <a:r>
              <a:rPr lang="de-DE" dirty="0"/>
              <a:t> and </a:t>
            </a:r>
            <a:r>
              <a:rPr lang="de-DE" dirty="0" err="1"/>
              <a:t>observations</a:t>
            </a:r>
            <a:r>
              <a:rPr lang="de-DE" dirty="0"/>
              <a:t> </a:t>
            </a:r>
            <a:r>
              <a:rPr lang="de-DE" dirty="0" err="1"/>
              <a:t>from</a:t>
            </a:r>
            <a:r>
              <a:rPr lang="de-DE" dirty="0"/>
              <a:t> </a:t>
            </a:r>
            <a:r>
              <a:rPr lang="de-DE" dirty="0" err="1"/>
              <a:t>corresponding</a:t>
            </a:r>
            <a:r>
              <a:rPr lang="de-DE" dirty="0"/>
              <a:t> </a:t>
            </a:r>
            <a:r>
              <a:rPr lang="de-DE" dirty="0" err="1"/>
              <a:t>report</a:t>
            </a:r>
            <a:r>
              <a:rPr lang="de-DE"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de-DE" dirty="0"/>
              <a:t>Output </a:t>
            </a:r>
            <a:r>
              <a:rPr lang="de-DE" dirty="0" err="1"/>
              <a:t>of</a:t>
            </a:r>
            <a:r>
              <a:rPr lang="de-DE" dirty="0"/>
              <a:t> expert </a:t>
            </a:r>
            <a:r>
              <a:rPr lang="de-DE" dirty="0" err="1"/>
              <a:t>model</a:t>
            </a:r>
            <a:r>
              <a:rPr lang="de-DE" dirty="0"/>
              <a:t> </a:t>
            </a:r>
            <a:r>
              <a:rPr lang="de-DE" dirty="0" err="1"/>
              <a:t>is</a:t>
            </a:r>
            <a:r>
              <a:rPr lang="de-DE" dirty="0"/>
              <a:t> a </a:t>
            </a:r>
            <a:r>
              <a:rPr lang="de-DE" dirty="0" err="1"/>
              <a:t>probability</a:t>
            </a:r>
            <a:r>
              <a:rPr lang="de-DE" dirty="0"/>
              <a:t> </a:t>
            </a:r>
            <a:r>
              <a:rPr lang="de-DE" dirty="0" err="1"/>
              <a:t>distribution</a:t>
            </a:r>
            <a:r>
              <a:rPr lang="de-DE" dirty="0"/>
              <a:t> </a:t>
            </a:r>
            <a:r>
              <a:rPr lang="de-DE" dirty="0" err="1"/>
              <a:t>over</a:t>
            </a:r>
            <a:r>
              <a:rPr lang="de-DE" dirty="0"/>
              <a:t> all 14 </a:t>
            </a:r>
            <a:r>
              <a:rPr lang="de-DE" dirty="0" err="1"/>
              <a:t>observations</a:t>
            </a:r>
            <a:r>
              <a:rPr lang="de-DE" dirty="0"/>
              <a:t>. </a:t>
            </a:r>
            <a:r>
              <a:rPr lang="de-DE" dirty="0" err="1"/>
              <a:t>To</a:t>
            </a:r>
            <a:r>
              <a:rPr lang="de-DE" dirty="0"/>
              <a:t> </a:t>
            </a:r>
            <a:r>
              <a:rPr lang="de-DE" dirty="0" err="1"/>
              <a:t>compare</a:t>
            </a:r>
            <a:r>
              <a:rPr lang="de-DE" dirty="0"/>
              <a:t> </a:t>
            </a:r>
            <a:r>
              <a:rPr lang="de-DE" dirty="0" err="1"/>
              <a:t>these</a:t>
            </a:r>
            <a:r>
              <a:rPr lang="de-DE" dirty="0"/>
              <a:t> </a:t>
            </a:r>
            <a:r>
              <a:rPr lang="de-DE" dirty="0" err="1"/>
              <a:t>distributions</a:t>
            </a:r>
            <a:r>
              <a:rPr lang="de-DE" dirty="0"/>
              <a:t>, a KL-</a:t>
            </a:r>
            <a:r>
              <a:rPr lang="de-DE" dirty="0" err="1"/>
              <a:t>divergence</a:t>
            </a:r>
            <a:r>
              <a:rPr lang="de-DE" dirty="0"/>
              <a:t> </a:t>
            </a:r>
            <a:r>
              <a:rPr lang="de-DE" dirty="0" err="1"/>
              <a:t>is</a:t>
            </a:r>
            <a:r>
              <a:rPr lang="de-DE" dirty="0"/>
              <a:t> </a:t>
            </a:r>
            <a:r>
              <a:rPr lang="de-DE" dirty="0" err="1"/>
              <a:t>needed</a:t>
            </a:r>
            <a:r>
              <a:rPr lang="de-DE" dirty="0"/>
              <a:t> (</a:t>
            </a:r>
            <a:r>
              <a:rPr lang="de-DE" dirty="0" err="1"/>
              <a:t>this</a:t>
            </a:r>
            <a:r>
              <a:rPr lang="de-DE" dirty="0"/>
              <a:t> </a:t>
            </a:r>
            <a:r>
              <a:rPr lang="en-US" dirty="0"/>
              <a:t>ensures that retrieved reports share a similar </a:t>
            </a:r>
            <a:r>
              <a:rPr lang="en-US" i="1" dirty="0"/>
              <a:t>probabilistic</a:t>
            </a:r>
            <a:r>
              <a:rPr lang="en-US" dirty="0"/>
              <a:t> observation profile with the query image)</a:t>
            </a:r>
            <a:r>
              <a:rPr lang="de-DE" dirty="0"/>
              <a:t>.</a:t>
            </a:r>
          </a:p>
          <a:p>
            <a:pPr marL="171450" indent="-171450">
              <a:buFontTx/>
              <a:buChar char="-"/>
            </a:pPr>
            <a:r>
              <a:rPr lang="de-DE" dirty="0"/>
              <a:t>„All </a:t>
            </a:r>
            <a:r>
              <a:rPr lang="de-DE" dirty="0" err="1"/>
              <a:t>sentences</a:t>
            </a:r>
            <a:r>
              <a:rPr lang="de-DE" dirty="0"/>
              <a:t> </a:t>
            </a:r>
            <a:r>
              <a:rPr lang="de-DE" dirty="0" err="1"/>
              <a:t>corresponding</a:t>
            </a:r>
            <a:r>
              <a:rPr lang="de-DE" dirty="0"/>
              <a:t> </a:t>
            </a:r>
            <a:r>
              <a:rPr lang="de-DE" dirty="0" err="1"/>
              <a:t>to</a:t>
            </a:r>
            <a:r>
              <a:rPr lang="de-DE" dirty="0"/>
              <a:t> negative </a:t>
            </a:r>
            <a:r>
              <a:rPr lang="de-DE" dirty="0" err="1"/>
              <a:t>observations</a:t>
            </a:r>
            <a:r>
              <a:rPr lang="de-DE" dirty="0"/>
              <a:t> </a:t>
            </a:r>
            <a:r>
              <a:rPr lang="de-DE" dirty="0" err="1"/>
              <a:t>are</a:t>
            </a:r>
            <a:r>
              <a:rPr lang="de-DE" dirty="0"/>
              <a:t> </a:t>
            </a:r>
            <a:r>
              <a:rPr lang="de-DE" dirty="0" err="1"/>
              <a:t>removed</a:t>
            </a:r>
            <a:r>
              <a:rPr lang="de-DE" dirty="0"/>
              <a:t> </a:t>
            </a:r>
            <a:r>
              <a:rPr lang="de-DE" dirty="0" err="1"/>
              <a:t>from</a:t>
            </a:r>
            <a:r>
              <a:rPr lang="de-DE" dirty="0"/>
              <a:t> </a:t>
            </a:r>
            <a:r>
              <a:rPr lang="de-DE" dirty="0" err="1"/>
              <a:t>O_delta</a:t>
            </a:r>
            <a:r>
              <a:rPr lang="de-DE" dirty="0"/>
              <a:t>“</a:t>
            </a:r>
          </a:p>
          <a:p>
            <a:pPr marL="0" indent="0">
              <a:buFontTx/>
              <a:buNone/>
            </a:pPr>
            <a:endParaRPr lang="de-DE" dirty="0"/>
          </a:p>
          <a:p>
            <a:r>
              <a:rPr lang="de-DE" dirty="0"/>
              <a:t>Not </a:t>
            </a:r>
            <a:r>
              <a:rPr lang="de-DE" dirty="0" err="1"/>
              <a:t>stated</a:t>
            </a:r>
            <a:r>
              <a:rPr lang="de-DE" dirty="0"/>
              <a:t>:</a:t>
            </a:r>
          </a:p>
          <a:p>
            <a:r>
              <a:rPr lang="de-DE" dirty="0"/>
              <a:t>- </a:t>
            </a:r>
            <a:r>
              <a:rPr lang="de-DE" dirty="0" err="1"/>
              <a:t>How</a:t>
            </a:r>
            <a:r>
              <a:rPr lang="de-DE" dirty="0"/>
              <a:t> PF and SF </a:t>
            </a:r>
            <a:r>
              <a:rPr lang="de-DE" dirty="0" err="1"/>
              <a:t>are</a:t>
            </a:r>
            <a:r>
              <a:rPr lang="de-DE" dirty="0"/>
              <a:t> </a:t>
            </a:r>
            <a:r>
              <a:rPr lang="de-DE" dirty="0" err="1"/>
              <a:t>integrated</a:t>
            </a:r>
            <a:r>
              <a:rPr lang="de-DE" dirty="0"/>
              <a:t> </a:t>
            </a:r>
            <a:r>
              <a:rPr lang="de-DE" dirty="0" err="1"/>
              <a:t>into</a:t>
            </a:r>
            <a:r>
              <a:rPr lang="de-DE" dirty="0"/>
              <a:t> </a:t>
            </a:r>
            <a:r>
              <a:rPr lang="de-DE" dirty="0" err="1"/>
              <a:t>clinical</a:t>
            </a:r>
            <a:r>
              <a:rPr lang="de-DE" dirty="0"/>
              <a:t> </a:t>
            </a:r>
            <a:r>
              <a:rPr lang="de-DE" dirty="0" err="1"/>
              <a:t>context</a:t>
            </a:r>
            <a:endParaRPr lang="de-DE" dirty="0"/>
          </a:p>
        </p:txBody>
      </p:sp>
    </p:spTree>
    <p:extLst>
      <p:ext uri="{BB962C8B-B14F-4D97-AF65-F5344CB8AC3E}">
        <p14:creationId xmlns:p14="http://schemas.microsoft.com/office/powerpoint/2010/main" val="3242571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753FA-64CA-5668-0058-23F0D1A96D5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4ABCFAB-ABC7-80A6-C543-6B3B4BF41AA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4317218-64D6-CC76-7E59-6F218AB44F63}"/>
              </a:ext>
            </a:extLst>
          </p:cNvPr>
          <p:cNvSpPr>
            <a:spLocks noGrp="1"/>
          </p:cNvSpPr>
          <p:nvPr>
            <p:ph type="body" idx="1"/>
          </p:nvPr>
        </p:nvSpPr>
        <p:spPr/>
        <p:txBody>
          <a:bodyPr/>
          <a:lstStyle/>
          <a:p>
            <a:r>
              <a:rPr lang="de-DE" dirty="0" err="1"/>
              <a:t>Embeddings</a:t>
            </a:r>
            <a:r>
              <a:rPr lang="de-DE" dirty="0"/>
              <a:t>:</a:t>
            </a:r>
          </a:p>
          <a:p>
            <a:pPr marL="171450" indent="-171450">
              <a:buFontTx/>
              <a:buChar char="-"/>
            </a:pPr>
            <a:r>
              <a:rPr lang="de-DE" dirty="0" err="1"/>
              <a:t>image</a:t>
            </a:r>
            <a:r>
              <a:rPr lang="de-DE" dirty="0"/>
              <a:t>: </a:t>
            </a:r>
            <a:r>
              <a:rPr lang="de-DE" dirty="0" err="1"/>
              <a:t>Swin</a:t>
            </a:r>
            <a:r>
              <a:rPr lang="de-DE" dirty="0"/>
              <a:t>-Transformer</a:t>
            </a:r>
          </a:p>
          <a:p>
            <a:pPr marL="171450" indent="-171450">
              <a:buFontTx/>
              <a:buChar char="-"/>
            </a:pPr>
            <a:r>
              <a:rPr lang="de-DE" dirty="0"/>
              <a:t>Text (</a:t>
            </a:r>
            <a:r>
              <a:rPr lang="de-DE" dirty="0" err="1"/>
              <a:t>node</a:t>
            </a:r>
            <a:r>
              <a:rPr lang="de-DE" dirty="0"/>
              <a:t> </a:t>
            </a:r>
            <a:r>
              <a:rPr lang="de-DE" dirty="0" err="1"/>
              <a:t>texts</a:t>
            </a:r>
            <a:r>
              <a:rPr lang="de-DE" dirty="0"/>
              <a:t>): </a:t>
            </a:r>
            <a:r>
              <a:rPr lang="de-DE" dirty="0" err="1"/>
              <a:t>Bio_ClinicalBERT</a:t>
            </a:r>
            <a:endParaRPr lang="de-DE" dirty="0"/>
          </a:p>
          <a:p>
            <a:pPr marL="171450" indent="-171450">
              <a:buFontTx/>
              <a:buChar char="-"/>
            </a:pPr>
            <a:endParaRPr lang="en-US" dirty="0"/>
          </a:p>
          <a:p>
            <a:pPr marL="0" indent="0">
              <a:buFontTx/>
              <a:buNone/>
            </a:pPr>
            <a:r>
              <a:rPr lang="en-US" dirty="0"/>
              <a:t>Knowledge Graph:</a:t>
            </a:r>
          </a:p>
          <a:p>
            <a:pPr marL="171450" indent="-171450">
              <a:buFontTx/>
              <a:buChar char="-"/>
            </a:pPr>
            <a:r>
              <a:rPr lang="de-DE" dirty="0" err="1"/>
              <a:t>Constructed</a:t>
            </a:r>
            <a:r>
              <a:rPr lang="de-DE" dirty="0"/>
              <a:t> </a:t>
            </a:r>
            <a:r>
              <a:rPr lang="de-DE" dirty="0" err="1"/>
              <a:t>based</a:t>
            </a:r>
            <a:r>
              <a:rPr lang="de-DE" dirty="0"/>
              <a:t> on </a:t>
            </a:r>
            <a:r>
              <a:rPr lang="de-DE" dirty="0" err="1"/>
              <a:t>ground</a:t>
            </a:r>
            <a:r>
              <a:rPr lang="de-DE" dirty="0"/>
              <a:t> </a:t>
            </a:r>
            <a:r>
              <a:rPr lang="de-DE" dirty="0" err="1"/>
              <a:t>truth</a:t>
            </a:r>
            <a:endParaRPr lang="de-DE" dirty="0"/>
          </a:p>
          <a:p>
            <a:pPr marL="171450" indent="-171450">
              <a:buFontTx/>
              <a:buChar char="-"/>
            </a:pPr>
            <a:r>
              <a:rPr lang="de-DE" dirty="0"/>
              <a:t>2477 </a:t>
            </a:r>
            <a:r>
              <a:rPr lang="de-DE" dirty="0" err="1"/>
              <a:t>entities</a:t>
            </a:r>
            <a:r>
              <a:rPr lang="de-DE" dirty="0"/>
              <a:t>, 3 </a:t>
            </a:r>
            <a:r>
              <a:rPr lang="de-DE" dirty="0" err="1"/>
              <a:t>kinds</a:t>
            </a:r>
            <a:r>
              <a:rPr lang="de-DE" dirty="0"/>
              <a:t> </a:t>
            </a:r>
            <a:r>
              <a:rPr lang="de-DE" dirty="0" err="1"/>
              <a:t>of</a:t>
            </a:r>
            <a:r>
              <a:rPr lang="de-DE" dirty="0"/>
              <a:t> </a:t>
            </a:r>
            <a:r>
              <a:rPr lang="de-DE" dirty="0" err="1"/>
              <a:t>relations</a:t>
            </a:r>
            <a:r>
              <a:rPr lang="de-DE" dirty="0"/>
              <a:t>, 37424 </a:t>
            </a:r>
            <a:r>
              <a:rPr lang="de-DE" dirty="0" err="1"/>
              <a:t>triplets</a:t>
            </a:r>
            <a:r>
              <a:rPr lang="de-DE" dirty="0"/>
              <a:t> and 6943 </a:t>
            </a:r>
            <a:r>
              <a:rPr lang="de-DE" dirty="0" err="1"/>
              <a:t>disease</a:t>
            </a:r>
            <a:r>
              <a:rPr lang="de-DE" dirty="0"/>
              <a:t>-aware </a:t>
            </a:r>
            <a:r>
              <a:rPr lang="de-DE" dirty="0" err="1"/>
              <a:t>vision</a:t>
            </a:r>
            <a:r>
              <a:rPr lang="de-DE" dirty="0"/>
              <a:t> </a:t>
            </a:r>
            <a:r>
              <a:rPr lang="de-DE" dirty="0" err="1"/>
              <a:t>tokens</a:t>
            </a:r>
            <a:r>
              <a:rPr lang="de-DE" dirty="0"/>
              <a:t> </a:t>
            </a:r>
            <a:r>
              <a:rPr lang="de-DE" dirty="0" err="1"/>
              <a:t>from</a:t>
            </a:r>
            <a:r>
              <a:rPr lang="de-DE" dirty="0"/>
              <a:t> </a:t>
            </a:r>
            <a:r>
              <a:rPr lang="de-DE" dirty="0" err="1"/>
              <a:t>CheXpert</a:t>
            </a:r>
            <a:r>
              <a:rPr lang="de-DE" dirty="0"/>
              <a:t> Plus </a:t>
            </a:r>
            <a:r>
              <a:rPr lang="de-DE" dirty="0" err="1"/>
              <a:t>dataset</a:t>
            </a:r>
            <a:endParaRPr lang="de-DE" dirty="0"/>
          </a:p>
          <a:p>
            <a:pPr marL="171450" indent="-171450">
              <a:buFontTx/>
              <a:buChar char="-"/>
            </a:pPr>
            <a:r>
              <a:rPr lang="de-DE" dirty="0"/>
              <a:t>Training </a:t>
            </a:r>
            <a:r>
              <a:rPr lang="de-DE" dirty="0" err="1"/>
              <a:t>data</a:t>
            </a:r>
            <a:r>
              <a:rPr lang="de-DE" dirty="0"/>
              <a:t>: A </a:t>
            </a:r>
            <a:r>
              <a:rPr lang="de-DE" dirty="0" err="1"/>
              <a:t>subset</a:t>
            </a:r>
            <a:r>
              <a:rPr lang="de-DE" dirty="0"/>
              <a:t> </a:t>
            </a:r>
            <a:r>
              <a:rPr lang="de-DE" dirty="0" err="1"/>
              <a:t>of</a:t>
            </a:r>
            <a:r>
              <a:rPr lang="de-DE" dirty="0"/>
              <a:t> </a:t>
            </a:r>
            <a:r>
              <a:rPr lang="de-DE" dirty="0" err="1"/>
              <a:t>radiology</a:t>
            </a:r>
            <a:r>
              <a:rPr lang="de-DE" dirty="0"/>
              <a:t> </a:t>
            </a:r>
            <a:r>
              <a:rPr lang="de-DE" dirty="0" err="1"/>
              <a:t>reports</a:t>
            </a:r>
            <a:r>
              <a:rPr lang="de-DE" dirty="0"/>
              <a:t> </a:t>
            </a:r>
            <a:r>
              <a:rPr lang="de-DE" dirty="0" err="1"/>
              <a:t>is</a:t>
            </a:r>
            <a:r>
              <a:rPr lang="de-DE" dirty="0"/>
              <a:t> </a:t>
            </a:r>
            <a:r>
              <a:rPr lang="de-DE" dirty="0" err="1"/>
              <a:t>annotated</a:t>
            </a:r>
            <a:r>
              <a:rPr lang="de-DE" dirty="0"/>
              <a:t> </a:t>
            </a:r>
            <a:r>
              <a:rPr lang="de-DE" dirty="0" err="1"/>
              <a:t>by</a:t>
            </a:r>
            <a:r>
              <a:rPr lang="de-DE" dirty="0"/>
              <a:t> a GPT-4o -&gt; </a:t>
            </a:r>
            <a:r>
              <a:rPr lang="de-DE" dirty="0" err="1"/>
              <a:t>six</a:t>
            </a:r>
            <a:r>
              <a:rPr lang="de-DE" dirty="0"/>
              <a:t> </a:t>
            </a:r>
            <a:r>
              <a:rPr lang="de-DE" dirty="0" err="1"/>
              <a:t>entity</a:t>
            </a:r>
            <a:r>
              <a:rPr lang="de-DE" dirty="0"/>
              <a:t> </a:t>
            </a:r>
            <a:r>
              <a:rPr lang="de-DE" dirty="0" err="1"/>
              <a:t>types</a:t>
            </a:r>
            <a:r>
              <a:rPr lang="de-DE" dirty="0"/>
              <a:t> and </a:t>
            </a:r>
            <a:r>
              <a:rPr lang="de-DE" dirty="0" err="1"/>
              <a:t>three</a:t>
            </a:r>
            <a:r>
              <a:rPr lang="de-DE" dirty="0"/>
              <a:t> </a:t>
            </a:r>
            <a:r>
              <a:rPr lang="de-DE" dirty="0" err="1"/>
              <a:t>relation</a:t>
            </a:r>
            <a:r>
              <a:rPr lang="de-DE" dirty="0"/>
              <a:t> </a:t>
            </a:r>
            <a:r>
              <a:rPr lang="de-DE" dirty="0" err="1"/>
              <a:t>types</a:t>
            </a:r>
            <a:r>
              <a:rPr lang="de-DE" dirty="0"/>
              <a:t> (</a:t>
            </a:r>
            <a:r>
              <a:rPr lang="de-DE" dirty="0" err="1"/>
              <a:t>analogue</a:t>
            </a:r>
            <a:r>
              <a:rPr lang="de-DE" dirty="0"/>
              <a:t> </a:t>
            </a:r>
            <a:r>
              <a:rPr lang="de-DE" dirty="0" err="1"/>
              <a:t>to</a:t>
            </a:r>
            <a:r>
              <a:rPr lang="de-DE" dirty="0"/>
              <a:t> </a:t>
            </a:r>
            <a:r>
              <a:rPr lang="de-DE" dirty="0" err="1"/>
              <a:t>ReXKG</a:t>
            </a:r>
            <a:r>
              <a:rPr lang="de-DE" dirty="0"/>
              <a:t>)</a:t>
            </a:r>
          </a:p>
          <a:p>
            <a:pPr marL="171450" indent="-171450">
              <a:buFontTx/>
              <a:buChar char="-"/>
            </a:pPr>
            <a:r>
              <a:rPr lang="de-DE" dirty="0"/>
              <a:t>This </a:t>
            </a:r>
            <a:r>
              <a:rPr lang="de-DE" dirty="0" err="1"/>
              <a:t>data</a:t>
            </a:r>
            <a:r>
              <a:rPr lang="de-DE" dirty="0"/>
              <a:t> </a:t>
            </a:r>
            <a:r>
              <a:rPr lang="de-DE" dirty="0" err="1"/>
              <a:t>is</a:t>
            </a:r>
            <a:r>
              <a:rPr lang="de-DE" dirty="0"/>
              <a:t> </a:t>
            </a:r>
            <a:r>
              <a:rPr lang="de-DE" dirty="0" err="1"/>
              <a:t>used</a:t>
            </a:r>
            <a:r>
              <a:rPr lang="de-DE" dirty="0"/>
              <a:t> </a:t>
            </a:r>
            <a:r>
              <a:rPr lang="de-DE" dirty="0" err="1"/>
              <a:t>to</a:t>
            </a:r>
            <a:r>
              <a:rPr lang="de-DE" dirty="0"/>
              <a:t> </a:t>
            </a:r>
            <a:r>
              <a:rPr lang="de-DE" dirty="0" err="1"/>
              <a:t>train</a:t>
            </a:r>
            <a:r>
              <a:rPr lang="de-DE" dirty="0"/>
              <a:t> </a:t>
            </a:r>
            <a:r>
              <a:rPr lang="de-DE" dirty="0" err="1"/>
              <a:t>two</a:t>
            </a:r>
            <a:r>
              <a:rPr lang="de-DE" dirty="0"/>
              <a:t> </a:t>
            </a:r>
            <a:r>
              <a:rPr lang="de-DE" dirty="0" err="1"/>
              <a:t>models</a:t>
            </a:r>
            <a:r>
              <a:rPr lang="de-DE" dirty="0"/>
              <a:t>: NER </a:t>
            </a:r>
            <a:r>
              <a:rPr lang="de-DE" dirty="0" err="1"/>
              <a:t>model</a:t>
            </a:r>
            <a:r>
              <a:rPr lang="de-DE" dirty="0"/>
              <a:t> and </a:t>
            </a:r>
            <a:r>
              <a:rPr lang="de-DE" dirty="0" err="1"/>
              <a:t>relation</a:t>
            </a:r>
            <a:r>
              <a:rPr lang="de-DE" dirty="0"/>
              <a:t> </a:t>
            </a:r>
            <a:r>
              <a:rPr lang="de-DE" dirty="0" err="1"/>
              <a:t>extraction</a:t>
            </a:r>
            <a:r>
              <a:rPr lang="de-DE" dirty="0"/>
              <a:t> </a:t>
            </a:r>
            <a:r>
              <a:rPr lang="de-DE" dirty="0" err="1"/>
              <a:t>model</a:t>
            </a:r>
            <a:r>
              <a:rPr lang="de-DE" dirty="0"/>
              <a:t> </a:t>
            </a:r>
            <a:r>
              <a:rPr lang="de-DE" dirty="0" err="1"/>
              <a:t>based</a:t>
            </a:r>
            <a:r>
              <a:rPr lang="de-DE" dirty="0"/>
              <a:t> on PURE (Princeton University Relation </a:t>
            </a:r>
            <a:r>
              <a:rPr lang="de-DE" dirty="0" err="1"/>
              <a:t>Extraction</a:t>
            </a:r>
            <a:r>
              <a:rPr lang="de-DE" dirty="0"/>
              <a:t> </a:t>
            </a:r>
            <a:r>
              <a:rPr lang="de-DE" dirty="0" err="1"/>
              <a:t>system</a:t>
            </a:r>
            <a:r>
              <a:rPr lang="de-DE" dirty="0"/>
              <a:t>) </a:t>
            </a:r>
            <a:r>
              <a:rPr lang="de-DE" dirty="0" err="1"/>
              <a:t>framework</a:t>
            </a:r>
            <a:endParaRPr lang="de-DE" dirty="0"/>
          </a:p>
          <a:p>
            <a:pPr marL="171450" indent="-171450">
              <a:buFontTx/>
              <a:buChar char="-"/>
            </a:pPr>
            <a:endParaRPr lang="de-DE" dirty="0"/>
          </a:p>
          <a:p>
            <a:r>
              <a:rPr lang="de-DE" dirty="0"/>
              <a:t>Base Models:</a:t>
            </a:r>
          </a:p>
          <a:p>
            <a:pPr marL="171450" indent="-171450">
              <a:buFontTx/>
              <a:buChar char="-"/>
            </a:pPr>
            <a:r>
              <a:rPr lang="de-DE" dirty="0"/>
              <a:t>Llama2-7B</a:t>
            </a:r>
          </a:p>
          <a:p>
            <a:pPr marL="171450" indent="-171450">
              <a:buFontTx/>
              <a:buChar char="-"/>
            </a:pPr>
            <a:endParaRPr lang="de-DE" dirty="0"/>
          </a:p>
          <a:p>
            <a:r>
              <a:rPr lang="de-DE" dirty="0" err="1"/>
              <a:t>Dimensions</a:t>
            </a:r>
            <a:r>
              <a:rPr lang="de-DE" dirty="0"/>
              <a:t>:</a:t>
            </a:r>
          </a:p>
          <a:p>
            <a:pPr marL="171450" indent="-171450">
              <a:buFontTx/>
              <a:buChar char="-"/>
            </a:pPr>
            <a:r>
              <a:rPr lang="de-DE" dirty="0"/>
              <a:t>300 </a:t>
            </a:r>
            <a:r>
              <a:rPr lang="de-DE" dirty="0" err="1"/>
              <a:t>node</a:t>
            </a:r>
            <a:r>
              <a:rPr lang="de-DE" dirty="0"/>
              <a:t> </a:t>
            </a:r>
            <a:r>
              <a:rPr lang="de-DE" dirty="0" err="1"/>
              <a:t>scales</a:t>
            </a:r>
            <a:r>
              <a:rPr lang="de-DE" dirty="0"/>
              <a:t> at final </a:t>
            </a:r>
            <a:r>
              <a:rPr lang="de-DE" dirty="0" err="1"/>
              <a:t>graph</a:t>
            </a:r>
            <a:r>
              <a:rPr lang="de-DE" dirty="0"/>
              <a:t> </a:t>
            </a:r>
            <a:r>
              <a:rPr lang="de-DE" dirty="0" err="1"/>
              <a:t>representation</a:t>
            </a:r>
            <a:endParaRPr lang="de-DE" dirty="0"/>
          </a:p>
          <a:p>
            <a:pPr marL="171450" indent="-171450">
              <a:buFontTx/>
              <a:buChar char="-"/>
            </a:pPr>
            <a:r>
              <a:rPr lang="de-DE" dirty="0"/>
              <a:t>Visual feature </a:t>
            </a:r>
            <a:r>
              <a:rPr lang="de-DE" dirty="0" err="1"/>
              <a:t>dimension</a:t>
            </a:r>
            <a:r>
              <a:rPr lang="de-DE" dirty="0"/>
              <a:t>: 1024</a:t>
            </a:r>
          </a:p>
          <a:p>
            <a:pPr marL="171450" indent="-171450">
              <a:buFontTx/>
              <a:buChar char="-"/>
            </a:pPr>
            <a:r>
              <a:rPr lang="de-DE" dirty="0"/>
              <a:t>LLM feature </a:t>
            </a:r>
            <a:r>
              <a:rPr lang="de-DE" dirty="0" err="1"/>
              <a:t>dimension</a:t>
            </a:r>
            <a:r>
              <a:rPr lang="de-DE" dirty="0"/>
              <a:t>: 4096</a:t>
            </a:r>
          </a:p>
          <a:p>
            <a:pPr marL="171450" indent="-171450">
              <a:buFontTx/>
              <a:buChar char="-"/>
            </a:pPr>
            <a:r>
              <a:rPr lang="de-DE" dirty="0" err="1"/>
              <a:t>Number</a:t>
            </a:r>
            <a:r>
              <a:rPr lang="de-DE" dirty="0"/>
              <a:t> </a:t>
            </a:r>
            <a:r>
              <a:rPr lang="de-DE" dirty="0" err="1"/>
              <a:t>of</a:t>
            </a:r>
            <a:r>
              <a:rPr lang="de-DE" dirty="0"/>
              <a:t> </a:t>
            </a:r>
            <a:r>
              <a:rPr lang="de-DE" dirty="0" err="1"/>
              <a:t>nodes</a:t>
            </a:r>
            <a:r>
              <a:rPr lang="de-DE" dirty="0"/>
              <a:t>: 319 (after multi-</a:t>
            </a:r>
            <a:r>
              <a:rPr lang="de-DE" dirty="0" err="1"/>
              <a:t>scale</a:t>
            </a:r>
            <a:r>
              <a:rPr lang="de-DE" dirty="0"/>
              <a:t> </a:t>
            </a:r>
            <a:r>
              <a:rPr lang="de-DE" dirty="0" err="1"/>
              <a:t>fusion</a:t>
            </a:r>
            <a:r>
              <a:rPr lang="de-DE" dirty="0"/>
              <a:t>)</a:t>
            </a:r>
          </a:p>
          <a:p>
            <a:endParaRPr lang="de-DE" dirty="0"/>
          </a:p>
          <a:p>
            <a:pPr marL="0" indent="0">
              <a:buFontTx/>
              <a:buNone/>
            </a:pPr>
            <a:r>
              <a:rPr lang="de-DE" dirty="0"/>
              <a:t>Further </a:t>
            </a:r>
            <a:r>
              <a:rPr lang="de-DE" dirty="0" err="1"/>
              <a:t>notes</a:t>
            </a:r>
            <a:r>
              <a:rPr lang="de-DE" dirty="0"/>
              <a:t>:</a:t>
            </a:r>
          </a:p>
          <a:p>
            <a:pPr marL="171450" indent="-171450">
              <a:buFontTx/>
              <a:buChar char="-"/>
            </a:pPr>
            <a:r>
              <a:rPr lang="de-DE" dirty="0"/>
              <a:t>Cross-</a:t>
            </a:r>
            <a:r>
              <a:rPr lang="de-DE" dirty="0" err="1"/>
              <a:t>entropy</a:t>
            </a:r>
            <a:r>
              <a:rPr lang="de-DE" dirty="0"/>
              <a:t> </a:t>
            </a:r>
            <a:r>
              <a:rPr lang="de-DE" dirty="0" err="1"/>
              <a:t>loss</a:t>
            </a:r>
            <a:r>
              <a:rPr lang="de-DE" dirty="0"/>
              <a:t> </a:t>
            </a:r>
            <a:r>
              <a:rPr lang="de-DE" dirty="0" err="1"/>
              <a:t>for</a:t>
            </a:r>
            <a:r>
              <a:rPr lang="de-DE" dirty="0"/>
              <a:t> </a:t>
            </a:r>
            <a:r>
              <a:rPr lang="de-DE" dirty="0" err="1"/>
              <a:t>report</a:t>
            </a:r>
            <a:r>
              <a:rPr lang="de-DE" dirty="0"/>
              <a:t> </a:t>
            </a:r>
            <a:r>
              <a:rPr lang="de-DE" dirty="0" err="1"/>
              <a:t>generation</a:t>
            </a:r>
            <a:endParaRPr lang="de-DE" dirty="0"/>
          </a:p>
          <a:p>
            <a:pPr marL="171450" indent="-171450">
              <a:buFontTx/>
              <a:buChar char="-"/>
            </a:pPr>
            <a:r>
              <a:rPr lang="de-DE" dirty="0"/>
              <a:t>GAT: </a:t>
            </a:r>
            <a:r>
              <a:rPr lang="de-DE" dirty="0" err="1"/>
              <a:t>graph</a:t>
            </a:r>
            <a:r>
              <a:rPr lang="de-DE" dirty="0"/>
              <a:t> </a:t>
            </a:r>
            <a:r>
              <a:rPr lang="de-DE" dirty="0" err="1"/>
              <a:t>attention</a:t>
            </a:r>
            <a:r>
              <a:rPr lang="de-DE" dirty="0"/>
              <a:t> network</a:t>
            </a:r>
          </a:p>
          <a:p>
            <a:pPr marL="171450" indent="-171450">
              <a:buFontTx/>
              <a:buChar char="-"/>
            </a:pPr>
            <a:r>
              <a:rPr lang="de-DE" dirty="0" err="1"/>
              <a:t>Ouput</a:t>
            </a:r>
            <a:r>
              <a:rPr lang="de-DE" dirty="0"/>
              <a:t> </a:t>
            </a:r>
            <a:r>
              <a:rPr lang="de-DE" dirty="0" err="1"/>
              <a:t>of</a:t>
            </a:r>
            <a:r>
              <a:rPr lang="de-DE" dirty="0"/>
              <a:t> Q-Former: Query </a:t>
            </a:r>
            <a:r>
              <a:rPr lang="de-DE" dirty="0" err="1"/>
              <a:t>features</a:t>
            </a:r>
            <a:r>
              <a:rPr lang="de-DE" dirty="0"/>
              <a:t> Q ∈ R C×D, </a:t>
            </a:r>
            <a:r>
              <a:rPr lang="de-DE" dirty="0" err="1"/>
              <a:t>where</a:t>
            </a:r>
            <a:r>
              <a:rPr lang="de-DE" dirty="0"/>
              <a:t> C = 14 </a:t>
            </a:r>
            <a:r>
              <a:rPr lang="de-DE" dirty="0" err="1"/>
              <a:t>represents</a:t>
            </a:r>
            <a:r>
              <a:rPr lang="de-DE" dirty="0"/>
              <a:t> 14 </a:t>
            </a:r>
            <a:r>
              <a:rPr lang="de-DE" dirty="0" err="1"/>
              <a:t>visual</a:t>
            </a:r>
            <a:r>
              <a:rPr lang="de-DE" dirty="0"/>
              <a:t> </a:t>
            </a:r>
            <a:r>
              <a:rPr lang="de-DE" dirty="0" err="1"/>
              <a:t>concepts</a:t>
            </a:r>
            <a:r>
              <a:rPr lang="de-DE" dirty="0"/>
              <a:t>, </a:t>
            </a:r>
            <a:r>
              <a:rPr lang="en-US" dirty="0"/>
              <a:t>each query learns a complementary sub-aspect of the image</a:t>
            </a:r>
            <a:endParaRPr lang="de-DE" dirty="0"/>
          </a:p>
          <a:p>
            <a:pPr marL="0" indent="0">
              <a:buFontTx/>
              <a:buNone/>
            </a:pPr>
            <a:endParaRPr lang="de-DE" dirty="0"/>
          </a:p>
          <a:p>
            <a:r>
              <a:rPr lang="de-DE" dirty="0"/>
              <a:t>Not </a:t>
            </a:r>
            <a:r>
              <a:rPr lang="de-DE" dirty="0" err="1"/>
              <a:t>stated</a:t>
            </a:r>
            <a:r>
              <a:rPr lang="de-DE" dirty="0"/>
              <a:t>:</a:t>
            </a:r>
          </a:p>
          <a:p>
            <a:pPr marL="171450" indent="-171450">
              <a:buFontTx/>
              <a:buChar char="-"/>
            </a:pPr>
            <a:r>
              <a:rPr lang="de-DE" dirty="0" err="1"/>
              <a:t>How</a:t>
            </a:r>
            <a:r>
              <a:rPr lang="de-DE" dirty="0"/>
              <a:t> </a:t>
            </a:r>
            <a:r>
              <a:rPr lang="de-DE" dirty="0" err="1"/>
              <a:t>the</a:t>
            </a:r>
            <a:r>
              <a:rPr lang="de-DE" dirty="0"/>
              <a:t> </a:t>
            </a:r>
            <a:r>
              <a:rPr lang="de-DE" dirty="0" err="1"/>
              <a:t>scales</a:t>
            </a:r>
            <a:r>
              <a:rPr lang="de-DE" dirty="0"/>
              <a:t> </a:t>
            </a:r>
            <a:r>
              <a:rPr lang="de-DE" dirty="0" err="1"/>
              <a:t>of</a:t>
            </a:r>
            <a:r>
              <a:rPr lang="de-DE" dirty="0"/>
              <a:t> </a:t>
            </a:r>
            <a:r>
              <a:rPr lang="de-DE" dirty="0" err="1"/>
              <a:t>the</a:t>
            </a:r>
            <a:r>
              <a:rPr lang="de-DE" dirty="0"/>
              <a:t> KG </a:t>
            </a:r>
            <a:r>
              <a:rPr lang="de-DE" dirty="0" err="1"/>
              <a:t>are</a:t>
            </a:r>
            <a:r>
              <a:rPr lang="de-DE" dirty="0"/>
              <a:t> </a:t>
            </a:r>
            <a:r>
              <a:rPr lang="de-DE" dirty="0" err="1"/>
              <a:t>sampled</a:t>
            </a:r>
            <a:endParaRPr lang="de-DE" dirty="0"/>
          </a:p>
          <a:p>
            <a:pPr marL="171450" indent="-171450">
              <a:buFontTx/>
              <a:buChar char="-"/>
            </a:pPr>
            <a:r>
              <a:rPr lang="de-DE" dirty="0" err="1"/>
              <a:t>Number</a:t>
            </a:r>
            <a:r>
              <a:rPr lang="de-DE" dirty="0"/>
              <a:t> </a:t>
            </a:r>
            <a:r>
              <a:rPr lang="de-DE" dirty="0" err="1"/>
              <a:t>of</a:t>
            </a:r>
            <a:r>
              <a:rPr lang="de-DE" dirty="0"/>
              <a:t> </a:t>
            </a:r>
            <a:r>
              <a:rPr lang="de-DE" dirty="0" err="1"/>
              <a:t>samples</a:t>
            </a:r>
            <a:r>
              <a:rPr lang="de-DE" dirty="0"/>
              <a:t> KG </a:t>
            </a:r>
            <a:r>
              <a:rPr lang="de-DE" dirty="0" err="1"/>
              <a:t>scales</a:t>
            </a:r>
            <a:endParaRPr lang="de-DE" dirty="0"/>
          </a:p>
          <a:p>
            <a:pPr marL="171450" indent="-171450">
              <a:buFontTx/>
              <a:buChar char="-"/>
            </a:pPr>
            <a:endParaRPr lang="de-DE" dirty="0"/>
          </a:p>
          <a:p>
            <a:endParaRPr lang="de-DE" dirty="0"/>
          </a:p>
        </p:txBody>
      </p:sp>
    </p:spTree>
    <p:extLst>
      <p:ext uri="{BB962C8B-B14F-4D97-AF65-F5344CB8AC3E}">
        <p14:creationId xmlns:p14="http://schemas.microsoft.com/office/powerpoint/2010/main" val="661045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F31B6-CCED-F885-86B9-AD61C370007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C779F10-A380-0C71-E671-918448B55E8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7BF552A-7AF6-A045-8CFA-80DE6CBDD52D}"/>
              </a:ext>
            </a:extLst>
          </p:cNvPr>
          <p:cNvSpPr>
            <a:spLocks noGrp="1"/>
          </p:cNvSpPr>
          <p:nvPr>
            <p:ph type="body" idx="1"/>
          </p:nvPr>
        </p:nvSpPr>
        <p:spPr/>
        <p:txBody>
          <a:bodyPr/>
          <a:lstStyle/>
          <a:p>
            <a:r>
              <a:rPr lang="de-DE" dirty="0" err="1"/>
              <a:t>Embeddings</a:t>
            </a:r>
            <a:r>
              <a:rPr lang="de-DE" dirty="0"/>
              <a:t>:</a:t>
            </a:r>
          </a:p>
          <a:p>
            <a:pPr marL="171450" indent="-171450">
              <a:buFontTx/>
              <a:buChar char="-"/>
            </a:pPr>
            <a:r>
              <a:rPr lang="de-DE" dirty="0" err="1"/>
              <a:t>image</a:t>
            </a:r>
            <a:r>
              <a:rPr lang="de-DE" dirty="0"/>
              <a:t>: </a:t>
            </a:r>
            <a:r>
              <a:rPr lang="de-DE" dirty="0" err="1"/>
              <a:t>Swin</a:t>
            </a:r>
            <a:r>
              <a:rPr lang="de-DE" dirty="0"/>
              <a:t> Transformer</a:t>
            </a:r>
          </a:p>
          <a:p>
            <a:pPr marL="171450" indent="-171450">
              <a:buFontTx/>
              <a:buChar char="-"/>
            </a:pPr>
            <a:endParaRPr lang="en-US" dirty="0"/>
          </a:p>
          <a:p>
            <a:pPr marL="0" indent="0">
              <a:buFontTx/>
              <a:buNone/>
            </a:pPr>
            <a:r>
              <a:rPr lang="en-US" dirty="0"/>
              <a:t>RL technique:</a:t>
            </a:r>
          </a:p>
          <a:p>
            <a:pPr marL="171450" indent="-171450">
              <a:buFontTx/>
              <a:buChar char="-"/>
            </a:pPr>
            <a:r>
              <a:rPr lang="en-US"/>
              <a:t>DPO</a:t>
            </a:r>
            <a:endParaRPr lang="en-US" dirty="0"/>
          </a:p>
          <a:p>
            <a:endParaRPr lang="de-DE" dirty="0"/>
          </a:p>
          <a:p>
            <a:r>
              <a:rPr lang="de-DE" dirty="0"/>
              <a:t>Base Models:</a:t>
            </a:r>
          </a:p>
          <a:p>
            <a:pPr marL="171450" indent="-171450">
              <a:buFontTx/>
              <a:buChar char="-"/>
            </a:pPr>
            <a:r>
              <a:rPr lang="de-DE" dirty="0" err="1"/>
              <a:t>Pretrained</a:t>
            </a:r>
            <a:r>
              <a:rPr lang="de-DE" dirty="0"/>
              <a:t> VLM on MIMIC-CXR</a:t>
            </a:r>
          </a:p>
          <a:p>
            <a:pPr marL="171450" indent="-171450">
              <a:buFontTx/>
              <a:buChar char="-"/>
            </a:pPr>
            <a:r>
              <a:rPr lang="de-DE" dirty="0"/>
              <a:t>LLM: Llama2-Chat-7b</a:t>
            </a:r>
          </a:p>
          <a:p>
            <a:pPr marL="171450" indent="-171450">
              <a:buFontTx/>
              <a:buChar char="-"/>
            </a:pPr>
            <a:endParaRPr lang="de-DE" dirty="0"/>
          </a:p>
          <a:p>
            <a:r>
              <a:rPr lang="de-DE" dirty="0" err="1"/>
              <a:t>Dimensions</a:t>
            </a:r>
            <a:r>
              <a:rPr lang="de-DE" dirty="0"/>
              <a:t>:</a:t>
            </a:r>
          </a:p>
          <a:p>
            <a:endParaRPr lang="de-DE" dirty="0"/>
          </a:p>
          <a:p>
            <a:pPr marL="0" indent="0">
              <a:buFontTx/>
              <a:buNone/>
            </a:pPr>
            <a:r>
              <a:rPr lang="de-DE" dirty="0"/>
              <a:t>Further </a:t>
            </a:r>
            <a:r>
              <a:rPr lang="de-DE" dirty="0" err="1"/>
              <a:t>notes</a:t>
            </a:r>
            <a:r>
              <a:rPr lang="de-DE" dirty="0"/>
              <a:t>:</a:t>
            </a:r>
          </a:p>
          <a:p>
            <a:pPr marL="0" indent="0">
              <a:buFontTx/>
              <a:buNone/>
            </a:pPr>
            <a:r>
              <a:rPr lang="de-DE" dirty="0"/>
              <a:t>- </a:t>
            </a:r>
            <a:r>
              <a:rPr lang="de-DE" dirty="0" err="1"/>
              <a:t>No</a:t>
            </a:r>
            <a:r>
              <a:rPr lang="de-DE" dirty="0"/>
              <a:t> human </a:t>
            </a:r>
            <a:r>
              <a:rPr lang="de-DE" dirty="0" err="1"/>
              <a:t>feedback</a:t>
            </a:r>
            <a:r>
              <a:rPr lang="de-DE" dirty="0"/>
              <a:t> </a:t>
            </a:r>
            <a:r>
              <a:rPr lang="de-DE" dirty="0" err="1"/>
              <a:t>is</a:t>
            </a:r>
            <a:r>
              <a:rPr lang="de-DE" dirty="0"/>
              <a:t> </a:t>
            </a:r>
            <a:r>
              <a:rPr lang="de-DE" dirty="0" err="1"/>
              <a:t>used</a:t>
            </a:r>
            <a:r>
              <a:rPr lang="de-DE" dirty="0"/>
              <a:t> in </a:t>
            </a:r>
            <a:r>
              <a:rPr lang="de-DE" dirty="0" err="1"/>
              <a:t>this</a:t>
            </a:r>
            <a:r>
              <a:rPr lang="de-DE" dirty="0"/>
              <a:t> </a:t>
            </a:r>
            <a:r>
              <a:rPr lang="de-DE" dirty="0" err="1"/>
              <a:t>method</a:t>
            </a:r>
            <a:r>
              <a:rPr lang="de-DE" dirty="0"/>
              <a:t>, </a:t>
            </a:r>
            <a:r>
              <a:rPr lang="de-DE" dirty="0" err="1"/>
              <a:t>the</a:t>
            </a:r>
            <a:r>
              <a:rPr lang="de-DE" dirty="0"/>
              <a:t> </a:t>
            </a:r>
            <a:r>
              <a:rPr lang="de-DE" dirty="0" err="1"/>
              <a:t>preference</a:t>
            </a:r>
            <a:r>
              <a:rPr lang="de-DE" dirty="0"/>
              <a:t> </a:t>
            </a:r>
            <a:r>
              <a:rPr lang="de-DE" dirty="0" err="1"/>
              <a:t>dataset</a:t>
            </a:r>
            <a:r>
              <a:rPr lang="de-DE" dirty="0"/>
              <a:t> </a:t>
            </a:r>
            <a:r>
              <a:rPr lang="de-DE" dirty="0" err="1"/>
              <a:t>is</a:t>
            </a:r>
            <a:r>
              <a:rPr lang="de-DE" dirty="0"/>
              <a:t> </a:t>
            </a:r>
            <a:r>
              <a:rPr lang="de-DE" dirty="0" err="1"/>
              <a:t>constructed</a:t>
            </a:r>
            <a:r>
              <a:rPr lang="de-DE" dirty="0"/>
              <a:t> </a:t>
            </a:r>
            <a:r>
              <a:rPr lang="de-DE" dirty="0" err="1"/>
              <a:t>using</a:t>
            </a:r>
            <a:r>
              <a:rPr lang="de-DE" dirty="0"/>
              <a:t> GPT-4 </a:t>
            </a:r>
            <a:r>
              <a:rPr lang="de-DE" dirty="0" err="1"/>
              <a:t>by</a:t>
            </a:r>
            <a:r>
              <a:rPr lang="de-DE" dirty="0"/>
              <a:t> </a:t>
            </a:r>
            <a:r>
              <a:rPr lang="de-DE" dirty="0" err="1"/>
              <a:t>removing</a:t>
            </a:r>
            <a:r>
              <a:rPr lang="de-DE" dirty="0"/>
              <a:t> </a:t>
            </a:r>
            <a:r>
              <a:rPr lang="de-DE" dirty="0" err="1"/>
              <a:t>or</a:t>
            </a:r>
            <a:r>
              <a:rPr lang="de-DE" dirty="0"/>
              <a:t> </a:t>
            </a:r>
            <a:r>
              <a:rPr lang="de-DE" dirty="0" err="1"/>
              <a:t>rewriting</a:t>
            </a:r>
            <a:r>
              <a:rPr lang="de-DE" dirty="0"/>
              <a:t> </a:t>
            </a:r>
            <a:r>
              <a:rPr lang="de-DE" dirty="0" err="1"/>
              <a:t>the</a:t>
            </a:r>
            <a:r>
              <a:rPr lang="de-DE" dirty="0"/>
              <a:t> </a:t>
            </a:r>
            <a:r>
              <a:rPr lang="de-DE" dirty="0" err="1"/>
              <a:t>lines</a:t>
            </a:r>
            <a:r>
              <a:rPr lang="de-DE" dirty="0"/>
              <a:t> </a:t>
            </a:r>
            <a:r>
              <a:rPr lang="de-DE" dirty="0" err="1"/>
              <a:t>that</a:t>
            </a:r>
            <a:r>
              <a:rPr lang="de-DE" dirty="0"/>
              <a:t> </a:t>
            </a:r>
            <a:r>
              <a:rPr lang="de-DE" dirty="0" err="1"/>
              <a:t>correspond</a:t>
            </a:r>
            <a:r>
              <a:rPr lang="de-DE" dirty="0"/>
              <a:t> </a:t>
            </a:r>
            <a:r>
              <a:rPr lang="de-DE" dirty="0" err="1"/>
              <a:t>to</a:t>
            </a:r>
            <a:r>
              <a:rPr lang="de-DE" dirty="0"/>
              <a:t> </a:t>
            </a:r>
            <a:r>
              <a:rPr lang="de-DE" dirty="0" err="1"/>
              <a:t>referenecs</a:t>
            </a:r>
            <a:endParaRPr lang="de-DE" dirty="0"/>
          </a:p>
          <a:p>
            <a:pPr marL="0" indent="0">
              <a:buFontTx/>
              <a:buNone/>
            </a:pPr>
            <a:endParaRPr lang="de-DE" dirty="0"/>
          </a:p>
          <a:p>
            <a:r>
              <a:rPr lang="de-DE" dirty="0"/>
              <a:t>Not </a:t>
            </a:r>
            <a:r>
              <a:rPr lang="de-DE" dirty="0" err="1"/>
              <a:t>stated</a:t>
            </a:r>
            <a:r>
              <a:rPr lang="de-DE" dirty="0"/>
              <a:t>:</a:t>
            </a:r>
          </a:p>
          <a:p>
            <a:pPr marL="171450" indent="-171450">
              <a:buFontTx/>
              <a:buChar char="-"/>
            </a:pPr>
            <a:r>
              <a:rPr lang="de-DE" dirty="0" err="1"/>
              <a:t>What</a:t>
            </a:r>
            <a:r>
              <a:rPr lang="de-DE" dirty="0"/>
              <a:t> </a:t>
            </a:r>
            <a:r>
              <a:rPr lang="de-DE" dirty="0" err="1"/>
              <a:t>the</a:t>
            </a:r>
            <a:r>
              <a:rPr lang="de-DE" dirty="0"/>
              <a:t> </a:t>
            </a:r>
            <a:r>
              <a:rPr lang="de-DE" dirty="0" err="1"/>
              <a:t>sft</a:t>
            </a:r>
            <a:r>
              <a:rPr lang="de-DE" dirty="0"/>
              <a:t> </a:t>
            </a:r>
            <a:r>
              <a:rPr lang="de-DE" dirty="0" err="1"/>
              <a:t>model</a:t>
            </a:r>
            <a:r>
              <a:rPr lang="de-DE" dirty="0"/>
              <a:t> </a:t>
            </a:r>
            <a:r>
              <a:rPr lang="de-DE" dirty="0" err="1"/>
              <a:t>is</a:t>
            </a:r>
            <a:r>
              <a:rPr lang="de-DE" dirty="0"/>
              <a:t> </a:t>
            </a:r>
            <a:r>
              <a:rPr lang="de-DE" dirty="0" err="1"/>
              <a:t>trained</a:t>
            </a:r>
            <a:r>
              <a:rPr lang="de-DE" dirty="0"/>
              <a:t> on</a:t>
            </a:r>
          </a:p>
          <a:p>
            <a:pPr marL="171450" indent="-171450">
              <a:buFontTx/>
              <a:buChar char="-"/>
            </a:pPr>
            <a:endParaRPr lang="de-DE" dirty="0"/>
          </a:p>
          <a:p>
            <a:endParaRPr lang="de-DE" dirty="0"/>
          </a:p>
        </p:txBody>
      </p:sp>
    </p:spTree>
    <p:extLst>
      <p:ext uri="{BB962C8B-B14F-4D97-AF65-F5344CB8AC3E}">
        <p14:creationId xmlns:p14="http://schemas.microsoft.com/office/powerpoint/2010/main" val="2718614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6CCE57-4755-84E5-C50A-9B4511902A7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962329-CDD2-F84C-977C-8CA2C32AFCD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D76E4A4-9721-05A5-CCCE-391B7D63ADB5}"/>
              </a:ext>
            </a:extLst>
          </p:cNvPr>
          <p:cNvSpPr>
            <a:spLocks noGrp="1"/>
          </p:cNvSpPr>
          <p:nvPr>
            <p:ph type="body" idx="1"/>
          </p:nvPr>
        </p:nvSpPr>
        <p:spPr/>
        <p:txBody>
          <a:bodyPr/>
          <a:lstStyle/>
          <a:p>
            <a:r>
              <a:rPr lang="de-DE" dirty="0" err="1"/>
              <a:t>Embeddings</a:t>
            </a:r>
            <a:r>
              <a:rPr lang="de-DE" dirty="0"/>
              <a:t>:</a:t>
            </a:r>
          </a:p>
          <a:p>
            <a:r>
              <a:rPr lang="de-DE" dirty="0"/>
              <a:t>- </a:t>
            </a:r>
            <a:r>
              <a:rPr lang="de-DE" dirty="0" err="1"/>
              <a:t>image</a:t>
            </a:r>
            <a:r>
              <a:rPr lang="de-DE" dirty="0"/>
              <a:t>: CNN, i.e. </a:t>
            </a:r>
            <a:r>
              <a:rPr lang="de-DE" dirty="0" err="1"/>
              <a:t>ResNet</a:t>
            </a:r>
            <a:r>
              <a:rPr lang="de-DE" dirty="0"/>
              <a:t> 101 </a:t>
            </a:r>
            <a:r>
              <a:rPr lang="de-DE" dirty="0" err="1"/>
              <a:t>pre-trained</a:t>
            </a:r>
            <a:r>
              <a:rPr lang="de-DE" dirty="0"/>
              <a:t> on </a:t>
            </a:r>
            <a:r>
              <a:rPr lang="de-DE" dirty="0" err="1"/>
              <a:t>ImageNet</a:t>
            </a:r>
            <a:endParaRPr lang="de-DE" dirty="0"/>
          </a:p>
          <a:p>
            <a:pPr marL="171450" indent="-171450">
              <a:buFontTx/>
              <a:buChar char="-"/>
            </a:pPr>
            <a:endParaRPr lang="en-US" dirty="0"/>
          </a:p>
          <a:p>
            <a:pPr marL="0" indent="0">
              <a:buFontTx/>
              <a:buNone/>
            </a:pPr>
            <a:r>
              <a:rPr lang="en-US" dirty="0"/>
              <a:t>RL technique:</a:t>
            </a:r>
          </a:p>
          <a:p>
            <a:pPr marL="171450" indent="-171450">
              <a:buFontTx/>
              <a:buChar char="-"/>
            </a:pPr>
            <a:r>
              <a:rPr lang="en-US" dirty="0"/>
              <a:t>REINFORCE algorithm</a:t>
            </a:r>
          </a:p>
          <a:p>
            <a:endParaRPr lang="de-DE" dirty="0"/>
          </a:p>
          <a:p>
            <a:r>
              <a:rPr lang="de-DE" dirty="0"/>
              <a:t>Base Models:</a:t>
            </a:r>
          </a:p>
          <a:p>
            <a:r>
              <a:rPr lang="de-DE" dirty="0"/>
              <a:t>- R2Gen </a:t>
            </a:r>
            <a:r>
              <a:rPr lang="de-DE" dirty="0" err="1"/>
              <a:t>from</a:t>
            </a:r>
            <a:r>
              <a:rPr lang="de-DE" dirty="0"/>
              <a:t> </a:t>
            </a:r>
            <a:r>
              <a:rPr lang="en-US" dirty="0"/>
              <a:t>Chen, Z.; Song, Y.; Chang, T.-H.; and Wan, X. 2020. Generating Radiology Reports via Memory-driven Transformer. In Proceedings of the 2020 Conference on Empirical Methods in Natural Language Processing (EMNLP), 1439–1449</a:t>
            </a:r>
            <a:endParaRPr lang="de-DE" dirty="0"/>
          </a:p>
          <a:p>
            <a:pPr marL="171450" indent="-171450">
              <a:buFontTx/>
              <a:buChar char="-"/>
            </a:pPr>
            <a:endParaRPr lang="de-DE" dirty="0"/>
          </a:p>
          <a:p>
            <a:r>
              <a:rPr lang="de-DE" dirty="0" err="1"/>
              <a:t>Dimensions</a:t>
            </a:r>
            <a:r>
              <a:rPr lang="de-DE" dirty="0"/>
              <a:t>:</a:t>
            </a:r>
          </a:p>
          <a:p>
            <a:pPr marL="171450" indent="-171450">
              <a:buFontTx/>
              <a:buChar char="-"/>
            </a:pPr>
            <a:r>
              <a:rPr lang="de-DE" dirty="0"/>
              <a:t>8 </a:t>
            </a:r>
            <a:r>
              <a:rPr lang="de-DE" dirty="0" err="1"/>
              <a:t>heads</a:t>
            </a:r>
            <a:r>
              <a:rPr lang="de-DE" dirty="0"/>
              <a:t> in MHA</a:t>
            </a:r>
          </a:p>
          <a:p>
            <a:endParaRPr lang="de-DE" dirty="0"/>
          </a:p>
          <a:p>
            <a:pPr marL="0" indent="0">
              <a:buFontTx/>
              <a:buNone/>
            </a:pPr>
            <a:r>
              <a:rPr lang="de-DE" dirty="0"/>
              <a:t>Further </a:t>
            </a:r>
            <a:r>
              <a:rPr lang="de-DE" dirty="0" err="1"/>
              <a:t>notes</a:t>
            </a:r>
            <a:r>
              <a:rPr lang="de-DE" dirty="0"/>
              <a:t>:</a:t>
            </a:r>
          </a:p>
          <a:p>
            <a:pPr marL="171450" indent="-171450">
              <a:buFontTx/>
              <a:buChar char="-"/>
            </a:pPr>
            <a:r>
              <a:rPr lang="de-DE" dirty="0" err="1"/>
              <a:t>cross-entropy</a:t>
            </a:r>
            <a:r>
              <a:rPr lang="de-DE" dirty="0"/>
              <a:t> </a:t>
            </a:r>
            <a:r>
              <a:rPr lang="de-DE" dirty="0" err="1"/>
              <a:t>loss</a:t>
            </a:r>
            <a:r>
              <a:rPr lang="de-DE" dirty="0"/>
              <a:t> </a:t>
            </a:r>
            <a:r>
              <a:rPr lang="de-DE" dirty="0" err="1"/>
              <a:t>for</a:t>
            </a:r>
            <a:r>
              <a:rPr lang="de-DE" dirty="0"/>
              <a:t> </a:t>
            </a:r>
            <a:r>
              <a:rPr lang="de-DE" dirty="0" err="1"/>
              <a:t>encoder</a:t>
            </a:r>
            <a:r>
              <a:rPr lang="de-DE" dirty="0"/>
              <a:t>-</a:t>
            </a:r>
            <a:r>
              <a:rPr lang="de-DE" dirty="0" err="1"/>
              <a:t>pvf</a:t>
            </a:r>
            <a:r>
              <a:rPr lang="de-DE" dirty="0"/>
              <a:t>-decoder</a:t>
            </a:r>
          </a:p>
          <a:p>
            <a:pPr marL="171450" indent="-171450">
              <a:buFontTx/>
              <a:buChar char="-"/>
            </a:pPr>
            <a:r>
              <a:rPr lang="de-DE" dirty="0"/>
              <a:t>Transformer </a:t>
            </a:r>
            <a:r>
              <a:rPr lang="de-DE" dirty="0" err="1"/>
              <a:t>is</a:t>
            </a:r>
            <a:r>
              <a:rPr lang="de-DE" dirty="0"/>
              <a:t> </a:t>
            </a:r>
            <a:r>
              <a:rPr lang="de-DE" dirty="0" err="1"/>
              <a:t>randomly</a:t>
            </a:r>
            <a:r>
              <a:rPr lang="de-DE" dirty="0"/>
              <a:t> </a:t>
            </a:r>
            <a:r>
              <a:rPr lang="de-DE" dirty="0" err="1"/>
              <a:t>initialized</a:t>
            </a:r>
            <a:endParaRPr lang="de-DE" dirty="0"/>
          </a:p>
          <a:p>
            <a:pPr marL="171450" indent="-171450">
              <a:buFontTx/>
              <a:buChar char="-"/>
            </a:pPr>
            <a:r>
              <a:rPr lang="de-DE" dirty="0" err="1"/>
              <a:t>No</a:t>
            </a:r>
            <a:r>
              <a:rPr lang="de-DE" dirty="0"/>
              <a:t> human </a:t>
            </a:r>
            <a:r>
              <a:rPr lang="de-DE" dirty="0" err="1"/>
              <a:t>feedback</a:t>
            </a:r>
            <a:r>
              <a:rPr lang="de-DE" dirty="0"/>
              <a:t> </a:t>
            </a:r>
            <a:r>
              <a:rPr lang="de-DE" dirty="0" err="1"/>
              <a:t>is</a:t>
            </a:r>
            <a:r>
              <a:rPr lang="de-DE" dirty="0"/>
              <a:t> </a:t>
            </a:r>
            <a:r>
              <a:rPr lang="de-DE" dirty="0" err="1"/>
              <a:t>gathered</a:t>
            </a:r>
            <a:r>
              <a:rPr lang="de-DE" dirty="0"/>
              <a:t>, </a:t>
            </a:r>
            <a:r>
              <a:rPr lang="de-DE" dirty="0" err="1"/>
              <a:t>the</a:t>
            </a:r>
            <a:r>
              <a:rPr lang="de-DE" dirty="0"/>
              <a:t> </a:t>
            </a:r>
            <a:r>
              <a:rPr lang="de-DE" dirty="0" err="1"/>
              <a:t>feedback</a:t>
            </a:r>
            <a:r>
              <a:rPr lang="de-DE" dirty="0"/>
              <a:t> </a:t>
            </a:r>
            <a:r>
              <a:rPr lang="de-DE" dirty="0" err="1"/>
              <a:t>is</a:t>
            </a:r>
            <a:r>
              <a:rPr lang="de-DE" dirty="0"/>
              <a:t> </a:t>
            </a:r>
            <a:r>
              <a:rPr lang="de-DE" dirty="0" err="1"/>
              <a:t>metrics</a:t>
            </a:r>
            <a:r>
              <a:rPr lang="de-DE" dirty="0"/>
              <a:t> </a:t>
            </a:r>
            <a:r>
              <a:rPr lang="de-DE" dirty="0" err="1"/>
              <a:t>based</a:t>
            </a:r>
            <a:endParaRPr lang="de-DE" dirty="0"/>
          </a:p>
          <a:p>
            <a:pPr marL="0" indent="0">
              <a:buFontTx/>
              <a:buNone/>
            </a:pPr>
            <a:endParaRPr lang="de-DE" dirty="0"/>
          </a:p>
          <a:p>
            <a:r>
              <a:rPr lang="de-DE" dirty="0"/>
              <a:t>Not </a:t>
            </a:r>
            <a:r>
              <a:rPr lang="de-DE" dirty="0" err="1"/>
              <a:t>stated</a:t>
            </a:r>
            <a:r>
              <a:rPr lang="de-DE" dirty="0"/>
              <a:t>:</a:t>
            </a:r>
          </a:p>
          <a:p>
            <a:endParaRPr lang="de-DE" dirty="0"/>
          </a:p>
        </p:txBody>
      </p:sp>
    </p:spTree>
    <p:extLst>
      <p:ext uri="{BB962C8B-B14F-4D97-AF65-F5344CB8AC3E}">
        <p14:creationId xmlns:p14="http://schemas.microsoft.com/office/powerpoint/2010/main" val="2867691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C1F0B-DA46-0D8B-B53C-F601CE782C3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4610693-A8B1-1010-54B3-05BA511AD15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C1204C-7F3A-338C-651E-96E7C70A26C1}"/>
              </a:ext>
            </a:extLst>
          </p:cNvPr>
          <p:cNvSpPr>
            <a:spLocks noGrp="1"/>
          </p:cNvSpPr>
          <p:nvPr>
            <p:ph type="body" idx="1"/>
          </p:nvPr>
        </p:nvSpPr>
        <p:spPr/>
        <p:txBody>
          <a:bodyPr/>
          <a:lstStyle/>
          <a:p>
            <a:r>
              <a:rPr lang="de-DE" dirty="0" err="1"/>
              <a:t>Embeddings</a:t>
            </a:r>
            <a:r>
              <a:rPr lang="de-DE" dirty="0"/>
              <a:t>:</a:t>
            </a:r>
          </a:p>
          <a:p>
            <a:pPr marL="171450" indent="-171450">
              <a:buFontTx/>
              <a:buChar char="-"/>
            </a:pPr>
            <a:endParaRPr lang="en-US" dirty="0"/>
          </a:p>
          <a:p>
            <a:pPr marL="0" indent="0">
              <a:buFontTx/>
              <a:buNone/>
            </a:pPr>
            <a:r>
              <a:rPr lang="en-US" dirty="0"/>
              <a:t>RL technique:</a:t>
            </a:r>
          </a:p>
          <a:p>
            <a:endParaRPr lang="de-DE" dirty="0"/>
          </a:p>
          <a:p>
            <a:r>
              <a:rPr lang="de-DE" dirty="0"/>
              <a:t>Base Models:</a:t>
            </a:r>
          </a:p>
          <a:p>
            <a:pPr marL="171450" indent="-171450">
              <a:buFontTx/>
              <a:buChar char="-"/>
            </a:pPr>
            <a:endParaRPr lang="de-DE" dirty="0"/>
          </a:p>
          <a:p>
            <a:r>
              <a:rPr lang="de-DE" dirty="0" err="1"/>
              <a:t>Dimensions</a:t>
            </a:r>
            <a:r>
              <a:rPr lang="de-DE" dirty="0"/>
              <a:t>:</a:t>
            </a:r>
          </a:p>
          <a:p>
            <a:endParaRPr lang="de-DE" dirty="0"/>
          </a:p>
          <a:p>
            <a:pPr marL="0" indent="0">
              <a:buFontTx/>
              <a:buNone/>
            </a:pPr>
            <a:r>
              <a:rPr lang="de-DE" dirty="0"/>
              <a:t>Further </a:t>
            </a:r>
            <a:r>
              <a:rPr lang="de-DE" dirty="0" err="1"/>
              <a:t>notes</a:t>
            </a:r>
            <a:r>
              <a:rPr lang="de-DE" dirty="0"/>
              <a:t>:</a:t>
            </a:r>
          </a:p>
          <a:p>
            <a:pPr marL="0" indent="0">
              <a:buFontTx/>
              <a:buNone/>
            </a:pPr>
            <a:endParaRPr lang="de-DE" dirty="0"/>
          </a:p>
          <a:p>
            <a:r>
              <a:rPr lang="de-DE" dirty="0"/>
              <a:t>Not </a:t>
            </a:r>
            <a:r>
              <a:rPr lang="de-DE" dirty="0" err="1"/>
              <a:t>stated</a:t>
            </a:r>
            <a:r>
              <a:rPr lang="de-DE" dirty="0"/>
              <a:t>:</a:t>
            </a:r>
          </a:p>
          <a:p>
            <a:endParaRPr lang="de-DE" dirty="0"/>
          </a:p>
        </p:txBody>
      </p:sp>
    </p:spTree>
    <p:extLst>
      <p:ext uri="{BB962C8B-B14F-4D97-AF65-F5344CB8AC3E}">
        <p14:creationId xmlns:p14="http://schemas.microsoft.com/office/powerpoint/2010/main" val="212685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D14E-01BF-6269-D544-E62A5CC4D64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C44BE7-F75F-998E-8DFF-C4BD718C500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AC5A0A9-1AD8-8F12-433E-6FB78C670A14}"/>
              </a:ext>
            </a:extLst>
          </p:cNvPr>
          <p:cNvSpPr>
            <a:spLocks noGrp="1"/>
          </p:cNvSpPr>
          <p:nvPr>
            <p:ph type="body" idx="1"/>
          </p:nvPr>
        </p:nvSpPr>
        <p:spPr/>
        <p:txBody>
          <a:bodyPr/>
          <a:lstStyle/>
          <a:p>
            <a:r>
              <a:rPr lang="de-DE" dirty="0" err="1"/>
              <a:t>Embeddings</a:t>
            </a:r>
            <a:r>
              <a:rPr lang="de-DE" dirty="0"/>
              <a:t>:</a:t>
            </a:r>
          </a:p>
          <a:p>
            <a:pPr marL="171450" indent="-171450">
              <a:buFontTx/>
              <a:buChar char="-"/>
            </a:pPr>
            <a:endParaRPr lang="en-US" dirty="0"/>
          </a:p>
          <a:p>
            <a:pPr marL="0" indent="0">
              <a:buFontTx/>
              <a:buNone/>
            </a:pPr>
            <a:r>
              <a:rPr lang="en-US" dirty="0"/>
              <a:t>RL technique:</a:t>
            </a:r>
          </a:p>
          <a:p>
            <a:endParaRPr lang="de-DE" dirty="0"/>
          </a:p>
          <a:p>
            <a:r>
              <a:rPr lang="de-DE" dirty="0"/>
              <a:t>Base Models:</a:t>
            </a:r>
          </a:p>
          <a:p>
            <a:pPr marL="171450" indent="-171450">
              <a:buFontTx/>
              <a:buChar char="-"/>
            </a:pPr>
            <a:endParaRPr lang="de-DE" dirty="0"/>
          </a:p>
          <a:p>
            <a:r>
              <a:rPr lang="de-DE" dirty="0" err="1"/>
              <a:t>Dimensions</a:t>
            </a:r>
            <a:r>
              <a:rPr lang="de-DE" dirty="0"/>
              <a:t>:</a:t>
            </a:r>
          </a:p>
          <a:p>
            <a:endParaRPr lang="de-DE" dirty="0"/>
          </a:p>
          <a:p>
            <a:pPr marL="0" indent="0">
              <a:buFontTx/>
              <a:buNone/>
            </a:pPr>
            <a:r>
              <a:rPr lang="de-DE" dirty="0"/>
              <a:t>Further </a:t>
            </a:r>
            <a:r>
              <a:rPr lang="de-DE" dirty="0" err="1"/>
              <a:t>notes</a:t>
            </a:r>
            <a:r>
              <a:rPr lang="de-DE" dirty="0"/>
              <a:t>:</a:t>
            </a:r>
          </a:p>
          <a:p>
            <a:pPr marL="0" indent="0">
              <a:buFontTx/>
              <a:buNone/>
            </a:pPr>
            <a:endParaRPr lang="de-DE" dirty="0"/>
          </a:p>
          <a:p>
            <a:r>
              <a:rPr lang="de-DE" dirty="0"/>
              <a:t>Not </a:t>
            </a:r>
            <a:r>
              <a:rPr lang="de-DE" dirty="0" err="1"/>
              <a:t>stated</a:t>
            </a:r>
            <a:r>
              <a:rPr lang="de-DE" dirty="0"/>
              <a:t>:</a:t>
            </a:r>
          </a:p>
          <a:p>
            <a:endParaRPr lang="de-DE" dirty="0"/>
          </a:p>
        </p:txBody>
      </p:sp>
    </p:spTree>
    <p:extLst>
      <p:ext uri="{BB962C8B-B14F-4D97-AF65-F5344CB8AC3E}">
        <p14:creationId xmlns:p14="http://schemas.microsoft.com/office/powerpoint/2010/main" val="3158951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1AF0C-BBF3-61B2-870C-D94FB0C188B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591DC99-6374-6353-540E-A306032B631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086EF83E-A9CF-5BF2-CEC2-08A9D8A16F5A}"/>
              </a:ext>
            </a:extLst>
          </p:cNvPr>
          <p:cNvSpPr>
            <a:spLocks noGrp="1"/>
          </p:cNvSpPr>
          <p:nvPr>
            <p:ph type="body" idx="1"/>
          </p:nvPr>
        </p:nvSpPr>
        <p:spPr/>
        <p:txBody>
          <a:bodyPr/>
          <a:lstStyle/>
          <a:p>
            <a:r>
              <a:rPr lang="de-DE" dirty="0" err="1"/>
              <a:t>Embeddings</a:t>
            </a:r>
            <a:r>
              <a:rPr lang="de-DE" dirty="0"/>
              <a:t>:</a:t>
            </a:r>
          </a:p>
          <a:p>
            <a:pPr marL="171450" indent="-171450">
              <a:buFontTx/>
              <a:buChar char="-"/>
            </a:pPr>
            <a:r>
              <a:rPr lang="de-DE" dirty="0" err="1"/>
              <a:t>reports</a:t>
            </a:r>
            <a:r>
              <a:rPr lang="de-DE" dirty="0"/>
              <a:t>: </a:t>
            </a:r>
            <a:r>
              <a:rPr lang="de-DE" dirty="0" err="1"/>
              <a:t>text</a:t>
            </a:r>
            <a:r>
              <a:rPr lang="de-DE" dirty="0"/>
              <a:t> </a:t>
            </a:r>
            <a:r>
              <a:rPr lang="de-DE" dirty="0" err="1"/>
              <a:t>encoder</a:t>
            </a:r>
            <a:r>
              <a:rPr lang="de-DE" dirty="0"/>
              <a:t> </a:t>
            </a:r>
            <a:r>
              <a:rPr lang="de-DE" dirty="0" err="1"/>
              <a:t>of</a:t>
            </a:r>
            <a:r>
              <a:rPr lang="de-DE" dirty="0"/>
              <a:t> </a:t>
            </a:r>
            <a:r>
              <a:rPr lang="de-DE" dirty="0" err="1"/>
              <a:t>BiomedVLP</a:t>
            </a:r>
            <a:endParaRPr lang="de-DE" dirty="0"/>
          </a:p>
          <a:p>
            <a:pPr marL="171450" indent="-171450">
              <a:buFontTx/>
              <a:buChar char="-"/>
            </a:pPr>
            <a:endParaRPr lang="en-US" dirty="0"/>
          </a:p>
          <a:p>
            <a:pPr marL="0" indent="0">
              <a:buFontTx/>
              <a:buNone/>
            </a:pPr>
            <a:r>
              <a:rPr lang="en-US" dirty="0"/>
              <a:t>RL technique:</a:t>
            </a:r>
          </a:p>
          <a:p>
            <a:pPr marL="171450" indent="-171450">
              <a:buFontTx/>
              <a:buChar char="-"/>
            </a:pPr>
            <a:r>
              <a:rPr lang="en-US" dirty="0"/>
              <a:t>DPO</a:t>
            </a:r>
          </a:p>
          <a:p>
            <a:endParaRPr lang="de-DE" dirty="0"/>
          </a:p>
          <a:p>
            <a:r>
              <a:rPr lang="de-DE" dirty="0"/>
              <a:t>Base Models:</a:t>
            </a:r>
          </a:p>
          <a:p>
            <a:pPr marL="171450" indent="-171450">
              <a:buFontTx/>
              <a:buChar char="-"/>
            </a:pPr>
            <a:r>
              <a:rPr lang="de-DE" dirty="0"/>
              <a:t>multiple. RRG-DPO </a:t>
            </a:r>
            <a:r>
              <a:rPr lang="de-DE" dirty="0" err="1"/>
              <a:t>is</a:t>
            </a:r>
            <a:r>
              <a:rPr lang="de-DE" dirty="0"/>
              <a:t> </a:t>
            </a:r>
            <a:r>
              <a:rPr lang="de-DE" dirty="0" err="1"/>
              <a:t>performed</a:t>
            </a:r>
            <a:r>
              <a:rPr lang="de-DE" dirty="0"/>
              <a:t> on top</a:t>
            </a:r>
          </a:p>
          <a:p>
            <a:pPr marL="171450" indent="-171450">
              <a:buFontTx/>
              <a:buChar char="-"/>
            </a:pPr>
            <a:endParaRPr lang="de-DE" dirty="0"/>
          </a:p>
          <a:p>
            <a:r>
              <a:rPr lang="de-DE" dirty="0" err="1"/>
              <a:t>Dimensions</a:t>
            </a:r>
            <a:r>
              <a:rPr lang="de-DE" dirty="0"/>
              <a:t>:</a:t>
            </a:r>
          </a:p>
          <a:p>
            <a:pPr marL="171450" indent="-171450">
              <a:buFontTx/>
              <a:buChar char="-"/>
            </a:pPr>
            <a:r>
              <a:rPr lang="de-DE" dirty="0" err="1"/>
              <a:t>Number</a:t>
            </a:r>
            <a:r>
              <a:rPr lang="de-DE" dirty="0"/>
              <a:t> </a:t>
            </a:r>
            <a:r>
              <a:rPr lang="de-DE" dirty="0" err="1"/>
              <a:t>of</a:t>
            </a:r>
            <a:r>
              <a:rPr lang="de-DE" dirty="0"/>
              <a:t> </a:t>
            </a:r>
            <a:r>
              <a:rPr lang="de-DE" dirty="0" err="1"/>
              <a:t>retrieved</a:t>
            </a:r>
            <a:r>
              <a:rPr lang="de-DE" dirty="0"/>
              <a:t> </a:t>
            </a:r>
            <a:r>
              <a:rPr lang="de-DE" dirty="0" err="1"/>
              <a:t>reports</a:t>
            </a:r>
            <a:r>
              <a:rPr lang="de-DE" dirty="0"/>
              <a:t> </a:t>
            </a:r>
            <a:r>
              <a:rPr lang="de-DE" dirty="0" err="1"/>
              <a:t>Nl</a:t>
            </a:r>
            <a:r>
              <a:rPr lang="de-DE" dirty="0"/>
              <a:t>: 20</a:t>
            </a:r>
          </a:p>
          <a:p>
            <a:pPr marL="171450" indent="-171450">
              <a:buFontTx/>
              <a:buChar char="-"/>
            </a:pPr>
            <a:r>
              <a:rPr lang="de-DE" dirty="0"/>
              <a:t>Beta: 0.3</a:t>
            </a:r>
          </a:p>
          <a:p>
            <a:pPr marL="171450" indent="-171450">
              <a:buFontTx/>
              <a:buChar char="-"/>
            </a:pPr>
            <a:r>
              <a:rPr lang="de-DE" dirty="0"/>
              <a:t>Lambda: 1</a:t>
            </a:r>
          </a:p>
          <a:p>
            <a:pPr marL="171450" indent="-171450">
              <a:buFontTx/>
              <a:buChar char="-"/>
            </a:pPr>
            <a:r>
              <a:rPr lang="de-DE" dirty="0"/>
              <a:t>Gamma: 0.1</a:t>
            </a:r>
          </a:p>
          <a:p>
            <a:endParaRPr lang="de-DE" dirty="0"/>
          </a:p>
          <a:p>
            <a:pPr marL="0" indent="0">
              <a:buFontTx/>
              <a:buNone/>
            </a:pPr>
            <a:r>
              <a:rPr lang="de-DE" dirty="0"/>
              <a:t>Further </a:t>
            </a:r>
            <a:r>
              <a:rPr lang="de-DE" dirty="0" err="1"/>
              <a:t>notes</a:t>
            </a:r>
            <a:r>
              <a:rPr lang="de-DE" dirty="0"/>
              <a: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de-DE" dirty="0" err="1"/>
              <a:t>CheXbert</a:t>
            </a:r>
            <a:r>
              <a:rPr lang="de-DE" dirty="0"/>
              <a:t> </a:t>
            </a:r>
            <a:r>
              <a:rPr lang="de-DE" sz="1000" kern="1200" dirty="0" err="1">
                <a:solidFill>
                  <a:schemeClr val="tx1"/>
                </a:solidFill>
                <a:effectLst/>
                <a:latin typeface="Arial" pitchFamily="34" charset="0"/>
                <a:ea typeface="ＭＳ Ｐゴシック" charset="0"/>
                <a:cs typeface="Arial" pitchFamily="34" charset="0"/>
              </a:rPr>
              <a:t>creates</a:t>
            </a:r>
            <a:r>
              <a:rPr lang="de-DE" sz="1000" kern="1200" dirty="0">
                <a:solidFill>
                  <a:schemeClr val="tx1"/>
                </a:solidFill>
                <a:effectLst/>
                <a:latin typeface="Arial" pitchFamily="34" charset="0"/>
                <a:ea typeface="ＭＳ Ｐゴシック" charset="0"/>
                <a:cs typeface="Arial" pitchFamily="34" charset="0"/>
              </a:rPr>
              <a:t> 14-dimensional </a:t>
            </a:r>
            <a:r>
              <a:rPr lang="de-DE" sz="1000" kern="1200" dirty="0" err="1">
                <a:solidFill>
                  <a:schemeClr val="tx1"/>
                </a:solidFill>
                <a:effectLst/>
                <a:latin typeface="Arial" pitchFamily="34" charset="0"/>
                <a:ea typeface="ＭＳ Ｐゴシック" charset="0"/>
                <a:cs typeface="Arial" pitchFamily="34" charset="0"/>
              </a:rPr>
              <a:t>binary</a:t>
            </a:r>
            <a:r>
              <a:rPr lang="de-DE" sz="1000" kern="1200" dirty="0">
                <a:solidFill>
                  <a:schemeClr val="tx1"/>
                </a:solidFill>
                <a:effectLst/>
                <a:latin typeface="Arial" pitchFamily="34" charset="0"/>
                <a:ea typeface="ＭＳ Ｐゴシック" charset="0"/>
                <a:cs typeface="Arial" pitchFamily="34" charset="0"/>
              </a:rPr>
              <a:t> </a:t>
            </a:r>
            <a:r>
              <a:rPr lang="de-DE" sz="1000" kern="1200" dirty="0" err="1">
                <a:solidFill>
                  <a:schemeClr val="tx1"/>
                </a:solidFill>
                <a:effectLst/>
                <a:latin typeface="Arial" pitchFamily="34" charset="0"/>
                <a:ea typeface="ＭＳ Ｐゴシック" charset="0"/>
                <a:cs typeface="Arial" pitchFamily="34" charset="0"/>
              </a:rPr>
              <a:t>vector</a:t>
            </a:r>
            <a:r>
              <a:rPr lang="de-DE" sz="1000" kern="1200" dirty="0">
                <a:solidFill>
                  <a:schemeClr val="tx1"/>
                </a:solidFill>
                <a:effectLst/>
                <a:latin typeface="Arial" pitchFamily="34" charset="0"/>
                <a:ea typeface="ＭＳ Ｐゴシック" charset="0"/>
                <a:cs typeface="Arial" pitchFamily="34" charset="0"/>
              </a:rPr>
              <a:t> per </a:t>
            </a:r>
            <a:r>
              <a:rPr lang="de-DE" sz="1000" kern="1200" dirty="0" err="1">
                <a:solidFill>
                  <a:schemeClr val="tx1"/>
                </a:solidFill>
                <a:effectLst/>
                <a:latin typeface="Arial" pitchFamily="34" charset="0"/>
                <a:ea typeface="ＭＳ Ｐゴシック" charset="0"/>
                <a:cs typeface="Arial" pitchFamily="34" charset="0"/>
              </a:rPr>
              <a:t>report</a:t>
            </a:r>
            <a:endParaRPr lang="de-DE" sz="1000" kern="1200" dirty="0">
              <a:solidFill>
                <a:schemeClr val="tx1"/>
              </a:solidFill>
              <a:effectLst/>
              <a:latin typeface="Arial" pitchFamily="34" charset="0"/>
              <a:ea typeface="ＭＳ Ｐゴシック" charset="0"/>
              <a:cs typeface="Arial" pitchFamily="34" charset="0"/>
            </a:endParaRP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de-DE" sz="1000" kern="1200" dirty="0">
                <a:solidFill>
                  <a:schemeClr val="tx1"/>
                </a:solidFill>
                <a:effectLst/>
                <a:latin typeface="Arial" pitchFamily="34" charset="0"/>
                <a:ea typeface="ＭＳ Ｐゴシック" charset="0"/>
                <a:cs typeface="Arial" pitchFamily="34" charset="0"/>
              </a:rPr>
              <a:t>Jaccard </a:t>
            </a:r>
            <a:r>
              <a:rPr lang="de-DE" sz="1000" kern="1200" dirty="0" err="1">
                <a:solidFill>
                  <a:schemeClr val="tx1"/>
                </a:solidFill>
                <a:effectLst/>
                <a:latin typeface="Arial" pitchFamily="34" charset="0"/>
                <a:ea typeface="ＭＳ Ｐゴシック" charset="0"/>
                <a:cs typeface="Arial" pitchFamily="34" charset="0"/>
              </a:rPr>
              <a:t>distance</a:t>
            </a:r>
            <a:r>
              <a:rPr lang="de-DE" sz="1000" kern="1200" dirty="0">
                <a:solidFill>
                  <a:schemeClr val="tx1"/>
                </a:solidFill>
                <a:effectLst/>
                <a:latin typeface="Arial" pitchFamily="34" charset="0"/>
                <a:ea typeface="ＭＳ Ｐゴシック" charset="0"/>
                <a:cs typeface="Arial" pitchFamily="34" charset="0"/>
              </a:rPr>
              <a:t> = 1 - (</a:t>
            </a:r>
            <a:r>
              <a:rPr lang="de-DE" sz="1000" kern="1200" dirty="0" err="1">
                <a:solidFill>
                  <a:schemeClr val="tx1"/>
                </a:solidFill>
                <a:effectLst/>
                <a:latin typeface="Arial" pitchFamily="34" charset="0"/>
                <a:ea typeface="ＭＳ Ｐゴシック" charset="0"/>
                <a:cs typeface="Arial" pitchFamily="34" charset="0"/>
              </a:rPr>
              <a:t>intersection</a:t>
            </a:r>
            <a:r>
              <a:rPr lang="de-DE" sz="1000" kern="1200" dirty="0">
                <a:solidFill>
                  <a:schemeClr val="tx1"/>
                </a:solidFill>
                <a:effectLst/>
                <a:latin typeface="Arial" pitchFamily="34" charset="0"/>
                <a:ea typeface="ＭＳ Ｐゴシック" charset="0"/>
                <a:cs typeface="Arial" pitchFamily="34" charset="0"/>
              </a:rPr>
              <a:t> / </a:t>
            </a:r>
            <a:r>
              <a:rPr lang="de-DE" sz="1000" kern="1200" dirty="0" err="1">
                <a:solidFill>
                  <a:schemeClr val="tx1"/>
                </a:solidFill>
                <a:effectLst/>
                <a:latin typeface="Arial" pitchFamily="34" charset="0"/>
                <a:ea typeface="ＭＳ Ｐゴシック" charset="0"/>
                <a:cs typeface="Arial" pitchFamily="34" charset="0"/>
              </a:rPr>
              <a:t>union</a:t>
            </a:r>
            <a:r>
              <a:rPr lang="de-DE" sz="1000" kern="1200" dirty="0">
                <a:solidFill>
                  <a:schemeClr val="tx1"/>
                </a:solidFill>
                <a:effectLst/>
                <a:latin typeface="Arial" pitchFamily="34" charset="0"/>
                <a:ea typeface="ＭＳ Ｐゴシック" charset="0"/>
                <a:cs typeface="Arial" pitchFamily="34" charset="0"/>
              </a:rPr>
              <a:t>)</a:t>
            </a:r>
            <a:endParaRPr lang="de-DE" dirty="0">
              <a:effectLst/>
            </a:endParaRP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ＭＳ Ｐゴシック" charset="0"/>
                <a:cs typeface="Arial" pitchFamily="34" charset="0"/>
              </a:rPr>
              <a:t>Creating Sub-Preferred Report </a:t>
            </a:r>
            <a:r>
              <a:rPr lang="en-US" sz="1000" kern="1200" dirty="0" err="1">
                <a:solidFill>
                  <a:schemeClr val="tx1"/>
                </a:solidFill>
                <a:effectLst/>
                <a:latin typeface="Arial" pitchFamily="34" charset="0"/>
                <a:ea typeface="ＭＳ Ｐゴシック" charset="0"/>
                <a:cs typeface="Arial" pitchFamily="34" charset="0"/>
              </a:rPr>
              <a:t>y_l</a:t>
            </a:r>
            <a:r>
              <a:rPr lang="en-US" sz="1000" kern="1200" dirty="0">
                <a:solidFill>
                  <a:schemeClr val="tx1"/>
                </a:solidFill>
                <a:effectLst/>
                <a:latin typeface="Arial" pitchFamily="34" charset="0"/>
                <a:ea typeface="ＭＳ Ｐゴシック" charset="0"/>
                <a:cs typeface="Arial" pitchFamily="34" charset="0"/>
              </a:rPr>
              <a:t>^+:</a:t>
            </a:r>
            <a:endParaRPr lang="en-US" dirty="0">
              <a:effectLst/>
            </a:endParaRP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Arial" charset="0"/>
                <a:cs typeface="Arial" pitchFamily="34" charset="0"/>
              </a:rPr>
              <a:t>Split </a:t>
            </a:r>
            <a:r>
              <a:rPr lang="en-US" sz="1000" kern="1200" dirty="0" err="1">
                <a:solidFill>
                  <a:schemeClr val="tx1"/>
                </a:solidFill>
                <a:effectLst/>
                <a:latin typeface="Arial" pitchFamily="34" charset="0"/>
                <a:ea typeface="Arial" charset="0"/>
                <a:cs typeface="Arial" pitchFamily="34" charset="0"/>
              </a:rPr>
              <a:t>y_l</a:t>
            </a:r>
            <a:r>
              <a:rPr lang="en-US" sz="1000" kern="1200" dirty="0">
                <a:solidFill>
                  <a:schemeClr val="tx1"/>
                </a:solidFill>
                <a:effectLst/>
                <a:latin typeface="Arial" pitchFamily="34" charset="0"/>
                <a:ea typeface="Arial" charset="0"/>
                <a:cs typeface="Arial" pitchFamily="34" charset="0"/>
              </a:rPr>
              <a:t> into sentences</a:t>
            </a:r>
            <a:endParaRPr lang="en-US" dirty="0">
              <a:effectLst/>
            </a:endParaRP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Arial" charset="0"/>
                <a:cs typeface="Arial" pitchFamily="34" charset="0"/>
              </a:rPr>
              <a:t>For each sentence</a:t>
            </a:r>
          </a:p>
          <a:p>
            <a:pPr marL="1085850" marR="0" lvl="2"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Arial" charset="0"/>
                <a:cs typeface="Arial" pitchFamily="34" charset="0"/>
              </a:rPr>
              <a:t>Apply </a:t>
            </a:r>
            <a:r>
              <a:rPr lang="en-US" sz="1000" kern="1200" dirty="0" err="1">
                <a:solidFill>
                  <a:schemeClr val="tx1"/>
                </a:solidFill>
                <a:effectLst/>
                <a:latin typeface="Arial" pitchFamily="34" charset="0"/>
                <a:ea typeface="Arial" charset="0"/>
                <a:cs typeface="Arial" pitchFamily="34" charset="0"/>
              </a:rPr>
              <a:t>CheXbert</a:t>
            </a:r>
            <a:r>
              <a:rPr lang="en-US" sz="1000" kern="1200" dirty="0">
                <a:solidFill>
                  <a:schemeClr val="tx1"/>
                </a:solidFill>
                <a:effectLst/>
                <a:latin typeface="Arial" pitchFamily="34" charset="0"/>
                <a:ea typeface="Arial" charset="0"/>
                <a:cs typeface="Arial" pitchFamily="34" charset="0"/>
              </a:rPr>
              <a:t> classifier → get abnormality labels</a:t>
            </a:r>
          </a:p>
          <a:p>
            <a:pPr marL="1085850" marR="0" lvl="2"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Arial" charset="0"/>
                <a:cs typeface="Arial" pitchFamily="34" charset="0"/>
              </a:rPr>
              <a:t>Compare labels with ground truth </a:t>
            </a:r>
            <a:r>
              <a:rPr lang="en-US" sz="1000" kern="1200" dirty="0" err="1">
                <a:solidFill>
                  <a:schemeClr val="tx1"/>
                </a:solidFill>
                <a:effectLst/>
                <a:latin typeface="Arial" pitchFamily="34" charset="0"/>
                <a:ea typeface="Arial" charset="0"/>
                <a:cs typeface="Arial" pitchFamily="34" charset="0"/>
              </a:rPr>
              <a:t>y_w</a:t>
            </a:r>
            <a:r>
              <a:rPr lang="en-US" sz="1000" kern="1200" dirty="0">
                <a:solidFill>
                  <a:schemeClr val="tx1"/>
                </a:solidFill>
                <a:effectLst/>
                <a:latin typeface="Arial" pitchFamily="34" charset="0"/>
                <a:ea typeface="Arial" charset="0"/>
                <a:cs typeface="Arial" pitchFamily="34" charset="0"/>
              </a:rPr>
              <a:t> labels</a:t>
            </a:r>
          </a:p>
          <a:p>
            <a:pPr marL="1085850" marR="0" lvl="2" indent="-171450" algn="l" defTabSz="914400" rtl="0" eaLnBrk="0" fontAlgn="base" latinLnBrk="0" hangingPunct="0">
              <a:lnSpc>
                <a:spcPct val="100000"/>
              </a:lnSpc>
              <a:spcBef>
                <a:spcPct val="30000"/>
              </a:spcBef>
              <a:spcAft>
                <a:spcPct val="0"/>
              </a:spcAft>
              <a:buClrTx/>
              <a:buSzTx/>
              <a:buFontTx/>
              <a:buChar char="-"/>
              <a:tabLst/>
              <a:defRPr/>
            </a:pPr>
            <a:r>
              <a:rPr lang="en-US" sz="1000" kern="1200" dirty="0">
                <a:solidFill>
                  <a:schemeClr val="tx1"/>
                </a:solidFill>
                <a:effectLst/>
                <a:latin typeface="Arial" pitchFamily="34" charset="0"/>
                <a:ea typeface="Arial" charset="0"/>
                <a:cs typeface="Arial" pitchFamily="34" charset="0"/>
              </a:rPr>
              <a:t>Mark as "conflicting" if labels differ</a:t>
            </a:r>
          </a:p>
          <a:p>
            <a:pPr marL="628650" marR="0" lvl="1" indent="-171450" algn="l" defTabSz="914400" rtl="0" eaLnBrk="0" fontAlgn="base" latinLnBrk="0" hangingPunct="0">
              <a:lnSpc>
                <a:spcPct val="100000"/>
              </a:lnSpc>
              <a:spcBef>
                <a:spcPct val="30000"/>
              </a:spcBef>
              <a:spcAft>
                <a:spcPct val="0"/>
              </a:spcAft>
              <a:buClrTx/>
              <a:buSzTx/>
              <a:buFontTx/>
              <a:buChar char="-"/>
              <a:tabLst/>
              <a:defRPr/>
            </a:pPr>
            <a:r>
              <a:rPr lang="de-DE" sz="1000" kern="1200" dirty="0">
                <a:solidFill>
                  <a:schemeClr val="tx1"/>
                </a:solidFill>
                <a:effectLst/>
                <a:latin typeface="Arial" pitchFamily="34" charset="0"/>
                <a:ea typeface="Arial" charset="0"/>
                <a:cs typeface="Arial" pitchFamily="34" charset="0"/>
              </a:rPr>
              <a:t>Delete all </a:t>
            </a:r>
            <a:r>
              <a:rPr lang="de-DE" sz="1000" kern="1200" dirty="0" err="1">
                <a:solidFill>
                  <a:schemeClr val="tx1"/>
                </a:solidFill>
                <a:effectLst/>
                <a:latin typeface="Arial" pitchFamily="34" charset="0"/>
                <a:ea typeface="Arial" charset="0"/>
                <a:cs typeface="Arial" pitchFamily="34" charset="0"/>
              </a:rPr>
              <a:t>abnormality-conflicting</a:t>
            </a:r>
            <a:r>
              <a:rPr lang="de-DE" sz="1000" kern="1200" dirty="0">
                <a:solidFill>
                  <a:schemeClr val="tx1"/>
                </a:solidFill>
                <a:effectLst/>
                <a:latin typeface="Arial" pitchFamily="34" charset="0"/>
                <a:ea typeface="Arial" charset="0"/>
                <a:cs typeface="Arial" pitchFamily="34" charset="0"/>
              </a:rPr>
              <a:t> </a:t>
            </a:r>
            <a:r>
              <a:rPr lang="de-DE" sz="1000" kern="1200" dirty="0" err="1">
                <a:solidFill>
                  <a:schemeClr val="tx1"/>
                </a:solidFill>
                <a:effectLst/>
                <a:latin typeface="Arial" pitchFamily="34" charset="0"/>
                <a:ea typeface="Arial" charset="0"/>
                <a:cs typeface="Arial" pitchFamily="34" charset="0"/>
              </a:rPr>
              <a:t>sentences</a:t>
            </a:r>
            <a:endParaRPr lang="de-DE" dirty="0"/>
          </a:p>
          <a:p>
            <a:pPr marL="0" indent="0">
              <a:buFontTx/>
              <a:buNone/>
            </a:pPr>
            <a:endParaRPr lang="de-DE" dirty="0"/>
          </a:p>
          <a:p>
            <a:r>
              <a:rPr lang="de-DE" dirty="0"/>
              <a:t>Not </a:t>
            </a:r>
            <a:r>
              <a:rPr lang="de-DE" dirty="0" err="1"/>
              <a:t>stated</a:t>
            </a:r>
            <a:r>
              <a:rPr lang="de-DE" dirty="0"/>
              <a:t>:</a:t>
            </a:r>
          </a:p>
          <a:p>
            <a:endParaRPr lang="de-DE" dirty="0"/>
          </a:p>
        </p:txBody>
      </p:sp>
    </p:spTree>
    <p:extLst>
      <p:ext uri="{BB962C8B-B14F-4D97-AF65-F5344CB8AC3E}">
        <p14:creationId xmlns:p14="http://schemas.microsoft.com/office/powerpoint/2010/main" val="171051899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_1/3 Farbe">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C5575610-7A69-4565-B1D6-E98B3354490C}"/>
              </a:ext>
            </a:extLst>
          </p:cNvPr>
          <p:cNvSpPr/>
          <p:nvPr/>
        </p:nvSpPr>
        <p:spPr>
          <a:xfrm>
            <a:off x="0" y="0"/>
            <a:ext cx="12192000" cy="23129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0" rIns="288000" bIns="0" anchor="ctr"/>
          <a:lstStyle/>
          <a:p>
            <a:pPr algn="ctr" eaLnBrk="1" fontAlgn="auto" hangingPunct="1">
              <a:spcBef>
                <a:spcPts val="0"/>
              </a:spcBef>
              <a:spcAft>
                <a:spcPts val="0"/>
              </a:spcAft>
              <a:defRPr/>
            </a:pPr>
            <a:endParaRPr lang="de-DE">
              <a:solidFill>
                <a:schemeClr val="bg1"/>
              </a:solidFill>
            </a:endParaRPr>
          </a:p>
        </p:txBody>
      </p:sp>
      <p:sp>
        <p:nvSpPr>
          <p:cNvPr id="7" name="Textfeld 6">
            <a:extLst>
              <a:ext uri="{FF2B5EF4-FFF2-40B4-BE49-F238E27FC236}">
                <a16:creationId xmlns:a16="http://schemas.microsoft.com/office/drawing/2014/main" id="{5113EC85-DADF-4A3B-A804-FACEE187A047}"/>
              </a:ext>
            </a:extLst>
          </p:cNvPr>
          <p:cNvSpPr txBox="1"/>
          <p:nvPr/>
        </p:nvSpPr>
        <p:spPr>
          <a:xfrm>
            <a:off x="-1776413" y="479425"/>
            <a:ext cx="1576388" cy="1323975"/>
          </a:xfrm>
          <a:prstGeom prst="rect">
            <a:avLst/>
          </a:prstGeom>
          <a:noFill/>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Institutslogo:</a:t>
            </a:r>
          </a:p>
          <a:p>
            <a:pPr eaLnBrk="1" hangingPunct="1">
              <a:buFontTx/>
              <a:buChar char="-"/>
              <a:defRPr/>
            </a:pPr>
            <a:r>
              <a:rPr lang="de-DE" altLang="de-DE" sz="1000"/>
              <a:t>Dateiformat: PNG in RGB</a:t>
            </a:r>
          </a:p>
          <a:p>
            <a:pPr eaLnBrk="1" hangingPunct="1">
              <a:buFontTx/>
              <a:buChar char="-"/>
              <a:defRPr/>
            </a:pPr>
            <a:r>
              <a:rPr lang="de-DE" altLang="de-DE" sz="1000"/>
              <a:t>Skalieren auf</a:t>
            </a:r>
          </a:p>
          <a:p>
            <a:pPr eaLnBrk="1" hangingPunct="1">
              <a:defRPr/>
            </a:pPr>
            <a:r>
              <a:rPr lang="de-DE" altLang="de-DE" sz="1000"/>
              <a:t>     Höhe: 2,26 cm</a:t>
            </a:r>
          </a:p>
          <a:p>
            <a:pPr eaLnBrk="1" hangingPunct="1">
              <a:defRPr/>
            </a:pPr>
            <a:r>
              <a:rPr lang="de-DE" altLang="de-DE" sz="1000"/>
              <a:t>     (Breite variiert je nach   </a:t>
            </a:r>
          </a:p>
          <a:p>
            <a:pPr eaLnBrk="1" hangingPunct="1">
              <a:defRPr/>
            </a:pPr>
            <a:r>
              <a:rPr lang="de-DE" altLang="de-DE" sz="1000"/>
              <a:t>     Schutzraum)</a:t>
            </a:r>
          </a:p>
        </p:txBody>
      </p:sp>
      <p:sp>
        <p:nvSpPr>
          <p:cNvPr id="5" name="Title 1"/>
          <p:cNvSpPr>
            <a:spLocks noGrp="1"/>
          </p:cNvSpPr>
          <p:nvPr>
            <p:ph type="ctrTitle"/>
          </p:nvPr>
        </p:nvSpPr>
        <p:spPr>
          <a:xfrm>
            <a:off x="3852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9" name="Grafik 14">
            <a:extLst>
              <a:ext uri="{FF2B5EF4-FFF2-40B4-BE49-F238E27FC236}">
                <a16:creationId xmlns:a16="http://schemas.microsoft.com/office/drawing/2014/main" id="{BE146E6A-AEE3-48A0-801D-5C98B8D7F5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08595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_1/3 Foto">
    <p:spTree>
      <p:nvGrpSpPr>
        <p:cNvPr id="1" name=""/>
        <p:cNvGrpSpPr/>
        <p:nvPr/>
      </p:nvGrpSpPr>
      <p:grpSpPr>
        <a:xfrm>
          <a:off x="0" y="0"/>
          <a:ext cx="0" cy="0"/>
          <a:chOff x="0" y="0"/>
          <a:chExt cx="0" cy="0"/>
        </a:xfrm>
      </p:grpSpPr>
      <p:pic>
        <p:nvPicPr>
          <p:cNvPr id="4" name="Grafik 7">
            <a:extLst>
              <a:ext uri="{FF2B5EF4-FFF2-40B4-BE49-F238E27FC236}">
                <a16:creationId xmlns:a16="http://schemas.microsoft.com/office/drawing/2014/main" id="{BE8F10BD-223D-467F-8566-B963B3245A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88"/>
            <a:ext cx="121920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feld 7">
            <a:extLst>
              <a:ext uri="{FF2B5EF4-FFF2-40B4-BE49-F238E27FC236}">
                <a16:creationId xmlns:a16="http://schemas.microsoft.com/office/drawing/2014/main" id="{67BC09ED-EB1F-408E-93CB-4A13A0E5EF59}"/>
              </a:ext>
            </a:extLst>
          </p:cNvPr>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sp>
        <p:nvSpPr>
          <p:cNvPr id="5"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6"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9" name="Grafik 14">
            <a:extLst>
              <a:ext uri="{FF2B5EF4-FFF2-40B4-BE49-F238E27FC236}">
                <a16:creationId xmlns:a16="http://schemas.microsoft.com/office/drawing/2014/main" id="{7EE959C5-3B35-42EB-9D8E-4F98CE6A67D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070877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_2/3 Foto">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D4EE611E-B53B-410B-BB0F-748799C31EBA}"/>
              </a:ext>
            </a:extLst>
          </p:cNvPr>
          <p:cNvSpPr txBox="1"/>
          <p:nvPr/>
        </p:nvSpPr>
        <p:spPr>
          <a:xfrm>
            <a:off x="-1703388" y="495300"/>
            <a:ext cx="1439863" cy="1477963"/>
          </a:xfrm>
          <a:prstGeom prst="rect">
            <a:avLst/>
          </a:prstGeom>
          <a:noFill/>
        </p:spPr>
        <p:txBody>
          <a:bodyPr>
            <a:spAutoFit/>
          </a:bodyPr>
          <a:lstStyle/>
          <a:p>
            <a:pPr eaLnBrk="1" fontAlgn="auto" hangingPunct="1">
              <a:spcBef>
                <a:spcPts val="0"/>
              </a:spcBef>
              <a:spcAft>
                <a:spcPts val="0"/>
              </a:spcAft>
              <a:defRPr/>
            </a:pPr>
            <a:r>
              <a:rPr lang="de-DE" sz="1000" b="1" dirty="0">
                <a:latin typeface="+mn-lt"/>
                <a:ea typeface="+mn-ea"/>
              </a:rPr>
              <a:t>Bild zuschneiden unter:</a:t>
            </a:r>
          </a:p>
          <a:p>
            <a:pPr marL="171450" indent="-171450" eaLnBrk="1" fontAlgn="auto" hangingPunct="1">
              <a:spcBef>
                <a:spcPts val="0"/>
              </a:spcBef>
              <a:spcAft>
                <a:spcPts val="0"/>
              </a:spcAft>
              <a:buFontTx/>
              <a:buChar char="-"/>
              <a:defRPr/>
            </a:pPr>
            <a:r>
              <a:rPr lang="de-DE" sz="1000" dirty="0">
                <a:latin typeface="+mn-lt"/>
                <a:ea typeface="+mn-ea"/>
              </a:rPr>
              <a:t>Format</a:t>
            </a:r>
          </a:p>
          <a:p>
            <a:pPr marL="171450" indent="-171450" eaLnBrk="1" fontAlgn="auto" hangingPunct="1">
              <a:spcBef>
                <a:spcPts val="0"/>
              </a:spcBef>
              <a:spcAft>
                <a:spcPts val="0"/>
              </a:spcAft>
              <a:buFontTx/>
              <a:buChar char="-"/>
              <a:defRPr/>
            </a:pPr>
            <a:r>
              <a:rPr lang="de-DE" sz="1000" dirty="0">
                <a:latin typeface="+mn-lt"/>
                <a:ea typeface="+mn-ea"/>
              </a:rPr>
              <a:t>Zuschneiden</a:t>
            </a:r>
          </a:p>
          <a:p>
            <a:pPr marL="171450" indent="-171450" eaLnBrk="1" fontAlgn="auto" hangingPunct="1">
              <a:spcBef>
                <a:spcPts val="0"/>
              </a:spcBef>
              <a:spcAft>
                <a:spcPts val="0"/>
              </a:spcAft>
              <a:buFontTx/>
              <a:buChar char="-"/>
              <a:defRPr/>
            </a:pPr>
            <a:r>
              <a:rPr lang="de-DE" sz="1000" dirty="0" err="1">
                <a:latin typeface="+mn-lt"/>
                <a:ea typeface="+mn-ea"/>
              </a:rPr>
              <a:t>Zuschneidewerkzeug</a:t>
            </a:r>
            <a:r>
              <a:rPr lang="de-DE" sz="1000" dirty="0">
                <a:latin typeface="+mn-lt"/>
                <a:ea typeface="+mn-ea"/>
              </a:rPr>
              <a:t> horizontal bis zur ersten oder zweiten Linie ziehen</a:t>
            </a:r>
          </a:p>
        </p:txBody>
      </p:sp>
      <p:pic>
        <p:nvPicPr>
          <p:cNvPr id="5" name="Grafik 9">
            <a:extLst>
              <a:ext uri="{FF2B5EF4-FFF2-40B4-BE49-F238E27FC236}">
                <a16:creationId xmlns:a16="http://schemas.microsoft.com/office/drawing/2014/main" id="{0258E79C-4EE5-45F0-90ED-92811741A33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453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ctrTitle"/>
          </p:nvPr>
        </p:nvSpPr>
        <p:spPr>
          <a:xfrm>
            <a:off x="384000" y="473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1" name="Subtitle 2"/>
          <p:cNvSpPr>
            <a:spLocks noGrp="1"/>
          </p:cNvSpPr>
          <p:nvPr>
            <p:ph type="subTitle" idx="1"/>
          </p:nvPr>
        </p:nvSpPr>
        <p:spPr>
          <a:xfrm>
            <a:off x="384000" y="5230801"/>
            <a:ext cx="11484000" cy="812813"/>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7" name="Grafik 14">
            <a:extLst>
              <a:ext uri="{FF2B5EF4-FFF2-40B4-BE49-F238E27FC236}">
                <a16:creationId xmlns:a16="http://schemas.microsoft.com/office/drawing/2014/main" id="{1F3FAFFD-AA49-45CF-87EB-53E4C44CE8FF}"/>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959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_Text">
    <p:spTree>
      <p:nvGrpSpPr>
        <p:cNvPr id="1" name=""/>
        <p:cNvGrpSpPr/>
        <p:nvPr/>
      </p:nvGrpSpPr>
      <p:grpSpPr>
        <a:xfrm>
          <a:off x="0" y="0"/>
          <a:ext cx="0" cy="0"/>
          <a:chOff x="0" y="0"/>
          <a:chExt cx="0" cy="0"/>
        </a:xfrm>
      </p:grpSpPr>
      <p:cxnSp>
        <p:nvCxnSpPr>
          <p:cNvPr id="4" name="Gerader Verbinder 3">
            <a:extLst>
              <a:ext uri="{FF2B5EF4-FFF2-40B4-BE49-F238E27FC236}">
                <a16:creationId xmlns:a16="http://schemas.microsoft.com/office/drawing/2014/main" id="{0BACA7F1-8CE0-4C7D-8279-492E1B91A710}"/>
              </a:ext>
            </a:extLst>
          </p:cNvPr>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12" name="Subtitle 2"/>
          <p:cNvSpPr>
            <a:spLocks noGrp="1"/>
          </p:cNvSpPr>
          <p:nvPr>
            <p:ph type="subTitle" idx="1"/>
          </p:nvPr>
        </p:nvSpPr>
        <p:spPr>
          <a:xfrm>
            <a:off x="384000" y="2980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14">
            <a:extLst>
              <a:ext uri="{FF2B5EF4-FFF2-40B4-BE49-F238E27FC236}">
                <a16:creationId xmlns:a16="http://schemas.microsoft.com/office/drawing/2014/main" id="{844545F9-6803-469A-BF8D-BCA10B91E8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5933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_mittig, horizontale Linie">
    <p:spTree>
      <p:nvGrpSpPr>
        <p:cNvPr id="1" name=""/>
        <p:cNvGrpSpPr/>
        <p:nvPr/>
      </p:nvGrpSpPr>
      <p:grpSpPr>
        <a:xfrm>
          <a:off x="0" y="0"/>
          <a:ext cx="0" cy="0"/>
          <a:chOff x="0" y="0"/>
          <a:chExt cx="0" cy="0"/>
        </a:xfrm>
      </p:grpSpPr>
      <p:cxnSp>
        <p:nvCxnSpPr>
          <p:cNvPr id="5" name="Gerader Verbinder 7">
            <a:extLst>
              <a:ext uri="{FF2B5EF4-FFF2-40B4-BE49-F238E27FC236}">
                <a16:creationId xmlns:a16="http://schemas.microsoft.com/office/drawing/2014/main" id="{39ECF4EF-76C6-4549-86EB-0760FBAAC044}"/>
              </a:ext>
            </a:extLst>
          </p:cNvPr>
          <p:cNvCxnSpPr/>
          <p:nvPr/>
        </p:nvCxnSpPr>
        <p:spPr>
          <a:xfrm>
            <a:off x="392113" y="30368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ctrTitle"/>
          </p:nvPr>
        </p:nvSpPr>
        <p:spPr>
          <a:xfrm>
            <a:off x="384000" y="2487600"/>
            <a:ext cx="11484000" cy="540000"/>
          </a:xfrm>
          <a:prstGeom prst="rect">
            <a:avLst/>
          </a:prstGeom>
        </p:spPr>
        <p:txBody>
          <a:bodyPr lIns="0" tIns="0" rIns="0" bIns="0" anchor="t" anchorCtr="0">
            <a:noAutofit/>
          </a:bodyPr>
          <a:lstStyle>
            <a:lvl1pPr algn="l">
              <a:defRPr sz="3200" b="1">
                <a:solidFill>
                  <a:schemeClr val="tx2"/>
                </a:solidFill>
                <a:latin typeface="Arial" panose="020B0604020202020204" pitchFamily="34" charset="0"/>
                <a:cs typeface="Arial" panose="020B0604020202020204" pitchFamily="34" charset="0"/>
              </a:defRPr>
            </a:lvl1pPr>
          </a:lstStyle>
          <a:p>
            <a:r>
              <a:rPr lang="de-DE"/>
              <a:t>Mastertitelformat bearbeiten</a:t>
            </a:r>
            <a:endParaRPr lang="en-US" dirty="0"/>
          </a:p>
        </p:txBody>
      </p:sp>
      <p:sp>
        <p:nvSpPr>
          <p:cNvPr id="9" name="Subtitle 2"/>
          <p:cNvSpPr>
            <a:spLocks noGrp="1"/>
          </p:cNvSpPr>
          <p:nvPr>
            <p:ph type="subTitle" idx="1"/>
          </p:nvPr>
        </p:nvSpPr>
        <p:spPr>
          <a:xfrm>
            <a:off x="384000" y="3196800"/>
            <a:ext cx="11484000" cy="1655762"/>
          </a:xfrm>
          <a:prstGeom prst="rect">
            <a:avLst/>
          </a:prstGeom>
        </p:spPr>
        <p:txBody>
          <a:bodyPr lIns="0" tIns="0" rIns="0" bIns="0"/>
          <a:lstStyle>
            <a:lvl1pPr marL="0" indent="0" algn="l">
              <a:lnSpc>
                <a:spcPct val="10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pic>
        <p:nvPicPr>
          <p:cNvPr id="6" name="Grafik 14">
            <a:extLst>
              <a:ext uri="{FF2B5EF4-FFF2-40B4-BE49-F238E27FC236}">
                <a16:creationId xmlns:a16="http://schemas.microsoft.com/office/drawing/2014/main" id="{B2BE1BA2-CEC2-49AA-843D-581BF914C67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2738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alt_Aufzählung">
    <p:spTree>
      <p:nvGrpSpPr>
        <p:cNvPr id="1" name=""/>
        <p:cNvGrpSpPr/>
        <p:nvPr/>
      </p:nvGrpSpPr>
      <p:grpSpPr>
        <a:xfrm>
          <a:off x="0" y="0"/>
          <a:ext cx="0" cy="0"/>
          <a:chOff x="0" y="0"/>
          <a:chExt cx="0" cy="0"/>
        </a:xfrm>
      </p:grpSpPr>
      <p:sp>
        <p:nvSpPr>
          <p:cNvPr id="12" name="Textplatzhalter 11"/>
          <p:cNvSpPr>
            <a:spLocks noGrp="1"/>
          </p:cNvSpPr>
          <p:nvPr>
            <p:ph type="body" sz="quarter" idx="13"/>
          </p:nvPr>
        </p:nvSpPr>
        <p:spPr>
          <a:xfrm>
            <a:off x="373038" y="1684800"/>
            <a:ext cx="11484000" cy="3193200"/>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6"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16311280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halt_Text">
    <p:spTree>
      <p:nvGrpSpPr>
        <p:cNvPr id="1" name=""/>
        <p:cNvGrpSpPr/>
        <p:nvPr/>
      </p:nvGrpSpPr>
      <p:grpSpPr>
        <a:xfrm>
          <a:off x="0" y="0"/>
          <a:ext cx="0" cy="0"/>
          <a:chOff x="0" y="0"/>
          <a:chExt cx="0" cy="0"/>
        </a:xfrm>
      </p:grpSpPr>
      <p:sp>
        <p:nvSpPr>
          <p:cNvPr id="2"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3"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
        <p:nvSpPr>
          <p:cNvPr id="7" name="Textplatzhalter 6"/>
          <p:cNvSpPr>
            <a:spLocks noGrp="1"/>
          </p:cNvSpPr>
          <p:nvPr>
            <p:ph type="body" sz="quarter" idx="12"/>
          </p:nvPr>
        </p:nvSpPr>
        <p:spPr>
          <a:xfrm>
            <a:off x="383117" y="1684801"/>
            <a:ext cx="11484000" cy="3751263"/>
          </a:xfrm>
          <a:prstGeom prst="rect">
            <a:avLst/>
          </a:prstGeom>
        </p:spPr>
        <p:txBody>
          <a:bodyPr lIns="0" tIns="0" rIns="0" bIns="0"/>
          <a:lstStyle>
            <a:lvl1pPr marL="0" indent="0">
              <a:buFontTx/>
              <a:buNone/>
              <a:defRPr/>
            </a:lvl1pPr>
          </a:lstStyle>
          <a:p>
            <a:pPr lvl="0"/>
            <a:r>
              <a:rPr lang="de-DE"/>
              <a:t>Mastertextformat bearbeiten</a:t>
            </a:r>
          </a:p>
        </p:txBody>
      </p:sp>
    </p:spTree>
    <p:extLst>
      <p:ext uri="{BB962C8B-B14F-4D97-AF65-F5344CB8AC3E}">
        <p14:creationId xmlns:p14="http://schemas.microsoft.com/office/powerpoint/2010/main" val="3688144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_Text_Bild">
    <p:spTree>
      <p:nvGrpSpPr>
        <p:cNvPr id="1" name=""/>
        <p:cNvGrpSpPr/>
        <p:nvPr/>
      </p:nvGrpSpPr>
      <p:grpSpPr>
        <a:xfrm>
          <a:off x="0" y="0"/>
          <a:ext cx="0" cy="0"/>
          <a:chOff x="0" y="0"/>
          <a:chExt cx="0" cy="0"/>
        </a:xfrm>
      </p:grpSpPr>
      <p:pic>
        <p:nvPicPr>
          <p:cNvPr id="5" name="Grafik 7">
            <a:extLst>
              <a:ext uri="{FF2B5EF4-FFF2-40B4-BE49-F238E27FC236}">
                <a16:creationId xmlns:a16="http://schemas.microsoft.com/office/drawing/2014/main" id="{5CF526AC-29B7-4CB1-914E-44F9FA3EF3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207375" y="1684338"/>
            <a:ext cx="3635375" cy="398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11"/>
          <p:cNvSpPr>
            <a:spLocks noGrp="1"/>
          </p:cNvSpPr>
          <p:nvPr>
            <p:ph type="body" sz="quarter" idx="14"/>
          </p:nvPr>
        </p:nvSpPr>
        <p:spPr>
          <a:xfrm>
            <a:off x="383117" y="1684800"/>
            <a:ext cx="7560000" cy="3985955"/>
          </a:xfrm>
          <a:prstGeom prst="rect">
            <a:avLst/>
          </a:prstGeom>
        </p:spPr>
        <p:txBody>
          <a:bodyPr lIns="0" tIns="0" rIns="0" bIns="0"/>
          <a:lstStyle/>
          <a:p>
            <a:pPr lvl="0"/>
            <a:r>
              <a:rPr lang="de-DE"/>
              <a:t>Mastertextformat bearbeiten</a:t>
            </a:r>
          </a:p>
          <a:p>
            <a:pPr lvl="1"/>
            <a:r>
              <a:rPr lang="de-DE"/>
              <a:t>Zweite Ebene</a:t>
            </a:r>
          </a:p>
          <a:p>
            <a:pPr lvl="2"/>
            <a:r>
              <a:rPr lang="de-DE"/>
              <a:t>Dritte Ebene</a:t>
            </a:r>
          </a:p>
          <a:p>
            <a:pPr lvl="3"/>
            <a:r>
              <a:rPr lang="de-DE"/>
              <a:t>Vierte Ebene</a:t>
            </a:r>
          </a:p>
        </p:txBody>
      </p:sp>
      <p:sp>
        <p:nvSpPr>
          <p:cNvPr id="6"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
        <p:nvSpPr>
          <p:cNvPr id="7" name="Content Placeholder 2"/>
          <p:cNvSpPr>
            <a:spLocks noGrp="1"/>
          </p:cNvSpPr>
          <p:nvPr>
            <p:ph idx="1"/>
          </p:nvPr>
        </p:nvSpPr>
        <p:spPr>
          <a:xfrm>
            <a:off x="384000" y="1152000"/>
            <a:ext cx="11484000" cy="252000"/>
          </a:xfrm>
          <a:prstGeom prst="rect">
            <a:avLst/>
          </a:prstGeom>
          <a:noFill/>
        </p:spPr>
        <p:txBody>
          <a:bodyPr lIns="0" tIns="0" rIns="0" bIns="0"/>
          <a:lstStyle>
            <a:lvl1pPr marL="0" indent="0">
              <a:lnSpc>
                <a:spcPct val="100000"/>
              </a:lnSpc>
              <a:spcBef>
                <a:spcPts val="0"/>
              </a:spcBef>
              <a:buFontTx/>
              <a:buNone/>
              <a:defRPr sz="2000" b="1" i="0"/>
            </a:lvl1pPr>
            <a:lvl2pPr marL="216000" indent="180000">
              <a:buClr>
                <a:schemeClr val="tx2"/>
              </a:buClr>
              <a:defRPr sz="1800"/>
            </a:lvl2pPr>
            <a:lvl3pPr marL="432000" indent="180000">
              <a:buClr>
                <a:schemeClr val="tx2"/>
              </a:buClr>
              <a:buFont typeface="Symbol" panose="05050102010706020507" pitchFamily="18" charset="2"/>
              <a:buChar char="-"/>
              <a:defRPr sz="1600"/>
            </a:lvl3pPr>
            <a:lvl4pPr marL="648000" indent="180000">
              <a:buClr>
                <a:schemeClr val="tx2"/>
              </a:buClr>
              <a:buFont typeface="Wingdings" panose="05000000000000000000" pitchFamily="2" charset="2"/>
              <a:buChar char="§"/>
              <a:defRPr sz="1600"/>
            </a:lvl4pPr>
            <a:lvl5pPr marL="864000" indent="180000">
              <a:buClr>
                <a:schemeClr val="tx2"/>
              </a:buClr>
              <a:buFont typeface="Arial" panose="020B0604020202020204" pitchFamily="34" charset="0"/>
              <a:buChar char="-"/>
              <a:defRPr sz="1600"/>
            </a:lvl5pPr>
          </a:lstStyle>
          <a:p>
            <a:pPr lvl="0"/>
            <a:r>
              <a:rPr lang="de-DE"/>
              <a:t>Mastertextformat bearbeiten</a:t>
            </a:r>
          </a:p>
        </p:txBody>
      </p:sp>
    </p:spTree>
    <p:extLst>
      <p:ext uri="{BB962C8B-B14F-4D97-AF65-F5344CB8AC3E}">
        <p14:creationId xmlns:p14="http://schemas.microsoft.com/office/powerpoint/2010/main" val="3040874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_Bild">
    <p:spTree>
      <p:nvGrpSpPr>
        <p:cNvPr id="1" name=""/>
        <p:cNvGrpSpPr/>
        <p:nvPr/>
      </p:nvGrpSpPr>
      <p:grpSpPr>
        <a:xfrm>
          <a:off x="0" y="0"/>
          <a:ext cx="0" cy="0"/>
          <a:chOff x="0" y="0"/>
          <a:chExt cx="0" cy="0"/>
        </a:xfrm>
      </p:grpSpPr>
      <p:pic>
        <p:nvPicPr>
          <p:cNvPr id="4" name="Grafik 7">
            <a:extLst>
              <a:ext uri="{FF2B5EF4-FFF2-40B4-BE49-F238E27FC236}">
                <a16:creationId xmlns:a16="http://schemas.microsoft.com/office/drawing/2014/main" id="{50E548E8-D756-42E7-8C62-3E71DB1E354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5763" y="1152525"/>
            <a:ext cx="11480800"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platzhalter 9"/>
          <p:cNvSpPr>
            <a:spLocks noGrp="1"/>
          </p:cNvSpPr>
          <p:nvPr>
            <p:ph type="body" sz="quarter" idx="13"/>
          </p:nvPr>
        </p:nvSpPr>
        <p:spPr>
          <a:xfrm>
            <a:off x="383117" y="5359401"/>
            <a:ext cx="11484000" cy="499533"/>
          </a:xfrm>
          <a:prstGeom prst="rect">
            <a:avLst/>
          </a:prstGeom>
        </p:spPr>
        <p:txBody>
          <a:bodyPr>
            <a:normAutofit/>
          </a:bodyPr>
          <a:lstStyle>
            <a:lvl1pPr marL="0" indent="0" algn="r">
              <a:buNone/>
              <a:defRPr sz="900" baseline="0"/>
            </a:lvl1pPr>
          </a:lstStyle>
          <a:p>
            <a:pPr lvl="0"/>
            <a:r>
              <a:rPr lang="de-DE"/>
              <a:t>Mastertextformat bearbeiten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21545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_Diagramm">
    <p:spTree>
      <p:nvGrpSpPr>
        <p:cNvPr id="1" name=""/>
        <p:cNvGrpSpPr/>
        <p:nvPr/>
      </p:nvGrpSpPr>
      <p:grpSpPr>
        <a:xfrm>
          <a:off x="0" y="0"/>
          <a:ext cx="0" cy="0"/>
          <a:chOff x="0" y="0"/>
          <a:chExt cx="0" cy="0"/>
        </a:xfrm>
      </p:grpSpPr>
      <p:sp>
        <p:nvSpPr>
          <p:cNvPr id="12" name="Textplatzhalter 24"/>
          <p:cNvSpPr>
            <a:spLocks noGrp="1"/>
          </p:cNvSpPr>
          <p:nvPr>
            <p:ph type="body" sz="quarter" idx="11"/>
          </p:nvPr>
        </p:nvSpPr>
        <p:spPr>
          <a:xfrm>
            <a:off x="384000" y="1152000"/>
            <a:ext cx="11484000" cy="252000"/>
          </a:xfrm>
          <a:prstGeom prst="rect">
            <a:avLst/>
          </a:prstGeom>
        </p:spPr>
        <p:txBody>
          <a:bodyPr lIns="0" tIns="0" rIns="0" bIns="0"/>
          <a:lstStyle>
            <a:lvl1pPr marL="0" indent="0">
              <a:lnSpc>
                <a:spcPct val="100000"/>
              </a:lnSpc>
              <a:buFontTx/>
              <a:buNone/>
              <a:defRPr sz="2000" b="1"/>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sp>
        <p:nvSpPr>
          <p:cNvPr id="9" name="Diagrammplatzhalter 8"/>
          <p:cNvSpPr>
            <a:spLocks noGrp="1"/>
          </p:cNvSpPr>
          <p:nvPr>
            <p:ph type="chart" sz="quarter" idx="13"/>
          </p:nvPr>
        </p:nvSpPr>
        <p:spPr>
          <a:xfrm>
            <a:off x="383117" y="1684800"/>
            <a:ext cx="11484000" cy="3632200"/>
          </a:xfrm>
          <a:prstGeom prst="rect">
            <a:avLst/>
          </a:prstGeom>
        </p:spPr>
        <p:txBody>
          <a:bodyPr lIns="0" tIns="0" rIns="0" bIns="0"/>
          <a:lstStyle/>
          <a:p>
            <a:pPr lvl="0"/>
            <a:r>
              <a:rPr lang="de-DE" noProof="0"/>
              <a:t>Diagramm durch Klicken auf Symbol hinzufügen</a:t>
            </a:r>
          </a:p>
        </p:txBody>
      </p:sp>
      <p:sp>
        <p:nvSpPr>
          <p:cNvPr id="5" name="Title 1"/>
          <p:cNvSpPr>
            <a:spLocks noGrp="1"/>
          </p:cNvSpPr>
          <p:nvPr>
            <p:ph type="title"/>
          </p:nvPr>
        </p:nvSpPr>
        <p:spPr>
          <a:xfrm>
            <a:off x="384000" y="201600"/>
            <a:ext cx="11484000" cy="543600"/>
          </a:xfrm>
          <a:prstGeom prst="rect">
            <a:avLst/>
          </a:prstGeom>
        </p:spPr>
        <p:txBody>
          <a:bodyPr lIns="0" tIns="0" rIns="0" bIns="0" anchor="b" anchorCtr="0"/>
          <a:lstStyle>
            <a:lvl1pPr algn="l">
              <a:defRPr sz="2000" b="1">
                <a:solidFill>
                  <a:schemeClr val="tx2"/>
                </a:solidFill>
              </a:defRPr>
            </a:lvl1pPr>
          </a:lstStyle>
          <a:p>
            <a:r>
              <a:rPr lang="de-DE"/>
              <a:t>Mastertitelformat bearbeiten</a:t>
            </a:r>
            <a:endParaRPr lang="en-US" dirty="0"/>
          </a:p>
        </p:txBody>
      </p:sp>
    </p:spTree>
    <p:extLst>
      <p:ext uri="{BB962C8B-B14F-4D97-AF65-F5344CB8AC3E}">
        <p14:creationId xmlns:p14="http://schemas.microsoft.com/office/powerpoint/2010/main" val="154652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bschlussfoli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BB3EDB2-A946-42FD-9702-24948BF3A4F1}"/>
              </a:ext>
            </a:extLst>
          </p:cNvPr>
          <p:cNvSpPr txBox="1">
            <a:spLocks/>
          </p:cNvSpPr>
          <p:nvPr/>
        </p:nvSpPr>
        <p:spPr>
          <a:xfrm>
            <a:off x="382588" y="2487613"/>
            <a:ext cx="11483975" cy="1079500"/>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lnSpc>
                <a:spcPct val="90000"/>
              </a:lnSpc>
              <a:defRPr/>
            </a:pPr>
            <a:r>
              <a:rPr lang="de-DE" altLang="de-DE" sz="3200" b="1" dirty="0" err="1">
                <a:solidFill>
                  <a:schemeClr val="tx2"/>
                </a:solidFill>
              </a:rPr>
              <a:t>Thank</a:t>
            </a:r>
            <a:r>
              <a:rPr lang="de-DE" altLang="de-DE" sz="3200" b="1" dirty="0">
                <a:solidFill>
                  <a:schemeClr val="tx2"/>
                </a:solidFill>
              </a:rPr>
              <a:t> </a:t>
            </a:r>
            <a:r>
              <a:rPr lang="de-DE" altLang="de-DE" sz="3200" b="1" dirty="0" err="1">
                <a:solidFill>
                  <a:schemeClr val="tx2"/>
                </a:solidFill>
              </a:rPr>
              <a:t>you</a:t>
            </a:r>
            <a:endParaRPr lang="en-US" altLang="de-DE" sz="3200" b="1" dirty="0">
              <a:solidFill>
                <a:schemeClr val="tx2"/>
              </a:solidFill>
            </a:endParaRPr>
          </a:p>
        </p:txBody>
      </p:sp>
      <p:cxnSp>
        <p:nvCxnSpPr>
          <p:cNvPr id="5" name="Gerader Verbinder 11">
            <a:extLst>
              <a:ext uri="{FF2B5EF4-FFF2-40B4-BE49-F238E27FC236}">
                <a16:creationId xmlns:a16="http://schemas.microsoft.com/office/drawing/2014/main" id="{6B101EF6-1AE1-4767-A73B-683987A98886}"/>
              </a:ext>
            </a:extLst>
          </p:cNvPr>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platzhalter 24"/>
          <p:cNvSpPr>
            <a:spLocks noGrp="1"/>
          </p:cNvSpPr>
          <p:nvPr>
            <p:ph type="body" sz="quarter" idx="11"/>
          </p:nvPr>
        </p:nvSpPr>
        <p:spPr>
          <a:xfrm>
            <a:off x="384000" y="3988800"/>
            <a:ext cx="11484000" cy="1656000"/>
          </a:xfrm>
          <a:prstGeom prst="rect">
            <a:avLst/>
          </a:prstGeom>
        </p:spPr>
        <p:txBody>
          <a:bodyPr lIns="0" tIns="0" rIns="0" bIns="0"/>
          <a:lstStyle>
            <a:lvl1pPr marL="0" indent="0">
              <a:lnSpc>
                <a:spcPct val="100000"/>
              </a:lnSpc>
              <a:spcBef>
                <a:spcPts val="0"/>
              </a:spcBef>
              <a:buFontTx/>
              <a:buNone/>
              <a:defRPr sz="1600" b="0"/>
            </a:lvl1pPr>
            <a:lvl2pPr marL="457200" indent="0">
              <a:buFontTx/>
              <a:buNone/>
              <a:defRPr sz="1800"/>
            </a:lvl2pPr>
            <a:lvl3pPr marL="914400" indent="0">
              <a:buFontTx/>
              <a:buNone/>
              <a:defRPr sz="1800"/>
            </a:lvl3pPr>
            <a:lvl4pPr marL="1371600" indent="0">
              <a:buFontTx/>
              <a:buNone/>
              <a:defRPr sz="1800"/>
            </a:lvl4pPr>
            <a:lvl5pPr marL="1828800" indent="0">
              <a:buFontTx/>
              <a:buNone/>
              <a:defRPr sz="1800"/>
            </a:lvl5pPr>
          </a:lstStyle>
          <a:p>
            <a:pPr lvl="0"/>
            <a:r>
              <a:rPr lang="de-DE"/>
              <a:t>Mastertextformat bearbeiten</a:t>
            </a:r>
          </a:p>
        </p:txBody>
      </p:sp>
      <p:pic>
        <p:nvPicPr>
          <p:cNvPr id="6" name="Grafik 14">
            <a:extLst>
              <a:ext uri="{FF2B5EF4-FFF2-40B4-BE49-F238E27FC236}">
                <a16:creationId xmlns:a16="http://schemas.microsoft.com/office/drawing/2014/main" id="{F1C69CA9-37B1-46BF-BEED-1F224D9B641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505565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897A0A06-3ED0-4FBF-AD6A-C681B1FBF6A1}"/>
              </a:ext>
            </a:extLst>
          </p:cNvPr>
          <p:cNvSpPr txBox="1">
            <a:spLocks/>
          </p:cNvSpPr>
          <p:nvPr/>
        </p:nvSpPr>
        <p:spPr>
          <a:xfrm>
            <a:off x="1195388" y="6227763"/>
            <a:ext cx="7002462" cy="630237"/>
          </a:xfrm>
          <a:prstGeom prst="rect">
            <a:avLst/>
          </a:prstGeom>
        </p:spPr>
        <p:txBody>
          <a:bodyPr lIns="0" tIns="0" rIns="0" bIns="0"/>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900" dirty="0" err="1">
                <a:solidFill>
                  <a:schemeClr val="tx2"/>
                </a:solidFill>
              </a:rPr>
              <a:t>Related</a:t>
            </a:r>
            <a:r>
              <a:rPr lang="de-DE" altLang="de-DE" sz="900" dirty="0">
                <a:solidFill>
                  <a:schemeClr val="tx2"/>
                </a:solidFill>
              </a:rPr>
              <a:t> Work | Antonia Gustke | </a:t>
            </a:r>
            <a:r>
              <a:rPr lang="en-US" sz="900" dirty="0">
                <a:solidFill>
                  <a:schemeClr val="tx2"/>
                </a:solidFill>
              </a:rPr>
              <a:t>Knowledge Graph-Enhanced Vision-Language Models for Radiology Report Generation</a:t>
            </a:r>
            <a:r>
              <a:rPr lang="en-US" sz="900" dirty="0"/>
              <a:t> </a:t>
            </a:r>
            <a:r>
              <a:rPr lang="de-DE" altLang="de-DE" sz="900" dirty="0">
                <a:solidFill>
                  <a:schemeClr val="tx2"/>
                </a:solidFill>
              </a:rPr>
              <a:t>| WS2025/26</a:t>
            </a:r>
          </a:p>
        </p:txBody>
      </p:sp>
      <p:cxnSp>
        <p:nvCxnSpPr>
          <p:cNvPr id="11" name="Gerader Verbinder 10">
            <a:extLst>
              <a:ext uri="{FF2B5EF4-FFF2-40B4-BE49-F238E27FC236}">
                <a16:creationId xmlns:a16="http://schemas.microsoft.com/office/drawing/2014/main" id="{4C5A2FE3-CAB4-4857-A3EC-ADF25F4E6B88}"/>
              </a:ext>
            </a:extLst>
          </p:cNvPr>
          <p:cNvCxnSpPr/>
          <p:nvPr/>
        </p:nvCxnSpPr>
        <p:spPr>
          <a:xfrm>
            <a:off x="360363" y="81438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DEECD01C-4E83-4F2F-AC6F-146FCCB9B2D4}"/>
              </a:ext>
            </a:extLst>
          </p:cNvPr>
          <p:cNvCxnSpPr/>
          <p:nvPr/>
        </p:nvCxnSpPr>
        <p:spPr>
          <a:xfrm>
            <a:off x="360363" y="6040438"/>
            <a:ext cx="114839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30" name="Textfeld 6">
            <a:extLst>
              <a:ext uri="{FF2B5EF4-FFF2-40B4-BE49-F238E27FC236}">
                <a16:creationId xmlns:a16="http://schemas.microsoft.com/office/drawing/2014/main" id="{8EECAAF6-51DE-4A47-806F-524744DF8C0D}"/>
              </a:ext>
            </a:extLst>
          </p:cNvPr>
          <p:cNvSpPr txBox="1">
            <a:spLocks noChangeArrowheads="1"/>
          </p:cNvSpPr>
          <p:nvPr/>
        </p:nvSpPr>
        <p:spPr bwMode="auto">
          <a:xfrm>
            <a:off x="-1784350" y="5073650"/>
            <a:ext cx="1668462"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r>
              <a:rPr lang="de-DE" altLang="de-DE" sz="1000" b="1"/>
              <a:t>Fußzeile anpassen:</a:t>
            </a:r>
            <a:endParaRPr lang="de-DE" altLang="de-DE" sz="1000"/>
          </a:p>
          <a:p>
            <a:pPr eaLnBrk="1" hangingPunct="1">
              <a:defRPr/>
            </a:pPr>
            <a:r>
              <a:rPr lang="de-DE" altLang="de-DE" sz="1000"/>
              <a:t>Zum Anpassen der Fußzeile unter Karteireiter Ansicht &gt; auf Folienmaster klicken. Links in der Übersicht auf die oberste Folie scrollen und dort in die Fußzeile klicken. So wird der Text automatisch auf allen Seiten angepasst.</a:t>
            </a:r>
            <a:endParaRPr lang="de-DE" altLang="de-DE" sz="1000" b="1"/>
          </a:p>
        </p:txBody>
      </p:sp>
      <p:sp>
        <p:nvSpPr>
          <p:cNvPr id="1031" name="Textfeld 13">
            <a:extLst>
              <a:ext uri="{FF2B5EF4-FFF2-40B4-BE49-F238E27FC236}">
                <a16:creationId xmlns:a16="http://schemas.microsoft.com/office/drawing/2014/main" id="{ED6CCCE8-CFD8-41FA-BD5C-3AF2942F02EC}"/>
              </a:ext>
            </a:extLst>
          </p:cNvPr>
          <p:cNvSpPr txBox="1">
            <a:spLocks noChangeArrowheads="1"/>
          </p:cNvSpPr>
          <p:nvPr/>
        </p:nvSpPr>
        <p:spPr bwMode="auto">
          <a:xfrm>
            <a:off x="360363" y="6227763"/>
            <a:ext cx="73025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fld id="{9492F1D3-FF01-4B47-92F8-A40E57589C0B}" type="slidenum">
              <a:rPr lang="de-DE" altLang="de-DE" sz="900">
                <a:solidFill>
                  <a:schemeClr val="tx2"/>
                </a:solidFill>
              </a:rPr>
              <a:pPr eaLnBrk="1" hangingPunct="1"/>
              <a:t>‹Nr.›</a:t>
            </a:fld>
            <a:endParaRPr lang="de-DE" altLang="de-DE" sz="900">
              <a:solidFill>
                <a:schemeClr val="tx2"/>
              </a:solidFill>
            </a:endParaRPr>
          </a:p>
        </p:txBody>
      </p:sp>
      <p:pic>
        <p:nvPicPr>
          <p:cNvPr id="2" name="Grafik 14">
            <a:extLst>
              <a:ext uri="{FF2B5EF4-FFF2-40B4-BE49-F238E27FC236}">
                <a16:creationId xmlns:a16="http://schemas.microsoft.com/office/drawing/2014/main" id="{F8220276-ADB8-4F0F-9AD2-C74FD80DB473}"/>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bwMode="auto">
          <a:xfrm>
            <a:off x="8557250" y="6043613"/>
            <a:ext cx="32769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57" r:id="rId6"/>
    <p:sldLayoutId id="2147483858" r:id="rId7"/>
    <p:sldLayoutId id="2147483865" r:id="rId8"/>
    <p:sldLayoutId id="2147483866" r:id="rId9"/>
    <p:sldLayoutId id="2147483859" r:id="rId10"/>
    <p:sldLayoutId id="2147483867" r:id="rId11"/>
  </p:sldLayoutIdLst>
  <p:hf hdr="0" ftr="0" dt="0"/>
  <p:txStyles>
    <p:titleStyle>
      <a:lvl1pPr algn="l" rtl="0" eaLnBrk="1" fontAlgn="base" hangingPunct="1">
        <a:lnSpc>
          <a:spcPct val="90000"/>
        </a:lnSpc>
        <a:spcBef>
          <a:spcPct val="0"/>
        </a:spcBef>
        <a:spcAft>
          <a:spcPct val="0"/>
        </a:spcAft>
        <a:defRPr sz="4400" kern="120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ＭＳ Ｐゴシック" charset="0"/>
          <a:cs typeface="Arial" panose="020B0604020202020204" pitchFamily="34" charset="0"/>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cs typeface="Arial" panose="020B0604020202020204" pitchFamily="34" charset="0"/>
        </a:defRPr>
      </a:lvl9pPr>
    </p:titleStyle>
    <p:bodyStyle>
      <a:lvl1pPr marL="215900" indent="-215900" algn="l" defTabSz="215900" rtl="0" eaLnBrk="1" fontAlgn="base" hangingPunct="1">
        <a:spcBef>
          <a:spcPct val="0"/>
        </a:spcBef>
        <a:spcAft>
          <a:spcPct val="0"/>
        </a:spcAft>
        <a:buClr>
          <a:schemeClr val="tx2"/>
        </a:buClr>
        <a:buFont typeface="Arial" panose="020B0604020202020204" pitchFamily="34" charset="0"/>
        <a:buChar char="•"/>
        <a:tabLst>
          <a:tab pos="215900" algn="l"/>
        </a:tabLst>
        <a:defRPr kern="1200">
          <a:solidFill>
            <a:schemeClr val="tx1"/>
          </a:solidFill>
          <a:latin typeface="Arial" panose="020B0604020202020204" pitchFamily="34" charset="0"/>
          <a:ea typeface="ＭＳ Ｐゴシック" charset="0"/>
          <a:cs typeface="Arial" panose="020B0604020202020204" pitchFamily="34" charset="0"/>
        </a:defRPr>
      </a:lvl1pPr>
      <a:lvl2pPr marL="431800" indent="-215900" algn="l" rtl="0" eaLnBrk="1" fontAlgn="base" hangingPunct="1">
        <a:spcBef>
          <a:spcPct val="0"/>
        </a:spcBef>
        <a:spcAft>
          <a:spcPct val="0"/>
        </a:spcAft>
        <a:buClr>
          <a:schemeClr val="tx2"/>
        </a:buClr>
        <a:buFont typeface="Symbol" panose="05050102010706020507" pitchFamily="18" charset="2"/>
        <a:buChar char="-"/>
        <a:tabLst>
          <a:tab pos="431800" algn="l"/>
        </a:tabLst>
        <a:defRPr sz="1600" kern="1200">
          <a:solidFill>
            <a:schemeClr val="tx1"/>
          </a:solidFill>
          <a:latin typeface="Arial" panose="020B0604020202020204" pitchFamily="34" charset="0"/>
          <a:ea typeface="Arial" charset="0"/>
          <a:cs typeface="Arial" panose="020B0604020202020204" pitchFamily="34" charset="0"/>
        </a:defRPr>
      </a:lvl2pPr>
      <a:lvl3pPr marL="647700" indent="-215900" algn="l" defTabSz="215900" rtl="0" eaLnBrk="1" fontAlgn="base" hangingPunct="1">
        <a:spcBef>
          <a:spcPct val="0"/>
        </a:spcBef>
        <a:spcAft>
          <a:spcPct val="0"/>
        </a:spcAft>
        <a:buClr>
          <a:schemeClr val="tx2"/>
        </a:buClr>
        <a:buSzPct val="80000"/>
        <a:buFont typeface="Wingdings" panose="05000000000000000000" pitchFamily="2"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863600" indent="-215900" algn="l" defTabSz="215900" rtl="0" eaLnBrk="1" fontAlgn="base" hangingPunct="1">
        <a:spcBef>
          <a:spcPct val="0"/>
        </a:spcBef>
        <a:spcAft>
          <a:spcPct val="0"/>
        </a:spcAft>
        <a:buClr>
          <a:schemeClr val="tx2"/>
        </a:buClr>
        <a:buSzPct val="100000"/>
        <a:buFont typeface="Arial" panose="020B0604020202020204" pitchFamily="34" charset="0"/>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3600" indent="-2159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1.svg"/><Relationship Id="rId4" Type="http://schemas.openxmlformats.org/officeDocument/2006/relationships/image" Target="../media/image7.sv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7.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18653/v1/2025.acl-long.1279"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el 1">
            <a:extLst>
              <a:ext uri="{FF2B5EF4-FFF2-40B4-BE49-F238E27FC236}">
                <a16:creationId xmlns:a16="http://schemas.microsoft.com/office/drawing/2014/main" id="{8C797AB0-9B27-447C-A8E5-77C549306087}"/>
              </a:ext>
            </a:extLst>
          </p:cNvPr>
          <p:cNvSpPr>
            <a:spLocks noGrp="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eaLnBrk="1" hangingPunct="1"/>
            <a:r>
              <a:rPr lang="de-DE" altLang="de-DE" dirty="0" err="1">
                <a:ea typeface="ＭＳ Ｐゴシック" panose="020B0600070205080204" pitchFamily="34" charset="-128"/>
              </a:rPr>
              <a:t>Related</a:t>
            </a:r>
            <a:r>
              <a:rPr lang="de-DE" altLang="de-DE" dirty="0">
                <a:ea typeface="ＭＳ Ｐゴシック" panose="020B0600070205080204" pitchFamily="34" charset="-128"/>
              </a:rPr>
              <a:t> Work</a:t>
            </a:r>
          </a:p>
        </p:txBody>
      </p:sp>
      <p:sp>
        <p:nvSpPr>
          <p:cNvPr id="10243" name="Untertitel 2">
            <a:extLst>
              <a:ext uri="{FF2B5EF4-FFF2-40B4-BE49-F238E27FC236}">
                <a16:creationId xmlns:a16="http://schemas.microsoft.com/office/drawing/2014/main" id="{99C85671-ACC6-4C58-A8D3-35222A0E58FC}"/>
              </a:ext>
            </a:extLst>
          </p:cNvPr>
          <p:cNvSpPr>
            <a:spLocks noGrp="1"/>
          </p:cNvSpPr>
          <p:nvPr>
            <p:ph type="subTitle"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r>
              <a:rPr lang="en-US" dirty="0"/>
              <a:t>Knowledge Graph-Enhanced Vision-Language Models for Radiology Report Generation</a:t>
            </a:r>
            <a:endParaRPr lang="de-DE" dirty="0"/>
          </a:p>
          <a:p>
            <a:r>
              <a:rPr lang="de-DE" dirty="0"/>
              <a:t>Master Thesis </a:t>
            </a:r>
            <a:r>
              <a:rPr lang="de-DE" dirty="0" err="1"/>
              <a:t>Proposal</a:t>
            </a:r>
            <a:endParaRPr lang="de-DE" altLang="de-DE" dirty="0">
              <a:ea typeface="ＭＳ Ｐゴシック" panose="020B0600070205080204" pitchFamily="34" charset="-128"/>
            </a:endParaRPr>
          </a:p>
          <a:p>
            <a:pPr eaLnBrk="1" hangingPunct="1"/>
            <a:r>
              <a:rPr lang="de-DE" altLang="de-DE" dirty="0">
                <a:ea typeface="ＭＳ Ｐゴシック" panose="020B0600070205080204" pitchFamily="34" charset="-128"/>
              </a:rPr>
              <a:t>Antonia Gustke, 460097</a:t>
            </a:r>
          </a:p>
          <a:p>
            <a:pPr eaLnBrk="1" hangingPunct="1"/>
            <a:r>
              <a:rPr lang="de-DE" altLang="de-DE" dirty="0" err="1">
                <a:ea typeface="ＭＳ Ｐゴシック" panose="020B0600070205080204" pitchFamily="34" charset="-128"/>
              </a:rPr>
              <a:t>Advisor</a:t>
            </a:r>
            <a:r>
              <a:rPr lang="de-DE" altLang="de-DE" dirty="0">
                <a:ea typeface="ＭＳ Ｐゴシック" panose="020B0600070205080204" pitchFamily="34" charset="-128"/>
              </a:rPr>
              <a:t>: </a:t>
            </a:r>
            <a:r>
              <a:rPr lang="de-DE" altLang="de-DE" dirty="0" err="1">
                <a:ea typeface="ＭＳ Ｐゴシック" panose="020B0600070205080204" pitchFamily="34" charset="-128"/>
              </a:rPr>
              <a:t>Yongli</a:t>
            </a:r>
            <a:r>
              <a:rPr lang="de-DE" altLang="de-DE" dirty="0">
                <a:ea typeface="ＭＳ Ｐゴシック" panose="020B0600070205080204" pitchFamily="34" charset="-128"/>
              </a:rPr>
              <a:t> </a:t>
            </a:r>
            <a:r>
              <a:rPr lang="de-DE" altLang="de-DE" dirty="0" err="1">
                <a:ea typeface="ＭＳ Ｐゴシック" panose="020B0600070205080204" pitchFamily="34" charset="-128"/>
              </a:rPr>
              <a:t>Mou</a:t>
            </a:r>
            <a:r>
              <a:rPr lang="de-DE" altLang="de-DE" dirty="0">
                <a:ea typeface="ＭＳ Ｐゴシック" panose="020B0600070205080204" pitchFamily="34" charset="-128"/>
              </a:rPr>
              <a:t>, </a:t>
            </a:r>
            <a:r>
              <a:rPr lang="de-DE" altLang="de-DE" dirty="0" err="1">
                <a:ea typeface="ＭＳ Ｐゴシック" panose="020B0600070205080204" pitchFamily="34" charset="-128"/>
              </a:rPr>
              <a:t>M.Sc</a:t>
            </a:r>
            <a:r>
              <a:rPr lang="de-DE" altLang="de-DE" dirty="0">
                <a:ea typeface="ＭＳ Ｐゴシック" panose="020B0600070205080204" pitchFamily="34" charset="-128"/>
              </a:rPr>
              <a:t>.</a:t>
            </a:r>
          </a:p>
          <a:p>
            <a:pPr eaLnBrk="1" hangingPunct="1"/>
            <a:r>
              <a:rPr lang="de-DE" altLang="de-DE" dirty="0">
                <a:ea typeface="ＭＳ Ｐゴシック" panose="020B0600070205080204" pitchFamily="34" charset="-128"/>
              </a:rPr>
              <a:t>Supervisor: Prof. Dr. Stefan Decker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973128-4D8A-BEBB-F2E1-D3F04E0E28FA}"/>
              </a:ext>
            </a:extLst>
          </p:cNvPr>
          <p:cNvSpPr>
            <a:spLocks noGrp="1"/>
          </p:cNvSpPr>
          <p:nvPr>
            <p:ph type="ctrTitle"/>
          </p:nvPr>
        </p:nvSpPr>
        <p:spPr/>
        <p:txBody>
          <a:bodyPr/>
          <a:lstStyle/>
          <a:p>
            <a:r>
              <a:rPr lang="de-DE" dirty="0"/>
              <a:t>Knowledge Integration in </a:t>
            </a:r>
            <a:r>
              <a:rPr lang="de-DE" dirty="0" err="1"/>
              <a:t>Radiology</a:t>
            </a:r>
            <a:r>
              <a:rPr lang="de-DE" dirty="0"/>
              <a:t> Report Generation</a:t>
            </a:r>
          </a:p>
        </p:txBody>
      </p:sp>
      <p:sp>
        <p:nvSpPr>
          <p:cNvPr id="3" name="Untertitel 2">
            <a:extLst>
              <a:ext uri="{FF2B5EF4-FFF2-40B4-BE49-F238E27FC236}">
                <a16:creationId xmlns:a16="http://schemas.microsoft.com/office/drawing/2014/main" id="{0C645545-3EDD-BAFF-5061-FE3A71B09371}"/>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2788731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89076C2D-92C0-950C-1A95-11415EA33D00}"/>
              </a:ext>
            </a:extLst>
          </p:cNvPr>
          <p:cNvSpPr>
            <a:spLocks noGrp="1"/>
          </p:cNvSpPr>
          <p:nvPr>
            <p:ph type="body" sz="quarter" idx="13"/>
          </p:nvPr>
        </p:nvSpPr>
        <p:spPr>
          <a:xfrm>
            <a:off x="384000" y="1301976"/>
            <a:ext cx="5612614" cy="4805630"/>
          </a:xfrm>
        </p:spPr>
        <p:txBody>
          <a:bodyPr/>
          <a:lstStyle/>
          <a:p>
            <a:pPr algn="just"/>
            <a:r>
              <a:rPr lang="en-US" sz="1400" b="1" dirty="0"/>
              <a:t>Problems</a:t>
            </a:r>
          </a:p>
          <a:p>
            <a:pPr lvl="1" algn="just"/>
            <a:r>
              <a:rPr lang="en-US" sz="1200" dirty="0"/>
              <a:t>Visual and textual bias in automatic Radiology Report Generation: normal x-rays dominate the dataset, and reports contain many repetitive sentences describing normal findings</a:t>
            </a:r>
            <a:endParaRPr lang="en-US" sz="1200" b="1" dirty="0"/>
          </a:p>
          <a:p>
            <a:pPr algn="just"/>
            <a:r>
              <a:rPr lang="en-US" sz="1400" b="1" dirty="0"/>
              <a:t>Approach</a:t>
            </a:r>
          </a:p>
          <a:p>
            <a:pPr lvl="1" algn="just"/>
            <a:r>
              <a:rPr lang="en-US" sz="1200" dirty="0"/>
              <a:t>The authors introduce a framework named </a:t>
            </a:r>
            <a:r>
              <a:rPr lang="en-US" sz="1200" b="1" dirty="0"/>
              <a:t>PPKED</a:t>
            </a:r>
            <a:r>
              <a:rPr lang="en-US" sz="1200" dirty="0"/>
              <a:t> (Posterior-and-Prior Knowledge Exploring-and-Distilling).</a:t>
            </a:r>
          </a:p>
          <a:p>
            <a:pPr lvl="1" algn="just"/>
            <a:r>
              <a:rPr lang="en-US" sz="1200" dirty="0"/>
              <a:t>It consists of three modules</a:t>
            </a:r>
          </a:p>
          <a:p>
            <a:pPr lvl="2" algn="just"/>
            <a:r>
              <a:rPr lang="de-DE" sz="1200" b="1" dirty="0" err="1"/>
              <a:t>Posterior</a:t>
            </a:r>
            <a:r>
              <a:rPr lang="de-DE" sz="1200" b="1" dirty="0"/>
              <a:t> Knowledge Explorer (</a:t>
            </a:r>
            <a:r>
              <a:rPr lang="de-DE" sz="1200" b="1" dirty="0" err="1"/>
              <a:t>PoKE</a:t>
            </a:r>
            <a:r>
              <a:rPr lang="de-DE" sz="1200" b="1" dirty="0"/>
              <a:t>):</a:t>
            </a:r>
            <a:r>
              <a:rPr lang="de-DE" sz="1200" dirty="0"/>
              <a:t> </a:t>
            </a:r>
            <a:r>
              <a:rPr lang="en-US" sz="1200" dirty="0"/>
              <a:t>detects abnormal regions by aligning image features with 20 common abnormality topics</a:t>
            </a:r>
            <a:endParaRPr lang="de-DE" sz="1200" dirty="0"/>
          </a:p>
          <a:p>
            <a:pPr lvl="2" algn="just"/>
            <a:r>
              <a:rPr lang="de-DE" sz="1200" b="1" dirty="0"/>
              <a:t>Prior Knowledge Explorer (</a:t>
            </a:r>
            <a:r>
              <a:rPr lang="de-DE" sz="1200" b="1" dirty="0" err="1"/>
              <a:t>PrKE</a:t>
            </a:r>
            <a:r>
              <a:rPr lang="de-DE" sz="1200" b="1" dirty="0"/>
              <a:t>): </a:t>
            </a:r>
            <a:r>
              <a:rPr lang="en-US" sz="1200" dirty="0"/>
              <a:t>retrieves prior knowledge in the form of prior working experience (most similar reports) and medical knowledge (graph containing 20 common abnormalities)</a:t>
            </a:r>
            <a:endParaRPr lang="de-DE" sz="1200" dirty="0"/>
          </a:p>
          <a:p>
            <a:pPr lvl="2" algn="just"/>
            <a:r>
              <a:rPr lang="en-US" sz="1200" b="1" dirty="0"/>
              <a:t>Multi-domain Knowledge Distiller (MKD):</a:t>
            </a:r>
            <a:r>
              <a:rPr lang="en-US" sz="1200" dirty="0"/>
              <a:t> combines the posterior and prior knowledge to generate a report using an adaptive distilling attention mechanism</a:t>
            </a:r>
          </a:p>
          <a:p>
            <a:pPr algn="just"/>
            <a:r>
              <a:rPr lang="en-US" sz="1400" b="1" dirty="0"/>
              <a:t>Results</a:t>
            </a:r>
          </a:p>
          <a:p>
            <a:pPr lvl="1" algn="just"/>
            <a:r>
              <a:rPr lang="en-US" sz="1200" dirty="0"/>
              <a:t>Improved common NLG scores (BLEU-1/2/3/4, METEOR, ROUGE-L and </a:t>
            </a:r>
            <a:r>
              <a:rPr lang="en-US" sz="1200" dirty="0" err="1"/>
              <a:t>CIDEr</a:t>
            </a:r>
            <a:r>
              <a:rPr lang="en-US" sz="1200" dirty="0"/>
              <a:t>) by 1.3%-4.9% on the MIMIC-CXR and IU-Xray Datasets over previous SOTA models and improved disease classification results</a:t>
            </a:r>
          </a:p>
          <a:p>
            <a:pPr lvl="1" algn="just"/>
            <a:r>
              <a:rPr lang="en-US" sz="1200" dirty="0"/>
              <a:t>Each module (</a:t>
            </a:r>
            <a:r>
              <a:rPr lang="en-US" sz="1200" dirty="0" err="1"/>
              <a:t>PoKE</a:t>
            </a:r>
            <a:r>
              <a:rPr lang="en-US" sz="1200" dirty="0"/>
              <a:t>, </a:t>
            </a:r>
            <a:r>
              <a:rPr lang="en-US" sz="1200" dirty="0" err="1"/>
              <a:t>PrKE</a:t>
            </a:r>
            <a:r>
              <a:rPr lang="en-US" sz="1200" dirty="0"/>
              <a:t>, MKD) contributes measurable gains in ablation studies</a:t>
            </a:r>
          </a:p>
          <a:p>
            <a:pPr algn="just"/>
            <a:r>
              <a:rPr lang="en-US" sz="1400" b="1" dirty="0"/>
              <a:t>Key Takeaway</a:t>
            </a:r>
          </a:p>
          <a:p>
            <a:pPr lvl="1" algn="just"/>
            <a:r>
              <a:rPr lang="en-US" sz="1200" dirty="0"/>
              <a:t>Mimics a radiologist’s workflow by combining observed (posterior) and learned (prior) knowledge for better report generation.</a:t>
            </a:r>
            <a:endParaRPr lang="en-US" sz="1200" b="1" dirty="0"/>
          </a:p>
          <a:p>
            <a:pPr algn="just"/>
            <a:endParaRPr lang="en-US" sz="1600" b="1" dirty="0"/>
          </a:p>
          <a:p>
            <a:pPr algn="just"/>
            <a:endParaRPr lang="de-DE" sz="1200" dirty="0"/>
          </a:p>
        </p:txBody>
      </p:sp>
      <p:sp>
        <p:nvSpPr>
          <p:cNvPr id="3" name="Titel 2">
            <a:extLst>
              <a:ext uri="{FF2B5EF4-FFF2-40B4-BE49-F238E27FC236}">
                <a16:creationId xmlns:a16="http://schemas.microsoft.com/office/drawing/2014/main" id="{157E13D3-7AE5-CBEB-69ED-CB78C82EBBD3}"/>
              </a:ext>
            </a:extLst>
          </p:cNvPr>
          <p:cNvSpPr>
            <a:spLocks noGrp="1"/>
          </p:cNvSpPr>
          <p:nvPr>
            <p:ph type="title"/>
          </p:nvPr>
        </p:nvSpPr>
        <p:spPr/>
        <p:txBody>
          <a:bodyPr/>
          <a:lstStyle/>
          <a:p>
            <a:r>
              <a:rPr lang="en-US" dirty="0"/>
              <a:t>Exploring and Distilling Posterior and Prior Knowledge for Radiology Report Generation</a:t>
            </a:r>
            <a:br>
              <a:rPr lang="en-US" dirty="0"/>
            </a:br>
            <a:r>
              <a:rPr lang="en-US" dirty="0"/>
              <a:t>(Liu et al., 2021) [1]</a:t>
            </a:r>
            <a:endParaRPr lang="de-DE" dirty="0"/>
          </a:p>
        </p:txBody>
      </p:sp>
      <p:sp>
        <p:nvSpPr>
          <p:cNvPr id="4" name="Inhaltsplatzhalter 3">
            <a:extLst>
              <a:ext uri="{FF2B5EF4-FFF2-40B4-BE49-F238E27FC236}">
                <a16:creationId xmlns:a16="http://schemas.microsoft.com/office/drawing/2014/main" id="{94C0F738-A2DE-353D-74B0-F488090BDB2F}"/>
              </a:ext>
            </a:extLst>
          </p:cNvPr>
          <p:cNvSpPr>
            <a:spLocks noGrp="1"/>
          </p:cNvSpPr>
          <p:nvPr>
            <p:ph idx="1"/>
          </p:nvPr>
        </p:nvSpPr>
        <p:spPr>
          <a:xfrm>
            <a:off x="384000" y="897588"/>
            <a:ext cx="11484000" cy="252000"/>
          </a:xfrm>
        </p:spPr>
        <p:txBody>
          <a:bodyPr/>
          <a:lstStyle/>
          <a:p>
            <a:r>
              <a:rPr lang="en-US" sz="1800" dirty="0"/>
              <a:t>Proceedings of the IEEE/CVF Conference on Computer Vision and Pattern Recognition (CVPR)</a:t>
            </a:r>
            <a:endParaRPr lang="de-DE" sz="1800" dirty="0"/>
          </a:p>
        </p:txBody>
      </p:sp>
      <p:grpSp>
        <p:nvGrpSpPr>
          <p:cNvPr id="97" name="Gruppieren 96">
            <a:extLst>
              <a:ext uri="{FF2B5EF4-FFF2-40B4-BE49-F238E27FC236}">
                <a16:creationId xmlns:a16="http://schemas.microsoft.com/office/drawing/2014/main" id="{8FF661D4-5945-6112-1CD2-667826396BBB}"/>
              </a:ext>
            </a:extLst>
          </p:cNvPr>
          <p:cNvGrpSpPr/>
          <p:nvPr/>
        </p:nvGrpSpPr>
        <p:grpSpPr>
          <a:xfrm>
            <a:off x="7130727" y="1585775"/>
            <a:ext cx="993505" cy="1006064"/>
            <a:chOff x="8088548" y="1293780"/>
            <a:chExt cx="993505" cy="1006064"/>
          </a:xfrm>
        </p:grpSpPr>
        <p:grpSp>
          <p:nvGrpSpPr>
            <p:cNvPr id="93" name="Gruppieren 92">
              <a:extLst>
                <a:ext uri="{FF2B5EF4-FFF2-40B4-BE49-F238E27FC236}">
                  <a16:creationId xmlns:a16="http://schemas.microsoft.com/office/drawing/2014/main" id="{750358B1-28AB-164F-7141-350968317F98}"/>
                </a:ext>
              </a:extLst>
            </p:cNvPr>
            <p:cNvGrpSpPr/>
            <p:nvPr/>
          </p:nvGrpSpPr>
          <p:grpSpPr>
            <a:xfrm>
              <a:off x="8167653" y="1293780"/>
              <a:ext cx="914400" cy="914400"/>
              <a:chOff x="8088548" y="1377607"/>
              <a:chExt cx="914400" cy="914400"/>
            </a:xfrm>
          </p:grpSpPr>
          <p:pic>
            <p:nvPicPr>
              <p:cNvPr id="94" name="Grafik 93" descr="Papier Silhouette">
                <a:extLst>
                  <a:ext uri="{FF2B5EF4-FFF2-40B4-BE49-F238E27FC236}">
                    <a16:creationId xmlns:a16="http://schemas.microsoft.com/office/drawing/2014/main" id="{6697CB6F-0061-1019-3889-5E0F5D76C4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8548" y="1377607"/>
                <a:ext cx="914400" cy="914400"/>
              </a:xfrm>
              <a:prstGeom prst="rect">
                <a:avLst/>
              </a:prstGeom>
            </p:spPr>
          </p:pic>
          <p:sp>
            <p:nvSpPr>
              <p:cNvPr id="95" name="Rechteck: eine Ecke abgeschnitten 90">
                <a:extLst>
                  <a:ext uri="{FF2B5EF4-FFF2-40B4-BE49-F238E27FC236}">
                    <a16:creationId xmlns:a16="http://schemas.microsoft.com/office/drawing/2014/main" id="{F7866B11-E630-8D42-E9F4-14889A2178C3}"/>
                  </a:ext>
                </a:extLst>
              </p:cNvPr>
              <p:cNvSpPr/>
              <p:nvPr/>
            </p:nvSpPr>
            <p:spPr>
              <a:xfrm>
                <a:off x="8254031" y="1555771"/>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92" name="Gruppieren 91">
              <a:extLst>
                <a:ext uri="{FF2B5EF4-FFF2-40B4-BE49-F238E27FC236}">
                  <a16:creationId xmlns:a16="http://schemas.microsoft.com/office/drawing/2014/main" id="{633C4212-D14E-6D24-BCCA-79498C877FC3}"/>
                </a:ext>
              </a:extLst>
            </p:cNvPr>
            <p:cNvGrpSpPr/>
            <p:nvPr/>
          </p:nvGrpSpPr>
          <p:grpSpPr>
            <a:xfrm>
              <a:off x="8088548" y="1377607"/>
              <a:ext cx="914400" cy="914400"/>
              <a:chOff x="8088548" y="1377607"/>
              <a:chExt cx="914400" cy="914400"/>
            </a:xfrm>
          </p:grpSpPr>
          <p:pic>
            <p:nvPicPr>
              <p:cNvPr id="90" name="Grafik 89" descr="Papier Silhouette">
                <a:extLst>
                  <a:ext uri="{FF2B5EF4-FFF2-40B4-BE49-F238E27FC236}">
                    <a16:creationId xmlns:a16="http://schemas.microsoft.com/office/drawing/2014/main" id="{E83B875D-5AC0-C59C-DB58-3E1651929DD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8548" y="1377607"/>
                <a:ext cx="914400" cy="914400"/>
              </a:xfrm>
              <a:prstGeom prst="rect">
                <a:avLst/>
              </a:prstGeom>
            </p:spPr>
          </p:pic>
          <p:sp>
            <p:nvSpPr>
              <p:cNvPr id="91" name="Rechteck: eine Ecke abgeschnitten 90">
                <a:extLst>
                  <a:ext uri="{FF2B5EF4-FFF2-40B4-BE49-F238E27FC236}">
                    <a16:creationId xmlns:a16="http://schemas.microsoft.com/office/drawing/2014/main" id="{BECB8821-39EC-8732-19FB-5FA0AF85A7B0}"/>
                  </a:ext>
                </a:extLst>
              </p:cNvPr>
              <p:cNvSpPr/>
              <p:nvPr/>
            </p:nvSpPr>
            <p:spPr>
              <a:xfrm>
                <a:off x="8254031" y="1555771"/>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52" name="Grafik 6" descr="Dokument Silhouette">
              <a:extLst>
                <a:ext uri="{FF2B5EF4-FFF2-40B4-BE49-F238E27FC236}">
                  <a16:creationId xmlns:a16="http://schemas.microsoft.com/office/drawing/2014/main" id="{F301A4E7-1677-F059-BCE4-50759AA60152}"/>
                </a:ext>
              </a:extLst>
            </p:cNvPr>
            <p:cNvGrpSpPr/>
            <p:nvPr/>
          </p:nvGrpSpPr>
          <p:grpSpPr>
            <a:xfrm>
              <a:off x="8185078" y="1537844"/>
              <a:ext cx="571500" cy="762000"/>
              <a:chOff x="8185078" y="1537844"/>
              <a:chExt cx="571500" cy="762000"/>
            </a:xfrm>
            <a:solidFill>
              <a:srgbClr val="000000"/>
            </a:solidFill>
          </p:grpSpPr>
          <p:sp>
            <p:nvSpPr>
              <p:cNvPr id="53" name="Freihandform: Form 52">
                <a:extLst>
                  <a:ext uri="{FF2B5EF4-FFF2-40B4-BE49-F238E27FC236}">
                    <a16:creationId xmlns:a16="http://schemas.microsoft.com/office/drawing/2014/main" id="{D701B486-EED9-E968-68B7-DC618A4B0105}"/>
                  </a:ext>
                </a:extLst>
              </p:cNvPr>
              <p:cNvSpPr/>
              <p:nvPr/>
            </p:nvSpPr>
            <p:spPr>
              <a:xfrm>
                <a:off x="8280328" y="18616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4" name="Freihandform: Form 53">
                <a:extLst>
                  <a:ext uri="{FF2B5EF4-FFF2-40B4-BE49-F238E27FC236}">
                    <a16:creationId xmlns:a16="http://schemas.microsoft.com/office/drawing/2014/main" id="{A412C9D5-9972-DFAF-3272-5AF878B5BF96}"/>
                  </a:ext>
                </a:extLst>
              </p:cNvPr>
              <p:cNvSpPr/>
              <p:nvPr/>
            </p:nvSpPr>
            <p:spPr>
              <a:xfrm>
                <a:off x="8280328" y="1785494"/>
                <a:ext cx="180975" cy="19050"/>
              </a:xfrm>
              <a:custGeom>
                <a:avLst/>
                <a:gdLst>
                  <a:gd name="connsiteX0" fmla="*/ 0 w 180975"/>
                  <a:gd name="connsiteY0" fmla="*/ 0 h 19050"/>
                  <a:gd name="connsiteX1" fmla="*/ 180975 w 180975"/>
                  <a:gd name="connsiteY1" fmla="*/ 0 h 19050"/>
                  <a:gd name="connsiteX2" fmla="*/ 180975 w 180975"/>
                  <a:gd name="connsiteY2" fmla="*/ 19050 h 19050"/>
                  <a:gd name="connsiteX3" fmla="*/ 0 w 180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80975" h="19050">
                    <a:moveTo>
                      <a:pt x="0" y="0"/>
                    </a:moveTo>
                    <a:lnTo>
                      <a:pt x="180975" y="0"/>
                    </a:lnTo>
                    <a:lnTo>
                      <a:pt x="180975"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5" name="Freihandform: Form 54">
                <a:extLst>
                  <a:ext uri="{FF2B5EF4-FFF2-40B4-BE49-F238E27FC236}">
                    <a16:creationId xmlns:a16="http://schemas.microsoft.com/office/drawing/2014/main" id="{F20F6F40-C216-8F29-8FBD-60F957DF3F7F}"/>
                  </a:ext>
                </a:extLst>
              </p:cNvPr>
              <p:cNvSpPr/>
              <p:nvPr/>
            </p:nvSpPr>
            <p:spPr>
              <a:xfrm>
                <a:off x="8280328" y="19378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6" name="Freihandform: Form 55">
                <a:extLst>
                  <a:ext uri="{FF2B5EF4-FFF2-40B4-BE49-F238E27FC236}">
                    <a16:creationId xmlns:a16="http://schemas.microsoft.com/office/drawing/2014/main" id="{81613BD2-86F5-05C4-719A-7315D50B7ACC}"/>
                  </a:ext>
                </a:extLst>
              </p:cNvPr>
              <p:cNvSpPr/>
              <p:nvPr/>
            </p:nvSpPr>
            <p:spPr>
              <a:xfrm>
                <a:off x="8280328" y="20140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7" name="Freihandform: Form 56">
                <a:extLst>
                  <a:ext uri="{FF2B5EF4-FFF2-40B4-BE49-F238E27FC236}">
                    <a16:creationId xmlns:a16="http://schemas.microsoft.com/office/drawing/2014/main" id="{55DE9441-4D96-F5D4-F026-59B3B7D97415}"/>
                  </a:ext>
                </a:extLst>
              </p:cNvPr>
              <p:cNvSpPr/>
              <p:nvPr/>
            </p:nvSpPr>
            <p:spPr>
              <a:xfrm>
                <a:off x="8280328" y="20902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8" name="Freihandform: Form 57">
                <a:extLst>
                  <a:ext uri="{FF2B5EF4-FFF2-40B4-BE49-F238E27FC236}">
                    <a16:creationId xmlns:a16="http://schemas.microsoft.com/office/drawing/2014/main" id="{96F3025F-8A47-721E-A9D9-D9345C1626B9}"/>
                  </a:ext>
                </a:extLst>
              </p:cNvPr>
              <p:cNvSpPr/>
              <p:nvPr/>
            </p:nvSpPr>
            <p:spPr>
              <a:xfrm>
                <a:off x="8280328" y="21664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59" name="Freihandform: Form 58">
                <a:extLst>
                  <a:ext uri="{FF2B5EF4-FFF2-40B4-BE49-F238E27FC236}">
                    <a16:creationId xmlns:a16="http://schemas.microsoft.com/office/drawing/2014/main" id="{BC776D94-F335-6882-6B02-33BB120BFB92}"/>
                  </a:ext>
                </a:extLst>
              </p:cNvPr>
              <p:cNvSpPr/>
              <p:nvPr/>
            </p:nvSpPr>
            <p:spPr>
              <a:xfrm>
                <a:off x="8185078" y="1537844"/>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de-DE"/>
              </a:p>
            </p:txBody>
          </p:sp>
        </p:grpSp>
      </p:grpSp>
      <p:grpSp>
        <p:nvGrpSpPr>
          <p:cNvPr id="111" name="Gruppieren 110">
            <a:extLst>
              <a:ext uri="{FF2B5EF4-FFF2-40B4-BE49-F238E27FC236}">
                <a16:creationId xmlns:a16="http://schemas.microsoft.com/office/drawing/2014/main" id="{F0296FB3-9EFB-979D-970B-914067DDD37A}"/>
              </a:ext>
            </a:extLst>
          </p:cNvPr>
          <p:cNvGrpSpPr/>
          <p:nvPr/>
        </p:nvGrpSpPr>
        <p:grpSpPr>
          <a:xfrm>
            <a:off x="6126001" y="1596964"/>
            <a:ext cx="993522" cy="994875"/>
            <a:chOff x="6890327" y="1438088"/>
            <a:chExt cx="993522" cy="994875"/>
          </a:xfrm>
        </p:grpSpPr>
        <p:grpSp>
          <p:nvGrpSpPr>
            <p:cNvPr id="40" name="Gruppieren 39">
              <a:extLst>
                <a:ext uri="{FF2B5EF4-FFF2-40B4-BE49-F238E27FC236}">
                  <a16:creationId xmlns:a16="http://schemas.microsoft.com/office/drawing/2014/main" id="{B2718515-BB42-1969-4063-44E78AD7D486}"/>
                </a:ext>
              </a:extLst>
            </p:cNvPr>
            <p:cNvGrpSpPr/>
            <p:nvPr/>
          </p:nvGrpSpPr>
          <p:grpSpPr>
            <a:xfrm>
              <a:off x="7057042" y="1438088"/>
              <a:ext cx="826807" cy="796741"/>
              <a:chOff x="6890327" y="1636222"/>
              <a:chExt cx="826807" cy="796741"/>
            </a:xfrm>
          </p:grpSpPr>
          <p:sp>
            <p:nvSpPr>
              <p:cNvPr id="41" name="Rechteck 40">
                <a:extLst>
                  <a:ext uri="{FF2B5EF4-FFF2-40B4-BE49-F238E27FC236}">
                    <a16:creationId xmlns:a16="http://schemas.microsoft.com/office/drawing/2014/main" id="{771B786F-A968-9C15-F4AB-E78EC073223D}"/>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2" name="Gerader Verbinder 41">
                <a:extLst>
                  <a:ext uri="{FF2B5EF4-FFF2-40B4-BE49-F238E27FC236}">
                    <a16:creationId xmlns:a16="http://schemas.microsoft.com/office/drawing/2014/main" id="{277612FF-FA45-756E-4ABC-E59B97F4D225}"/>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43" name="Gerader Verbinder 42">
                <a:extLst>
                  <a:ext uri="{FF2B5EF4-FFF2-40B4-BE49-F238E27FC236}">
                    <a16:creationId xmlns:a16="http://schemas.microsoft.com/office/drawing/2014/main" id="{ADC4F7D1-BC2D-159D-F92F-B47CF4FC414D}"/>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4" name="Gerader Verbinder 43">
                <a:extLst>
                  <a:ext uri="{FF2B5EF4-FFF2-40B4-BE49-F238E27FC236}">
                    <a16:creationId xmlns:a16="http://schemas.microsoft.com/office/drawing/2014/main" id="{968F7701-4FBA-273D-D132-04800C7CF037}"/>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45" name="Gerader Verbinder 44">
                <a:extLst>
                  <a:ext uri="{FF2B5EF4-FFF2-40B4-BE49-F238E27FC236}">
                    <a16:creationId xmlns:a16="http://schemas.microsoft.com/office/drawing/2014/main" id="{CA2606BA-9187-BD1E-FB9C-E20D900958DD}"/>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6" name="Gerader Verbinder 45">
                <a:extLst>
                  <a:ext uri="{FF2B5EF4-FFF2-40B4-BE49-F238E27FC236}">
                    <a16:creationId xmlns:a16="http://schemas.microsoft.com/office/drawing/2014/main" id="{AE8C7615-AEB8-E549-395F-2B5F7A6C9FCD}"/>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47" name="Gerader Verbinder 46">
                <a:extLst>
                  <a:ext uri="{FF2B5EF4-FFF2-40B4-BE49-F238E27FC236}">
                    <a16:creationId xmlns:a16="http://schemas.microsoft.com/office/drawing/2014/main" id="{8BA2F4F3-D519-65AF-5FF5-4DA44374DA34}"/>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48" name="Gerader Verbinder 47">
                <a:extLst>
                  <a:ext uri="{FF2B5EF4-FFF2-40B4-BE49-F238E27FC236}">
                    <a16:creationId xmlns:a16="http://schemas.microsoft.com/office/drawing/2014/main" id="{80D0819B-BF5E-C1BB-D569-AAAE9E1C86D4}"/>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49" name="Gerader Verbinder 48">
                <a:extLst>
                  <a:ext uri="{FF2B5EF4-FFF2-40B4-BE49-F238E27FC236}">
                    <a16:creationId xmlns:a16="http://schemas.microsoft.com/office/drawing/2014/main" id="{9472428B-C089-20D0-E1B3-1632CA1FCE90}"/>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50" name="Grafik 49" descr="Lungen mit einfarbiger Füllung">
                <a:extLst>
                  <a:ext uri="{FF2B5EF4-FFF2-40B4-BE49-F238E27FC236}">
                    <a16:creationId xmlns:a16="http://schemas.microsoft.com/office/drawing/2014/main" id="{38F80B44-7487-89B2-8363-566DE4A4DE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29" name="Gruppieren 28">
              <a:extLst>
                <a:ext uri="{FF2B5EF4-FFF2-40B4-BE49-F238E27FC236}">
                  <a16:creationId xmlns:a16="http://schemas.microsoft.com/office/drawing/2014/main" id="{CC3E1AFB-989A-0A66-E6B4-0B4B3F96BDD2}"/>
                </a:ext>
              </a:extLst>
            </p:cNvPr>
            <p:cNvGrpSpPr/>
            <p:nvPr/>
          </p:nvGrpSpPr>
          <p:grpSpPr>
            <a:xfrm>
              <a:off x="6977566" y="1537155"/>
              <a:ext cx="826807" cy="796741"/>
              <a:chOff x="6890327" y="1636222"/>
              <a:chExt cx="826807" cy="796741"/>
            </a:xfrm>
          </p:grpSpPr>
          <p:sp>
            <p:nvSpPr>
              <p:cNvPr id="30" name="Rechteck 29">
                <a:extLst>
                  <a:ext uri="{FF2B5EF4-FFF2-40B4-BE49-F238E27FC236}">
                    <a16:creationId xmlns:a16="http://schemas.microsoft.com/office/drawing/2014/main" id="{3A87CFD7-9ABB-E0A4-1CD3-7327D467639C}"/>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1" name="Gerader Verbinder 30">
                <a:extLst>
                  <a:ext uri="{FF2B5EF4-FFF2-40B4-BE49-F238E27FC236}">
                    <a16:creationId xmlns:a16="http://schemas.microsoft.com/office/drawing/2014/main" id="{F147472F-0DA0-0A69-2B66-9C8A73DB3112}"/>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32" name="Gerader Verbinder 31">
                <a:extLst>
                  <a:ext uri="{FF2B5EF4-FFF2-40B4-BE49-F238E27FC236}">
                    <a16:creationId xmlns:a16="http://schemas.microsoft.com/office/drawing/2014/main" id="{60C5319B-8901-67DD-5742-F41D5414A6CC}"/>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3" name="Gerader Verbinder 32">
                <a:extLst>
                  <a:ext uri="{FF2B5EF4-FFF2-40B4-BE49-F238E27FC236}">
                    <a16:creationId xmlns:a16="http://schemas.microsoft.com/office/drawing/2014/main" id="{D043BD0E-23CE-3B9B-F6AB-FE59DE8909D9}"/>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34" name="Gerader Verbinder 33">
                <a:extLst>
                  <a:ext uri="{FF2B5EF4-FFF2-40B4-BE49-F238E27FC236}">
                    <a16:creationId xmlns:a16="http://schemas.microsoft.com/office/drawing/2014/main" id="{53DDA1E4-8B94-96C2-B834-59F36CAEC92D}"/>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5" name="Gerader Verbinder 34">
                <a:extLst>
                  <a:ext uri="{FF2B5EF4-FFF2-40B4-BE49-F238E27FC236}">
                    <a16:creationId xmlns:a16="http://schemas.microsoft.com/office/drawing/2014/main" id="{45773888-9100-9AFA-8B1A-EA31DF2FBCEC}"/>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36" name="Gerader Verbinder 35">
                <a:extLst>
                  <a:ext uri="{FF2B5EF4-FFF2-40B4-BE49-F238E27FC236}">
                    <a16:creationId xmlns:a16="http://schemas.microsoft.com/office/drawing/2014/main" id="{053E3DF5-233F-A999-B22E-3BBDF9B48B31}"/>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37" name="Gerader Verbinder 36">
                <a:extLst>
                  <a:ext uri="{FF2B5EF4-FFF2-40B4-BE49-F238E27FC236}">
                    <a16:creationId xmlns:a16="http://schemas.microsoft.com/office/drawing/2014/main" id="{7F70C70C-C97D-F57D-05D9-305B45211199}"/>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38" name="Gerader Verbinder 37">
                <a:extLst>
                  <a:ext uri="{FF2B5EF4-FFF2-40B4-BE49-F238E27FC236}">
                    <a16:creationId xmlns:a16="http://schemas.microsoft.com/office/drawing/2014/main" id="{735D31BC-A4A1-D367-6B9F-23DD217771C3}"/>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39" name="Grafik 38" descr="Lungen mit einfarbiger Füllung">
                <a:extLst>
                  <a:ext uri="{FF2B5EF4-FFF2-40B4-BE49-F238E27FC236}">
                    <a16:creationId xmlns:a16="http://schemas.microsoft.com/office/drawing/2014/main" id="{8F7984E2-52CA-442E-6A26-817A727720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28" name="Gruppieren 27">
              <a:extLst>
                <a:ext uri="{FF2B5EF4-FFF2-40B4-BE49-F238E27FC236}">
                  <a16:creationId xmlns:a16="http://schemas.microsoft.com/office/drawing/2014/main" id="{7E37A576-426D-0BC5-4952-B06DC6423BC0}"/>
                </a:ext>
              </a:extLst>
            </p:cNvPr>
            <p:cNvGrpSpPr/>
            <p:nvPr/>
          </p:nvGrpSpPr>
          <p:grpSpPr>
            <a:xfrm>
              <a:off x="6890327" y="1636222"/>
              <a:ext cx="826807" cy="796741"/>
              <a:chOff x="6890327" y="1636222"/>
              <a:chExt cx="826807" cy="796741"/>
            </a:xfrm>
          </p:grpSpPr>
          <p:sp>
            <p:nvSpPr>
              <p:cNvPr id="9" name="Rechteck 8">
                <a:extLst>
                  <a:ext uri="{FF2B5EF4-FFF2-40B4-BE49-F238E27FC236}">
                    <a16:creationId xmlns:a16="http://schemas.microsoft.com/office/drawing/2014/main" id="{CBFD53EA-6B1C-A047-99E4-9701EBEF539C}"/>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3" name="Gerader Verbinder 12">
                <a:extLst>
                  <a:ext uri="{FF2B5EF4-FFF2-40B4-BE49-F238E27FC236}">
                    <a16:creationId xmlns:a16="http://schemas.microsoft.com/office/drawing/2014/main" id="{48701F45-8290-D78B-23D3-4BBC4EBF81DA}"/>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4" name="Gerader Verbinder 13">
                <a:extLst>
                  <a:ext uri="{FF2B5EF4-FFF2-40B4-BE49-F238E27FC236}">
                    <a16:creationId xmlns:a16="http://schemas.microsoft.com/office/drawing/2014/main" id="{8C24E46B-1E23-3898-7D7B-F946F942C6A7}"/>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8" name="Gerader Verbinder 17">
                <a:extLst>
                  <a:ext uri="{FF2B5EF4-FFF2-40B4-BE49-F238E27FC236}">
                    <a16:creationId xmlns:a16="http://schemas.microsoft.com/office/drawing/2014/main" id="{63A237D8-D583-89D1-A025-E783479F16B1}"/>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9" name="Gerader Verbinder 18">
                <a:extLst>
                  <a:ext uri="{FF2B5EF4-FFF2-40B4-BE49-F238E27FC236}">
                    <a16:creationId xmlns:a16="http://schemas.microsoft.com/office/drawing/2014/main" id="{CAC7D459-ACF0-8DB6-18B2-850C0A8E89E7}"/>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20" name="Gerader Verbinder 19">
                <a:extLst>
                  <a:ext uri="{FF2B5EF4-FFF2-40B4-BE49-F238E27FC236}">
                    <a16:creationId xmlns:a16="http://schemas.microsoft.com/office/drawing/2014/main" id="{1B072E2B-F1B4-F39B-DCBC-BE38145FBFFF}"/>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21" name="Gerader Verbinder 20">
                <a:extLst>
                  <a:ext uri="{FF2B5EF4-FFF2-40B4-BE49-F238E27FC236}">
                    <a16:creationId xmlns:a16="http://schemas.microsoft.com/office/drawing/2014/main" id="{858327BB-2812-FFC8-7F06-5AF67B0D635E}"/>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22" name="Gerader Verbinder 21">
                <a:extLst>
                  <a:ext uri="{FF2B5EF4-FFF2-40B4-BE49-F238E27FC236}">
                    <a16:creationId xmlns:a16="http://schemas.microsoft.com/office/drawing/2014/main" id="{BBDD339D-0DFB-AA9E-1308-EC2ED1297F52}"/>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23" name="Gerader Verbinder 22">
                <a:extLst>
                  <a:ext uri="{FF2B5EF4-FFF2-40B4-BE49-F238E27FC236}">
                    <a16:creationId xmlns:a16="http://schemas.microsoft.com/office/drawing/2014/main" id="{53F2528B-BF8B-D69B-50F4-8FAEF6F42884}"/>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8" name="Grafik 7" descr="Lungen mit einfarbiger Füllung">
                <a:extLst>
                  <a:ext uri="{FF2B5EF4-FFF2-40B4-BE49-F238E27FC236}">
                    <a16:creationId xmlns:a16="http://schemas.microsoft.com/office/drawing/2014/main" id="{EFFABD42-B3C6-A172-A1AE-16DB44958EF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grpSp>
        <p:nvGrpSpPr>
          <p:cNvPr id="98" name="Gruppieren 97">
            <a:extLst>
              <a:ext uri="{FF2B5EF4-FFF2-40B4-BE49-F238E27FC236}">
                <a16:creationId xmlns:a16="http://schemas.microsoft.com/office/drawing/2014/main" id="{41E404B0-1887-6AA5-7A84-C38AAC77F470}"/>
              </a:ext>
            </a:extLst>
          </p:cNvPr>
          <p:cNvGrpSpPr/>
          <p:nvPr/>
        </p:nvGrpSpPr>
        <p:grpSpPr>
          <a:xfrm>
            <a:off x="9923689" y="1795374"/>
            <a:ext cx="826807" cy="796741"/>
            <a:chOff x="6890327" y="1636222"/>
            <a:chExt cx="826807" cy="796741"/>
          </a:xfrm>
        </p:grpSpPr>
        <p:sp>
          <p:nvSpPr>
            <p:cNvPr id="99" name="Rechteck 98">
              <a:extLst>
                <a:ext uri="{FF2B5EF4-FFF2-40B4-BE49-F238E27FC236}">
                  <a16:creationId xmlns:a16="http://schemas.microsoft.com/office/drawing/2014/main" id="{45B79947-4364-77F2-9D3B-085001CF07F6}"/>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00" name="Gerader Verbinder 99">
              <a:extLst>
                <a:ext uri="{FF2B5EF4-FFF2-40B4-BE49-F238E27FC236}">
                  <a16:creationId xmlns:a16="http://schemas.microsoft.com/office/drawing/2014/main" id="{F29F6893-7BFE-E0E2-CFDA-A7A4B0B31EBF}"/>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1" name="Gerader Verbinder 100">
              <a:extLst>
                <a:ext uri="{FF2B5EF4-FFF2-40B4-BE49-F238E27FC236}">
                  <a16:creationId xmlns:a16="http://schemas.microsoft.com/office/drawing/2014/main" id="{800517C8-2513-6C63-4984-B4FD44883BB1}"/>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2" name="Gerader Verbinder 101">
              <a:extLst>
                <a:ext uri="{FF2B5EF4-FFF2-40B4-BE49-F238E27FC236}">
                  <a16:creationId xmlns:a16="http://schemas.microsoft.com/office/drawing/2014/main" id="{00F3709D-6301-1795-0B1C-34D6A4C163F1}"/>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3" name="Gerader Verbinder 102">
              <a:extLst>
                <a:ext uri="{FF2B5EF4-FFF2-40B4-BE49-F238E27FC236}">
                  <a16:creationId xmlns:a16="http://schemas.microsoft.com/office/drawing/2014/main" id="{4D25C25C-9F6F-3C8D-EBB2-4D1E665941E6}"/>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4" name="Gerader Verbinder 103">
              <a:extLst>
                <a:ext uri="{FF2B5EF4-FFF2-40B4-BE49-F238E27FC236}">
                  <a16:creationId xmlns:a16="http://schemas.microsoft.com/office/drawing/2014/main" id="{97531180-3CE9-C1C0-D29E-3855F9747EB6}"/>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5" name="Gerader Verbinder 104">
              <a:extLst>
                <a:ext uri="{FF2B5EF4-FFF2-40B4-BE49-F238E27FC236}">
                  <a16:creationId xmlns:a16="http://schemas.microsoft.com/office/drawing/2014/main" id="{40ADF880-EFFA-4153-DB11-A2C5E0698343}"/>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6" name="Gerader Verbinder 105">
              <a:extLst>
                <a:ext uri="{FF2B5EF4-FFF2-40B4-BE49-F238E27FC236}">
                  <a16:creationId xmlns:a16="http://schemas.microsoft.com/office/drawing/2014/main" id="{C2910241-72AF-7B99-F369-CFA7AA4D6780}"/>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7" name="Gerader Verbinder 106">
              <a:extLst>
                <a:ext uri="{FF2B5EF4-FFF2-40B4-BE49-F238E27FC236}">
                  <a16:creationId xmlns:a16="http://schemas.microsoft.com/office/drawing/2014/main" id="{19F79D7C-C811-EBEF-7C12-C3141983C6D6}"/>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08" name="Grafik 107" descr="Lungen mit einfarbiger Füllung">
              <a:extLst>
                <a:ext uri="{FF2B5EF4-FFF2-40B4-BE49-F238E27FC236}">
                  <a16:creationId xmlns:a16="http://schemas.microsoft.com/office/drawing/2014/main" id="{DE1FE236-9AFA-0A1C-C731-D3AFDA28B2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pic>
        <p:nvPicPr>
          <p:cNvPr id="110" name="Grafik 109" descr="Dokument Silhouette">
            <a:extLst>
              <a:ext uri="{FF2B5EF4-FFF2-40B4-BE49-F238E27FC236}">
                <a16:creationId xmlns:a16="http://schemas.microsoft.com/office/drawing/2014/main" id="{36EF50A9-67E1-C4B0-3F7F-E39E5ABA48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74388" y="1753639"/>
            <a:ext cx="914400" cy="914400"/>
          </a:xfrm>
          <a:prstGeom prst="rect">
            <a:avLst/>
          </a:prstGeom>
        </p:spPr>
      </p:pic>
      <p:grpSp>
        <p:nvGrpSpPr>
          <p:cNvPr id="123" name="Gruppieren 122">
            <a:extLst>
              <a:ext uri="{FF2B5EF4-FFF2-40B4-BE49-F238E27FC236}">
                <a16:creationId xmlns:a16="http://schemas.microsoft.com/office/drawing/2014/main" id="{1EFE8872-32C4-3D5E-FBE0-A423215E91D5}"/>
              </a:ext>
            </a:extLst>
          </p:cNvPr>
          <p:cNvGrpSpPr/>
          <p:nvPr/>
        </p:nvGrpSpPr>
        <p:grpSpPr>
          <a:xfrm>
            <a:off x="7634760" y="3301083"/>
            <a:ext cx="1052800" cy="432633"/>
            <a:chOff x="6141721" y="2996366"/>
            <a:chExt cx="1856231" cy="432633"/>
          </a:xfrm>
        </p:grpSpPr>
        <p:sp>
          <p:nvSpPr>
            <p:cNvPr id="112" name="Rechteck 111">
              <a:extLst>
                <a:ext uri="{FF2B5EF4-FFF2-40B4-BE49-F238E27FC236}">
                  <a16:creationId xmlns:a16="http://schemas.microsoft.com/office/drawing/2014/main" id="{B4F92E34-C9C1-71E1-E9F6-2EF3A7696693}"/>
                </a:ext>
              </a:extLst>
            </p:cNvPr>
            <p:cNvSpPr/>
            <p:nvPr/>
          </p:nvSpPr>
          <p:spPr>
            <a:xfrm>
              <a:off x="6141721" y="2996366"/>
              <a:ext cx="1856231"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3" name="Rechteck 112">
              <a:extLst>
                <a:ext uri="{FF2B5EF4-FFF2-40B4-BE49-F238E27FC236}">
                  <a16:creationId xmlns:a16="http://schemas.microsoft.com/office/drawing/2014/main" id="{E5AB18FD-4348-7C60-AC20-E09B3BA5F0A0}"/>
                </a:ext>
              </a:extLst>
            </p:cNvPr>
            <p:cNvSpPr/>
            <p:nvPr/>
          </p:nvSpPr>
          <p:spPr>
            <a:xfrm>
              <a:off x="6182403"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4" name="Rechteck 113">
              <a:extLst>
                <a:ext uri="{FF2B5EF4-FFF2-40B4-BE49-F238E27FC236}">
                  <a16:creationId xmlns:a16="http://schemas.microsoft.com/office/drawing/2014/main" id="{B606A122-3F52-916B-9742-933F7F16D670}"/>
                </a:ext>
              </a:extLst>
            </p:cNvPr>
            <p:cNvSpPr/>
            <p:nvPr/>
          </p:nvSpPr>
          <p:spPr>
            <a:xfrm>
              <a:off x="6600270" y="3236511"/>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7" name="Rechteck 116">
              <a:extLst>
                <a:ext uri="{FF2B5EF4-FFF2-40B4-BE49-F238E27FC236}">
                  <a16:creationId xmlns:a16="http://schemas.microsoft.com/office/drawing/2014/main" id="{B24ECB67-5D9E-599E-F0BC-E5636286574A}"/>
                </a:ext>
              </a:extLst>
            </p:cNvPr>
            <p:cNvSpPr/>
            <p:nvPr/>
          </p:nvSpPr>
          <p:spPr>
            <a:xfrm>
              <a:off x="7018137"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8" name="Rechteck 117">
              <a:extLst>
                <a:ext uri="{FF2B5EF4-FFF2-40B4-BE49-F238E27FC236}">
                  <a16:creationId xmlns:a16="http://schemas.microsoft.com/office/drawing/2014/main" id="{9723E973-D202-5910-D40C-D340330D80DF}"/>
                </a:ext>
              </a:extLst>
            </p:cNvPr>
            <p:cNvSpPr/>
            <p:nvPr/>
          </p:nvSpPr>
          <p:spPr>
            <a:xfrm>
              <a:off x="7642971"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9" name="Textfeld 118">
              <a:extLst>
                <a:ext uri="{FF2B5EF4-FFF2-40B4-BE49-F238E27FC236}">
                  <a16:creationId xmlns:a16="http://schemas.microsoft.com/office/drawing/2014/main" id="{1364A09C-5104-E03F-AA93-1DE789BC00D5}"/>
                </a:ext>
              </a:extLst>
            </p:cNvPr>
            <p:cNvSpPr txBox="1"/>
            <p:nvPr/>
          </p:nvSpPr>
          <p:spPr>
            <a:xfrm>
              <a:off x="7295033" y="3149671"/>
              <a:ext cx="210898" cy="215444"/>
            </a:xfrm>
            <a:prstGeom prst="rect">
              <a:avLst/>
            </a:prstGeom>
            <a:noFill/>
          </p:spPr>
          <p:txBody>
            <a:bodyPr wrap="square" rtlCol="0">
              <a:spAutoFit/>
            </a:bodyPr>
            <a:lstStyle/>
            <a:p>
              <a:r>
                <a:rPr lang="de-DE" sz="800" dirty="0"/>
                <a:t>…</a:t>
              </a:r>
            </a:p>
          </p:txBody>
        </p:sp>
        <p:sp>
          <p:nvSpPr>
            <p:cNvPr id="120" name="Textfeld 119">
              <a:extLst>
                <a:ext uri="{FF2B5EF4-FFF2-40B4-BE49-F238E27FC236}">
                  <a16:creationId xmlns:a16="http://schemas.microsoft.com/office/drawing/2014/main" id="{D3656BA2-2CF6-8FA0-3208-0D49F50EEB2F}"/>
                </a:ext>
              </a:extLst>
            </p:cNvPr>
            <p:cNvSpPr txBox="1"/>
            <p:nvPr/>
          </p:nvSpPr>
          <p:spPr>
            <a:xfrm>
              <a:off x="6141721" y="3003769"/>
              <a:ext cx="1856231" cy="246221"/>
            </a:xfrm>
            <a:prstGeom prst="rect">
              <a:avLst/>
            </a:prstGeom>
            <a:noFill/>
          </p:spPr>
          <p:txBody>
            <a:bodyPr wrap="square" rtlCol="0">
              <a:spAutoFit/>
            </a:bodyPr>
            <a:lstStyle/>
            <a:p>
              <a:pPr algn="ctr"/>
              <a:r>
                <a:rPr lang="de-DE" sz="1000" dirty="0">
                  <a:solidFill>
                    <a:schemeClr val="bg1">
                      <a:lumMod val="65000"/>
                    </a:schemeClr>
                  </a:solidFill>
                </a:rPr>
                <a:t>Topic </a:t>
              </a:r>
              <a:r>
                <a:rPr lang="de-DE" sz="1000" dirty="0" err="1">
                  <a:solidFill>
                    <a:schemeClr val="bg1">
                      <a:lumMod val="65000"/>
                    </a:schemeClr>
                  </a:solidFill>
                </a:rPr>
                <a:t>bag</a:t>
              </a:r>
              <a:endParaRPr lang="de-DE" sz="1000" dirty="0">
                <a:solidFill>
                  <a:schemeClr val="bg1">
                    <a:lumMod val="65000"/>
                  </a:schemeClr>
                </a:solidFill>
              </a:endParaRPr>
            </a:p>
          </p:txBody>
        </p:sp>
      </p:grpSp>
      <p:sp>
        <p:nvSpPr>
          <p:cNvPr id="121" name="Textfeld 120">
            <a:extLst>
              <a:ext uri="{FF2B5EF4-FFF2-40B4-BE49-F238E27FC236}">
                <a16:creationId xmlns:a16="http://schemas.microsoft.com/office/drawing/2014/main" id="{4B2BF93A-D0EE-D882-776E-68D86ADC97AD}"/>
              </a:ext>
            </a:extLst>
          </p:cNvPr>
          <p:cNvSpPr txBox="1"/>
          <p:nvPr/>
        </p:nvSpPr>
        <p:spPr>
          <a:xfrm>
            <a:off x="6166683" y="1331010"/>
            <a:ext cx="1856231" cy="246221"/>
          </a:xfrm>
          <a:prstGeom prst="rect">
            <a:avLst/>
          </a:prstGeom>
          <a:noFill/>
        </p:spPr>
        <p:txBody>
          <a:bodyPr wrap="square" rtlCol="0">
            <a:spAutoFit/>
          </a:bodyPr>
          <a:lstStyle/>
          <a:p>
            <a:pPr algn="ctr"/>
            <a:r>
              <a:rPr lang="de-DE" sz="1000" dirty="0">
                <a:solidFill>
                  <a:schemeClr val="bg1">
                    <a:lumMod val="65000"/>
                  </a:schemeClr>
                </a:solidFill>
              </a:rPr>
              <a:t>Training </a:t>
            </a:r>
            <a:r>
              <a:rPr lang="de-DE" sz="1000" dirty="0" err="1">
                <a:solidFill>
                  <a:schemeClr val="bg1">
                    <a:lumMod val="65000"/>
                  </a:schemeClr>
                </a:solidFill>
              </a:rPr>
              <a:t>data</a:t>
            </a:r>
            <a:endParaRPr lang="de-DE" sz="1000" dirty="0">
              <a:solidFill>
                <a:schemeClr val="bg1">
                  <a:lumMod val="65000"/>
                </a:schemeClr>
              </a:solidFill>
            </a:endParaRPr>
          </a:p>
        </p:txBody>
      </p:sp>
      <p:sp>
        <p:nvSpPr>
          <p:cNvPr id="122" name="Rechteck 121">
            <a:extLst>
              <a:ext uri="{FF2B5EF4-FFF2-40B4-BE49-F238E27FC236}">
                <a16:creationId xmlns:a16="http://schemas.microsoft.com/office/drawing/2014/main" id="{6E031C3D-3538-CB3A-2F40-31DA1D56E242}"/>
              </a:ext>
            </a:extLst>
          </p:cNvPr>
          <p:cNvSpPr/>
          <p:nvPr/>
        </p:nvSpPr>
        <p:spPr>
          <a:xfrm>
            <a:off x="9822380" y="3301923"/>
            <a:ext cx="1856231"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err="1">
                <a:solidFill>
                  <a:schemeClr val="tx1"/>
                </a:solidFill>
              </a:rPr>
              <a:t>PoKE</a:t>
            </a:r>
            <a:endParaRPr lang="de-DE" sz="2400" b="1" dirty="0">
              <a:solidFill>
                <a:schemeClr val="tx1"/>
              </a:solidFill>
            </a:endParaRPr>
          </a:p>
        </p:txBody>
      </p:sp>
      <p:cxnSp>
        <p:nvCxnSpPr>
          <p:cNvPr id="128" name="Gerade Verbindung mit Pfeil 127">
            <a:extLst>
              <a:ext uri="{FF2B5EF4-FFF2-40B4-BE49-F238E27FC236}">
                <a16:creationId xmlns:a16="http://schemas.microsoft.com/office/drawing/2014/main" id="{24297AF1-9728-FFBA-5AF8-34310CA670E7}"/>
              </a:ext>
            </a:extLst>
          </p:cNvPr>
          <p:cNvCxnSpPr>
            <a:cxnSpLocks/>
            <a:stCxn id="112" idx="3"/>
            <a:endCxn id="139" idx="1"/>
          </p:cNvCxnSpPr>
          <p:nvPr/>
        </p:nvCxnSpPr>
        <p:spPr>
          <a:xfrm>
            <a:off x="8687560" y="3517400"/>
            <a:ext cx="15545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29" name="Gerade Verbindung mit Pfeil 128">
            <a:extLst>
              <a:ext uri="{FF2B5EF4-FFF2-40B4-BE49-F238E27FC236}">
                <a16:creationId xmlns:a16="http://schemas.microsoft.com/office/drawing/2014/main" id="{1C159F48-5E02-A709-F1D9-BFC74CD6476F}"/>
              </a:ext>
            </a:extLst>
          </p:cNvPr>
          <p:cNvCxnSpPr>
            <a:cxnSpLocks/>
            <a:stCxn id="139" idx="3"/>
            <a:endCxn id="122" idx="1"/>
          </p:cNvCxnSpPr>
          <p:nvPr/>
        </p:nvCxnSpPr>
        <p:spPr>
          <a:xfrm>
            <a:off x="9669817" y="3517400"/>
            <a:ext cx="152563" cy="8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31" name="Rechteck 130">
            <a:extLst>
              <a:ext uri="{FF2B5EF4-FFF2-40B4-BE49-F238E27FC236}">
                <a16:creationId xmlns:a16="http://schemas.microsoft.com/office/drawing/2014/main" id="{A6C8C003-F161-2A14-D89F-CB86DF583F85}"/>
              </a:ext>
            </a:extLst>
          </p:cNvPr>
          <p:cNvSpPr/>
          <p:nvPr/>
        </p:nvSpPr>
        <p:spPr>
          <a:xfrm>
            <a:off x="9923685" y="272947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cxnSp>
        <p:nvCxnSpPr>
          <p:cNvPr id="132" name="Gerade Verbindung mit Pfeil 131">
            <a:extLst>
              <a:ext uri="{FF2B5EF4-FFF2-40B4-BE49-F238E27FC236}">
                <a16:creationId xmlns:a16="http://schemas.microsoft.com/office/drawing/2014/main" id="{7E80F24A-68CC-8FD4-4A59-63E0F76E8C53}"/>
              </a:ext>
            </a:extLst>
          </p:cNvPr>
          <p:cNvCxnSpPr>
            <a:cxnSpLocks/>
            <a:stCxn id="99" idx="2"/>
            <a:endCxn id="131" idx="0"/>
          </p:cNvCxnSpPr>
          <p:nvPr/>
        </p:nvCxnSpPr>
        <p:spPr>
          <a:xfrm flipH="1">
            <a:off x="10337089" y="2592115"/>
            <a:ext cx="4" cy="13736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35" name="Gerade Verbindung mit Pfeil 134">
            <a:extLst>
              <a:ext uri="{FF2B5EF4-FFF2-40B4-BE49-F238E27FC236}">
                <a16:creationId xmlns:a16="http://schemas.microsoft.com/office/drawing/2014/main" id="{A0EE5190-AF10-C35C-5D26-0FC8C675612B}"/>
              </a:ext>
            </a:extLst>
          </p:cNvPr>
          <p:cNvCxnSpPr>
            <a:cxnSpLocks/>
          </p:cNvCxnSpPr>
          <p:nvPr/>
        </p:nvCxnSpPr>
        <p:spPr>
          <a:xfrm flipH="1">
            <a:off x="10337092" y="3163336"/>
            <a:ext cx="1" cy="13736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39" name="Rechteck 138">
            <a:extLst>
              <a:ext uri="{FF2B5EF4-FFF2-40B4-BE49-F238E27FC236}">
                <a16:creationId xmlns:a16="http://schemas.microsoft.com/office/drawing/2014/main" id="{A41F2C06-89CF-575A-8FE7-2FD5D45E2ACE}"/>
              </a:ext>
            </a:extLst>
          </p:cNvPr>
          <p:cNvSpPr/>
          <p:nvPr/>
        </p:nvSpPr>
        <p:spPr>
          <a:xfrm>
            <a:off x="8843010" y="3301083"/>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45" name="Rechteck 144">
            <a:extLst>
              <a:ext uri="{FF2B5EF4-FFF2-40B4-BE49-F238E27FC236}">
                <a16:creationId xmlns:a16="http://schemas.microsoft.com/office/drawing/2014/main" id="{570D2E52-1A5E-3507-373A-245575AA9094}"/>
              </a:ext>
            </a:extLst>
          </p:cNvPr>
          <p:cNvSpPr/>
          <p:nvPr/>
        </p:nvSpPr>
        <p:spPr>
          <a:xfrm>
            <a:off x="6126000" y="2735331"/>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cxnSp>
        <p:nvCxnSpPr>
          <p:cNvPr id="146" name="Gerade Verbindung mit Pfeil 145">
            <a:extLst>
              <a:ext uri="{FF2B5EF4-FFF2-40B4-BE49-F238E27FC236}">
                <a16:creationId xmlns:a16="http://schemas.microsoft.com/office/drawing/2014/main" id="{42DA0617-E97A-8788-7B08-0399E0CDDE2B}"/>
              </a:ext>
            </a:extLst>
          </p:cNvPr>
          <p:cNvCxnSpPr>
            <a:cxnSpLocks/>
          </p:cNvCxnSpPr>
          <p:nvPr/>
        </p:nvCxnSpPr>
        <p:spPr>
          <a:xfrm flipH="1">
            <a:off x="6539403" y="2599002"/>
            <a:ext cx="4" cy="13736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47" name="Gerade Verbindung mit Pfeil 146">
            <a:extLst>
              <a:ext uri="{FF2B5EF4-FFF2-40B4-BE49-F238E27FC236}">
                <a16:creationId xmlns:a16="http://schemas.microsoft.com/office/drawing/2014/main" id="{F997EAD5-32DF-72A0-67D4-5781EBFAC41C}"/>
              </a:ext>
            </a:extLst>
          </p:cNvPr>
          <p:cNvCxnSpPr>
            <a:cxnSpLocks/>
            <a:endCxn id="161" idx="0"/>
          </p:cNvCxnSpPr>
          <p:nvPr/>
        </p:nvCxnSpPr>
        <p:spPr>
          <a:xfrm>
            <a:off x="6539404" y="3162111"/>
            <a:ext cx="0" cy="17627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49" name="Rechteck 148">
            <a:extLst>
              <a:ext uri="{FF2B5EF4-FFF2-40B4-BE49-F238E27FC236}">
                <a16:creationId xmlns:a16="http://schemas.microsoft.com/office/drawing/2014/main" id="{EFD26A52-DE06-6287-4FCC-D9AA4B883AB2}"/>
              </a:ext>
            </a:extLst>
          </p:cNvPr>
          <p:cNvSpPr/>
          <p:nvPr/>
        </p:nvSpPr>
        <p:spPr>
          <a:xfrm>
            <a:off x="9822379" y="4359060"/>
            <a:ext cx="1856231"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err="1">
                <a:solidFill>
                  <a:schemeClr val="tx1"/>
                </a:solidFill>
              </a:rPr>
              <a:t>PrKE</a:t>
            </a:r>
            <a:endParaRPr lang="de-DE" b="1" dirty="0">
              <a:solidFill>
                <a:schemeClr val="tx1"/>
              </a:solidFill>
            </a:endParaRPr>
          </a:p>
        </p:txBody>
      </p:sp>
      <p:cxnSp>
        <p:nvCxnSpPr>
          <p:cNvPr id="155" name="Verbinder: gewinkelt 154">
            <a:extLst>
              <a:ext uri="{FF2B5EF4-FFF2-40B4-BE49-F238E27FC236}">
                <a16:creationId xmlns:a16="http://schemas.microsoft.com/office/drawing/2014/main" id="{409563D3-E835-4D6A-5BD1-EC9547718355}"/>
              </a:ext>
            </a:extLst>
          </p:cNvPr>
          <p:cNvCxnSpPr>
            <a:cxnSpLocks/>
            <a:endCxn id="161" idx="3"/>
          </p:cNvCxnSpPr>
          <p:nvPr/>
        </p:nvCxnSpPr>
        <p:spPr>
          <a:xfrm rot="10800000" flipV="1">
            <a:off x="6952808" y="3196405"/>
            <a:ext cx="3379437" cy="358302"/>
          </a:xfrm>
          <a:prstGeom prst="bentConnector3">
            <a:avLst>
              <a:gd name="adj1" fmla="val 8848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1" name="Rechteck 160">
            <a:extLst>
              <a:ext uri="{FF2B5EF4-FFF2-40B4-BE49-F238E27FC236}">
                <a16:creationId xmlns:a16="http://schemas.microsoft.com/office/drawing/2014/main" id="{568D3F37-0876-2AD7-1219-6AC0B7E5796D}"/>
              </a:ext>
            </a:extLst>
          </p:cNvPr>
          <p:cNvSpPr/>
          <p:nvPr/>
        </p:nvSpPr>
        <p:spPr>
          <a:xfrm>
            <a:off x="6126000" y="3338390"/>
            <a:ext cx="826807" cy="43263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grpSp>
        <p:nvGrpSpPr>
          <p:cNvPr id="165" name="Gruppieren 164">
            <a:extLst>
              <a:ext uri="{FF2B5EF4-FFF2-40B4-BE49-F238E27FC236}">
                <a16:creationId xmlns:a16="http://schemas.microsoft.com/office/drawing/2014/main" id="{B3076C80-E15B-F729-91BB-0C2C0FC03D2B}"/>
              </a:ext>
            </a:extLst>
          </p:cNvPr>
          <p:cNvGrpSpPr/>
          <p:nvPr/>
        </p:nvGrpSpPr>
        <p:grpSpPr>
          <a:xfrm>
            <a:off x="6166683" y="3894465"/>
            <a:ext cx="914400" cy="922237"/>
            <a:chOff x="8088548" y="1377607"/>
            <a:chExt cx="914400" cy="922237"/>
          </a:xfrm>
        </p:grpSpPr>
        <p:sp>
          <p:nvSpPr>
            <p:cNvPr id="179" name="Rechteck: eine Ecke abgeschnitten 90">
              <a:extLst>
                <a:ext uri="{FF2B5EF4-FFF2-40B4-BE49-F238E27FC236}">
                  <a16:creationId xmlns:a16="http://schemas.microsoft.com/office/drawing/2014/main" id="{D3791DF1-1DD5-EA51-9B37-F09DE4F410E6}"/>
                </a:ext>
              </a:extLst>
            </p:cNvPr>
            <p:cNvSpPr/>
            <p:nvPr/>
          </p:nvSpPr>
          <p:spPr>
            <a:xfrm>
              <a:off x="8333136" y="1471944"/>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67" name="Gruppieren 166">
              <a:extLst>
                <a:ext uri="{FF2B5EF4-FFF2-40B4-BE49-F238E27FC236}">
                  <a16:creationId xmlns:a16="http://schemas.microsoft.com/office/drawing/2014/main" id="{8BB1F674-8ADB-3A61-1EA4-67F3FEE75B15}"/>
                </a:ext>
              </a:extLst>
            </p:cNvPr>
            <p:cNvGrpSpPr/>
            <p:nvPr/>
          </p:nvGrpSpPr>
          <p:grpSpPr>
            <a:xfrm>
              <a:off x="8088548" y="1377607"/>
              <a:ext cx="914400" cy="914400"/>
              <a:chOff x="8088548" y="1377607"/>
              <a:chExt cx="914400" cy="914400"/>
            </a:xfrm>
          </p:grpSpPr>
          <p:pic>
            <p:nvPicPr>
              <p:cNvPr id="176" name="Grafik 175" descr="Papier Silhouette">
                <a:extLst>
                  <a:ext uri="{FF2B5EF4-FFF2-40B4-BE49-F238E27FC236}">
                    <a16:creationId xmlns:a16="http://schemas.microsoft.com/office/drawing/2014/main" id="{E6B14DD7-15D8-178D-B8B8-56E9E21BA9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8548" y="1377607"/>
                <a:ext cx="914400" cy="914400"/>
              </a:xfrm>
              <a:prstGeom prst="rect">
                <a:avLst/>
              </a:prstGeom>
            </p:spPr>
          </p:pic>
          <p:sp>
            <p:nvSpPr>
              <p:cNvPr id="177" name="Rechteck: eine Ecke abgeschnitten 90">
                <a:extLst>
                  <a:ext uri="{FF2B5EF4-FFF2-40B4-BE49-F238E27FC236}">
                    <a16:creationId xmlns:a16="http://schemas.microsoft.com/office/drawing/2014/main" id="{A071F30E-F387-E838-A307-E3C75823FC43}"/>
                  </a:ext>
                </a:extLst>
              </p:cNvPr>
              <p:cNvSpPr/>
              <p:nvPr/>
            </p:nvSpPr>
            <p:spPr>
              <a:xfrm>
                <a:off x="8254031" y="1555771"/>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168" name="Grafik 6" descr="Dokument Silhouette">
              <a:extLst>
                <a:ext uri="{FF2B5EF4-FFF2-40B4-BE49-F238E27FC236}">
                  <a16:creationId xmlns:a16="http://schemas.microsoft.com/office/drawing/2014/main" id="{E72C3F5B-641A-0506-3FD5-1136C8D02A72}"/>
                </a:ext>
              </a:extLst>
            </p:cNvPr>
            <p:cNvGrpSpPr/>
            <p:nvPr/>
          </p:nvGrpSpPr>
          <p:grpSpPr>
            <a:xfrm>
              <a:off x="8185078" y="1537844"/>
              <a:ext cx="571500" cy="762000"/>
              <a:chOff x="8185078" y="1537844"/>
              <a:chExt cx="571500" cy="762000"/>
            </a:xfrm>
            <a:solidFill>
              <a:srgbClr val="000000"/>
            </a:solidFill>
          </p:grpSpPr>
          <p:sp>
            <p:nvSpPr>
              <p:cNvPr id="169" name="Freihandform: Form 168">
                <a:extLst>
                  <a:ext uri="{FF2B5EF4-FFF2-40B4-BE49-F238E27FC236}">
                    <a16:creationId xmlns:a16="http://schemas.microsoft.com/office/drawing/2014/main" id="{DD473ED8-3D18-E67A-5AF5-9DBD1B363E2F}"/>
                  </a:ext>
                </a:extLst>
              </p:cNvPr>
              <p:cNvSpPr/>
              <p:nvPr/>
            </p:nvSpPr>
            <p:spPr>
              <a:xfrm>
                <a:off x="8280328" y="18616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0" name="Freihandform: Form 169">
                <a:extLst>
                  <a:ext uri="{FF2B5EF4-FFF2-40B4-BE49-F238E27FC236}">
                    <a16:creationId xmlns:a16="http://schemas.microsoft.com/office/drawing/2014/main" id="{805B179F-CBD9-D680-9E63-AEEBE5B57486}"/>
                  </a:ext>
                </a:extLst>
              </p:cNvPr>
              <p:cNvSpPr/>
              <p:nvPr/>
            </p:nvSpPr>
            <p:spPr>
              <a:xfrm>
                <a:off x="8280328" y="1785494"/>
                <a:ext cx="180975" cy="19050"/>
              </a:xfrm>
              <a:custGeom>
                <a:avLst/>
                <a:gdLst>
                  <a:gd name="connsiteX0" fmla="*/ 0 w 180975"/>
                  <a:gd name="connsiteY0" fmla="*/ 0 h 19050"/>
                  <a:gd name="connsiteX1" fmla="*/ 180975 w 180975"/>
                  <a:gd name="connsiteY1" fmla="*/ 0 h 19050"/>
                  <a:gd name="connsiteX2" fmla="*/ 180975 w 180975"/>
                  <a:gd name="connsiteY2" fmla="*/ 19050 h 19050"/>
                  <a:gd name="connsiteX3" fmla="*/ 0 w 180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80975" h="19050">
                    <a:moveTo>
                      <a:pt x="0" y="0"/>
                    </a:moveTo>
                    <a:lnTo>
                      <a:pt x="180975" y="0"/>
                    </a:lnTo>
                    <a:lnTo>
                      <a:pt x="180975"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1" name="Freihandform: Form 170">
                <a:extLst>
                  <a:ext uri="{FF2B5EF4-FFF2-40B4-BE49-F238E27FC236}">
                    <a16:creationId xmlns:a16="http://schemas.microsoft.com/office/drawing/2014/main" id="{FC789687-3963-88CA-2F95-6E06A2CF9815}"/>
                  </a:ext>
                </a:extLst>
              </p:cNvPr>
              <p:cNvSpPr/>
              <p:nvPr/>
            </p:nvSpPr>
            <p:spPr>
              <a:xfrm>
                <a:off x="8280328" y="19378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2" name="Freihandform: Form 171">
                <a:extLst>
                  <a:ext uri="{FF2B5EF4-FFF2-40B4-BE49-F238E27FC236}">
                    <a16:creationId xmlns:a16="http://schemas.microsoft.com/office/drawing/2014/main" id="{6CCA83F3-09E4-5360-AEA7-BF4D4509A8D0}"/>
                  </a:ext>
                </a:extLst>
              </p:cNvPr>
              <p:cNvSpPr/>
              <p:nvPr/>
            </p:nvSpPr>
            <p:spPr>
              <a:xfrm>
                <a:off x="8280328" y="20140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3" name="Freihandform: Form 172">
                <a:extLst>
                  <a:ext uri="{FF2B5EF4-FFF2-40B4-BE49-F238E27FC236}">
                    <a16:creationId xmlns:a16="http://schemas.microsoft.com/office/drawing/2014/main" id="{E1134479-021E-7C7A-CADC-6C49448E626B}"/>
                  </a:ext>
                </a:extLst>
              </p:cNvPr>
              <p:cNvSpPr/>
              <p:nvPr/>
            </p:nvSpPr>
            <p:spPr>
              <a:xfrm>
                <a:off x="8280328" y="20902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4" name="Freihandform: Form 173">
                <a:extLst>
                  <a:ext uri="{FF2B5EF4-FFF2-40B4-BE49-F238E27FC236}">
                    <a16:creationId xmlns:a16="http://schemas.microsoft.com/office/drawing/2014/main" id="{3024BBE2-ABB5-F8EB-C0F9-23279719CBCC}"/>
                  </a:ext>
                </a:extLst>
              </p:cNvPr>
              <p:cNvSpPr/>
              <p:nvPr/>
            </p:nvSpPr>
            <p:spPr>
              <a:xfrm>
                <a:off x="8280328" y="21664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75" name="Freihandform: Form 174">
                <a:extLst>
                  <a:ext uri="{FF2B5EF4-FFF2-40B4-BE49-F238E27FC236}">
                    <a16:creationId xmlns:a16="http://schemas.microsoft.com/office/drawing/2014/main" id="{1D73D9AB-F851-C747-5121-4165E5323A34}"/>
                  </a:ext>
                </a:extLst>
              </p:cNvPr>
              <p:cNvSpPr/>
              <p:nvPr/>
            </p:nvSpPr>
            <p:spPr>
              <a:xfrm>
                <a:off x="8185078" y="1537844"/>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de-DE"/>
              </a:p>
            </p:txBody>
          </p:sp>
        </p:grpSp>
      </p:grpSp>
      <p:cxnSp>
        <p:nvCxnSpPr>
          <p:cNvPr id="180" name="Gerade Verbindung mit Pfeil 179">
            <a:extLst>
              <a:ext uri="{FF2B5EF4-FFF2-40B4-BE49-F238E27FC236}">
                <a16:creationId xmlns:a16="http://schemas.microsoft.com/office/drawing/2014/main" id="{B950FCE3-B4C9-A766-0528-BFB8FDAFD880}"/>
              </a:ext>
            </a:extLst>
          </p:cNvPr>
          <p:cNvCxnSpPr>
            <a:cxnSpLocks/>
          </p:cNvCxnSpPr>
          <p:nvPr/>
        </p:nvCxnSpPr>
        <p:spPr>
          <a:xfrm>
            <a:off x="6539403" y="3771023"/>
            <a:ext cx="0" cy="17627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89" name="Rechteck 188">
            <a:extLst>
              <a:ext uri="{FF2B5EF4-FFF2-40B4-BE49-F238E27FC236}">
                <a16:creationId xmlns:a16="http://schemas.microsoft.com/office/drawing/2014/main" id="{F787A6EF-61DD-AF16-ABCF-7F5D095D159F}"/>
              </a:ext>
            </a:extLst>
          </p:cNvPr>
          <p:cNvSpPr/>
          <p:nvPr/>
        </p:nvSpPr>
        <p:spPr>
          <a:xfrm>
            <a:off x="8843009" y="3830071"/>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90" name="Rechteck 189">
            <a:extLst>
              <a:ext uri="{FF2B5EF4-FFF2-40B4-BE49-F238E27FC236}">
                <a16:creationId xmlns:a16="http://schemas.microsoft.com/office/drawing/2014/main" id="{ECDC99A3-3E9A-C071-D4A9-FAB0E5E6F0AA}"/>
              </a:ext>
            </a:extLst>
          </p:cNvPr>
          <p:cNvSpPr/>
          <p:nvPr/>
        </p:nvSpPr>
        <p:spPr>
          <a:xfrm>
            <a:off x="8853103" y="4359059"/>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91" name="Rechteck 190">
            <a:extLst>
              <a:ext uri="{FF2B5EF4-FFF2-40B4-BE49-F238E27FC236}">
                <a16:creationId xmlns:a16="http://schemas.microsoft.com/office/drawing/2014/main" id="{D8D38BD0-9FED-B202-B433-D3CB7AEABE4E}"/>
              </a:ext>
            </a:extLst>
          </p:cNvPr>
          <p:cNvSpPr/>
          <p:nvPr/>
        </p:nvSpPr>
        <p:spPr>
          <a:xfrm>
            <a:off x="9822379" y="5416197"/>
            <a:ext cx="1856231"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400" b="1" dirty="0">
                <a:solidFill>
                  <a:schemeClr val="tx1"/>
                </a:solidFill>
              </a:rPr>
              <a:t>MKD</a:t>
            </a:r>
            <a:endParaRPr lang="de-DE" b="1" dirty="0">
              <a:solidFill>
                <a:schemeClr val="tx1"/>
              </a:solidFill>
            </a:endParaRPr>
          </a:p>
        </p:txBody>
      </p:sp>
      <p:grpSp>
        <p:nvGrpSpPr>
          <p:cNvPr id="208" name="Gruppieren 207">
            <a:extLst>
              <a:ext uri="{FF2B5EF4-FFF2-40B4-BE49-F238E27FC236}">
                <a16:creationId xmlns:a16="http://schemas.microsoft.com/office/drawing/2014/main" id="{97FC229B-E907-8806-7E3E-AC2B1959CA89}"/>
              </a:ext>
            </a:extLst>
          </p:cNvPr>
          <p:cNvGrpSpPr/>
          <p:nvPr/>
        </p:nvGrpSpPr>
        <p:grpSpPr>
          <a:xfrm>
            <a:off x="7633477" y="4321752"/>
            <a:ext cx="1055365" cy="469940"/>
            <a:chOff x="7670989" y="4233353"/>
            <a:chExt cx="1055365" cy="469940"/>
          </a:xfrm>
        </p:grpSpPr>
        <p:sp>
          <p:nvSpPr>
            <p:cNvPr id="182" name="Rechteck 181">
              <a:extLst>
                <a:ext uri="{FF2B5EF4-FFF2-40B4-BE49-F238E27FC236}">
                  <a16:creationId xmlns:a16="http://schemas.microsoft.com/office/drawing/2014/main" id="{5DFEEA9E-BC2D-826B-34B5-35A8FAE90E72}"/>
                </a:ext>
              </a:extLst>
            </p:cNvPr>
            <p:cNvSpPr/>
            <p:nvPr/>
          </p:nvSpPr>
          <p:spPr>
            <a:xfrm>
              <a:off x="7673554" y="4270660"/>
              <a:ext cx="1052800"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8" name="Textfeld 187">
              <a:extLst>
                <a:ext uri="{FF2B5EF4-FFF2-40B4-BE49-F238E27FC236}">
                  <a16:creationId xmlns:a16="http://schemas.microsoft.com/office/drawing/2014/main" id="{9D7209B2-F3B9-499A-1631-2F69BA0A0BF1}"/>
                </a:ext>
              </a:extLst>
            </p:cNvPr>
            <p:cNvSpPr txBox="1"/>
            <p:nvPr/>
          </p:nvSpPr>
          <p:spPr>
            <a:xfrm>
              <a:off x="7670989" y="4233353"/>
              <a:ext cx="1052800" cy="246221"/>
            </a:xfrm>
            <a:prstGeom prst="rect">
              <a:avLst/>
            </a:prstGeom>
            <a:noFill/>
          </p:spPr>
          <p:txBody>
            <a:bodyPr wrap="square" rtlCol="0">
              <a:spAutoFit/>
            </a:bodyPr>
            <a:lstStyle/>
            <a:p>
              <a:pPr algn="ctr"/>
              <a:r>
                <a:rPr lang="de-DE" sz="1000" dirty="0">
                  <a:solidFill>
                    <a:schemeClr val="bg1">
                      <a:lumMod val="65000"/>
                    </a:schemeClr>
                  </a:solidFill>
                </a:rPr>
                <a:t>Graph</a:t>
              </a:r>
            </a:p>
          </p:txBody>
        </p:sp>
        <p:sp>
          <p:nvSpPr>
            <p:cNvPr id="193" name="Flussdiagramm: Verbinder 192">
              <a:extLst>
                <a:ext uri="{FF2B5EF4-FFF2-40B4-BE49-F238E27FC236}">
                  <a16:creationId xmlns:a16="http://schemas.microsoft.com/office/drawing/2014/main" id="{6FD697CF-E76F-F57D-4296-F67141312278}"/>
                </a:ext>
              </a:extLst>
            </p:cNvPr>
            <p:cNvSpPr/>
            <p:nvPr/>
          </p:nvSpPr>
          <p:spPr>
            <a:xfrm>
              <a:off x="8004340" y="4530806"/>
              <a:ext cx="72000" cy="72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4" name="Flussdiagramm: Verbinder 193">
              <a:extLst>
                <a:ext uri="{FF2B5EF4-FFF2-40B4-BE49-F238E27FC236}">
                  <a16:creationId xmlns:a16="http://schemas.microsoft.com/office/drawing/2014/main" id="{9A4D3DB1-C20D-9D4D-CF1B-97ACA2DA00FB}"/>
                </a:ext>
              </a:extLst>
            </p:cNvPr>
            <p:cNvSpPr/>
            <p:nvPr/>
          </p:nvSpPr>
          <p:spPr>
            <a:xfrm>
              <a:off x="8163954" y="4450780"/>
              <a:ext cx="72000" cy="72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5" name="Flussdiagramm: Verbinder 194">
              <a:extLst>
                <a:ext uri="{FF2B5EF4-FFF2-40B4-BE49-F238E27FC236}">
                  <a16:creationId xmlns:a16="http://schemas.microsoft.com/office/drawing/2014/main" id="{6ED3FC39-F8F4-CC1C-C877-66E6CE4AEB19}"/>
                </a:ext>
              </a:extLst>
            </p:cNvPr>
            <p:cNvSpPr/>
            <p:nvPr/>
          </p:nvSpPr>
          <p:spPr>
            <a:xfrm>
              <a:off x="8163954" y="4609329"/>
              <a:ext cx="72000" cy="72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6" name="Flussdiagramm: Verbinder 195">
              <a:extLst>
                <a:ext uri="{FF2B5EF4-FFF2-40B4-BE49-F238E27FC236}">
                  <a16:creationId xmlns:a16="http://schemas.microsoft.com/office/drawing/2014/main" id="{8794C69F-270E-C508-2F8E-89290E724600}"/>
                </a:ext>
              </a:extLst>
            </p:cNvPr>
            <p:cNvSpPr/>
            <p:nvPr/>
          </p:nvSpPr>
          <p:spPr>
            <a:xfrm>
              <a:off x="8328412" y="4530806"/>
              <a:ext cx="72000" cy="720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198" name="Gerader Verbinder 197">
              <a:extLst>
                <a:ext uri="{FF2B5EF4-FFF2-40B4-BE49-F238E27FC236}">
                  <a16:creationId xmlns:a16="http://schemas.microsoft.com/office/drawing/2014/main" id="{0081D6B5-D505-38EE-2741-4CF35E42E5A1}"/>
                </a:ext>
              </a:extLst>
            </p:cNvPr>
            <p:cNvCxnSpPr>
              <a:cxnSpLocks/>
              <a:stCxn id="193" idx="7"/>
            </p:cNvCxnSpPr>
            <p:nvPr/>
          </p:nvCxnSpPr>
          <p:spPr>
            <a:xfrm flipV="1">
              <a:off x="8065796" y="4496305"/>
              <a:ext cx="98158" cy="45045"/>
            </a:xfrm>
            <a:prstGeom prst="line">
              <a:avLst/>
            </a:prstGeom>
            <a:ln w="12700"/>
          </p:spPr>
          <p:style>
            <a:lnRef idx="1">
              <a:schemeClr val="dk1"/>
            </a:lnRef>
            <a:fillRef idx="0">
              <a:schemeClr val="dk1"/>
            </a:fillRef>
            <a:effectRef idx="0">
              <a:schemeClr val="dk1"/>
            </a:effectRef>
            <a:fontRef idx="minor">
              <a:schemeClr val="tx1"/>
            </a:fontRef>
          </p:style>
        </p:cxnSp>
        <p:cxnSp>
          <p:nvCxnSpPr>
            <p:cNvPr id="200" name="Gerader Verbinder 199">
              <a:extLst>
                <a:ext uri="{FF2B5EF4-FFF2-40B4-BE49-F238E27FC236}">
                  <a16:creationId xmlns:a16="http://schemas.microsoft.com/office/drawing/2014/main" id="{EEAEFF26-B13B-1F4A-8EA7-CC619D1D816C}"/>
                </a:ext>
              </a:extLst>
            </p:cNvPr>
            <p:cNvCxnSpPr>
              <a:cxnSpLocks/>
            </p:cNvCxnSpPr>
            <p:nvPr/>
          </p:nvCxnSpPr>
          <p:spPr>
            <a:xfrm flipV="1">
              <a:off x="8235954" y="4586186"/>
              <a:ext cx="98158" cy="45045"/>
            </a:xfrm>
            <a:prstGeom prst="line">
              <a:avLst/>
            </a:prstGeom>
            <a:ln w="12700"/>
          </p:spPr>
          <p:style>
            <a:lnRef idx="1">
              <a:schemeClr val="dk1"/>
            </a:lnRef>
            <a:fillRef idx="0">
              <a:schemeClr val="dk1"/>
            </a:fillRef>
            <a:effectRef idx="0">
              <a:schemeClr val="dk1"/>
            </a:effectRef>
            <a:fontRef idx="minor">
              <a:schemeClr val="tx1"/>
            </a:fontRef>
          </p:style>
        </p:cxnSp>
        <p:cxnSp>
          <p:nvCxnSpPr>
            <p:cNvPr id="201" name="Gerader Verbinder 200">
              <a:extLst>
                <a:ext uri="{FF2B5EF4-FFF2-40B4-BE49-F238E27FC236}">
                  <a16:creationId xmlns:a16="http://schemas.microsoft.com/office/drawing/2014/main" id="{4EC10C2B-E168-AE8D-699B-2DBBB1714D28}"/>
                </a:ext>
              </a:extLst>
            </p:cNvPr>
            <p:cNvCxnSpPr>
              <a:cxnSpLocks/>
            </p:cNvCxnSpPr>
            <p:nvPr/>
          </p:nvCxnSpPr>
          <p:spPr>
            <a:xfrm>
              <a:off x="8235954" y="4502381"/>
              <a:ext cx="98158" cy="38969"/>
            </a:xfrm>
            <a:prstGeom prst="line">
              <a:avLst/>
            </a:prstGeom>
            <a:ln w="12700"/>
          </p:spPr>
          <p:style>
            <a:lnRef idx="1">
              <a:schemeClr val="dk1"/>
            </a:lnRef>
            <a:fillRef idx="0">
              <a:schemeClr val="dk1"/>
            </a:fillRef>
            <a:effectRef idx="0">
              <a:schemeClr val="dk1"/>
            </a:effectRef>
            <a:fontRef idx="minor">
              <a:schemeClr val="tx1"/>
            </a:fontRef>
          </p:style>
        </p:cxnSp>
        <p:cxnSp>
          <p:nvCxnSpPr>
            <p:cNvPr id="204" name="Gerader Verbinder 203">
              <a:extLst>
                <a:ext uri="{FF2B5EF4-FFF2-40B4-BE49-F238E27FC236}">
                  <a16:creationId xmlns:a16="http://schemas.microsoft.com/office/drawing/2014/main" id="{B5C37DE2-0EF9-F1D2-FE1C-799E4D8A8C66}"/>
                </a:ext>
              </a:extLst>
            </p:cNvPr>
            <p:cNvCxnSpPr>
              <a:cxnSpLocks/>
            </p:cNvCxnSpPr>
            <p:nvPr/>
          </p:nvCxnSpPr>
          <p:spPr>
            <a:xfrm>
              <a:off x="8068011" y="4594596"/>
              <a:ext cx="98158" cy="38969"/>
            </a:xfrm>
            <a:prstGeom prst="line">
              <a:avLst/>
            </a:prstGeom>
            <a:ln w="12700"/>
          </p:spPr>
          <p:style>
            <a:lnRef idx="1">
              <a:schemeClr val="dk1"/>
            </a:lnRef>
            <a:fillRef idx="0">
              <a:schemeClr val="dk1"/>
            </a:fillRef>
            <a:effectRef idx="0">
              <a:schemeClr val="dk1"/>
            </a:effectRef>
            <a:fontRef idx="minor">
              <a:schemeClr val="tx1"/>
            </a:fontRef>
          </p:style>
        </p:cxnSp>
        <p:cxnSp>
          <p:nvCxnSpPr>
            <p:cNvPr id="205" name="Gerader Verbinder 204">
              <a:extLst>
                <a:ext uri="{FF2B5EF4-FFF2-40B4-BE49-F238E27FC236}">
                  <a16:creationId xmlns:a16="http://schemas.microsoft.com/office/drawing/2014/main" id="{2051F5E4-26AB-918B-F971-24AEA3EE685D}"/>
                </a:ext>
              </a:extLst>
            </p:cNvPr>
            <p:cNvCxnSpPr>
              <a:cxnSpLocks/>
              <a:stCxn id="194" idx="4"/>
              <a:endCxn id="195" idx="0"/>
            </p:cNvCxnSpPr>
            <p:nvPr/>
          </p:nvCxnSpPr>
          <p:spPr>
            <a:xfrm>
              <a:off x="8199954" y="4522780"/>
              <a:ext cx="0" cy="86549"/>
            </a:xfrm>
            <a:prstGeom prst="line">
              <a:avLst/>
            </a:prstGeom>
            <a:ln w="12700"/>
          </p:spPr>
          <p:style>
            <a:lnRef idx="1">
              <a:schemeClr val="dk1"/>
            </a:lnRef>
            <a:fillRef idx="0">
              <a:schemeClr val="dk1"/>
            </a:fillRef>
            <a:effectRef idx="0">
              <a:schemeClr val="dk1"/>
            </a:effectRef>
            <a:fontRef idx="minor">
              <a:schemeClr val="tx1"/>
            </a:fontRef>
          </p:style>
        </p:cxnSp>
      </p:grpSp>
      <p:cxnSp>
        <p:nvCxnSpPr>
          <p:cNvPr id="209" name="Verbinder: gewinkelt 208">
            <a:extLst>
              <a:ext uri="{FF2B5EF4-FFF2-40B4-BE49-F238E27FC236}">
                <a16:creationId xmlns:a16="http://schemas.microsoft.com/office/drawing/2014/main" id="{C2BA82F4-6C23-FF84-52C6-7C5A2AB00559}"/>
              </a:ext>
            </a:extLst>
          </p:cNvPr>
          <p:cNvCxnSpPr>
            <a:cxnSpLocks/>
            <a:endCxn id="189" idx="1"/>
          </p:cNvCxnSpPr>
          <p:nvPr/>
        </p:nvCxnSpPr>
        <p:spPr>
          <a:xfrm flipV="1">
            <a:off x="6922358" y="4046388"/>
            <a:ext cx="1920651" cy="226768"/>
          </a:xfrm>
          <a:prstGeom prst="bentConnector3">
            <a:avLst>
              <a:gd name="adj1" fmla="val 2333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3" name="Verbinder: gewinkelt 212">
            <a:extLst>
              <a:ext uri="{FF2B5EF4-FFF2-40B4-BE49-F238E27FC236}">
                <a16:creationId xmlns:a16="http://schemas.microsoft.com/office/drawing/2014/main" id="{82CD8BF5-6260-4C64-F069-B64792B30724}"/>
              </a:ext>
            </a:extLst>
          </p:cNvPr>
          <p:cNvCxnSpPr>
            <a:cxnSpLocks/>
            <a:stCxn id="189" idx="3"/>
          </p:cNvCxnSpPr>
          <p:nvPr/>
        </p:nvCxnSpPr>
        <p:spPr>
          <a:xfrm>
            <a:off x="9669816" y="4046388"/>
            <a:ext cx="433824" cy="315769"/>
          </a:xfrm>
          <a:prstGeom prst="bentConnector3">
            <a:avLst>
              <a:gd name="adj1" fmla="val 10049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7" name="Gerade Verbindung mit Pfeil 216">
            <a:extLst>
              <a:ext uri="{FF2B5EF4-FFF2-40B4-BE49-F238E27FC236}">
                <a16:creationId xmlns:a16="http://schemas.microsoft.com/office/drawing/2014/main" id="{66B8CE2B-9903-ACA2-A615-1B258981ED32}"/>
              </a:ext>
            </a:extLst>
          </p:cNvPr>
          <p:cNvCxnSpPr>
            <a:cxnSpLocks/>
            <a:stCxn id="182" idx="3"/>
            <a:endCxn id="190" idx="1"/>
          </p:cNvCxnSpPr>
          <p:nvPr/>
        </p:nvCxnSpPr>
        <p:spPr>
          <a:xfrm>
            <a:off x="8688842" y="4575376"/>
            <a:ext cx="16426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8" name="Gerade Verbindung mit Pfeil 217">
            <a:extLst>
              <a:ext uri="{FF2B5EF4-FFF2-40B4-BE49-F238E27FC236}">
                <a16:creationId xmlns:a16="http://schemas.microsoft.com/office/drawing/2014/main" id="{F414C3FC-4BEB-4051-0B56-9E87608CD024}"/>
              </a:ext>
            </a:extLst>
          </p:cNvPr>
          <p:cNvCxnSpPr>
            <a:cxnSpLocks/>
            <a:stCxn id="190" idx="3"/>
            <a:endCxn id="149" idx="1"/>
          </p:cNvCxnSpPr>
          <p:nvPr/>
        </p:nvCxnSpPr>
        <p:spPr>
          <a:xfrm>
            <a:off x="9679910" y="4575376"/>
            <a:ext cx="142469"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28" name="Rechteck 227">
            <a:extLst>
              <a:ext uri="{FF2B5EF4-FFF2-40B4-BE49-F238E27FC236}">
                <a16:creationId xmlns:a16="http://schemas.microsoft.com/office/drawing/2014/main" id="{9B92E1D0-EEA1-803F-0EE5-2F91CE260D5B}"/>
              </a:ext>
            </a:extLst>
          </p:cNvPr>
          <p:cNvSpPr/>
          <p:nvPr/>
        </p:nvSpPr>
        <p:spPr>
          <a:xfrm>
            <a:off x="10490990" y="3899377"/>
            <a:ext cx="519003" cy="3008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I</a:t>
            </a:r>
            <a:r>
              <a:rPr lang="de-DE" sz="1000" dirty="0">
                <a:solidFill>
                  <a:schemeClr val="tx1"/>
                </a:solidFill>
                <a:latin typeface="Agency FB" panose="020B0503020202020204" pitchFamily="34" charset="0"/>
                <a:cs typeface="Times New Roman" panose="02020603050405020304" pitchFamily="18" charset="0"/>
              </a:rPr>
              <a:t>‘</a:t>
            </a:r>
          </a:p>
        </p:txBody>
      </p:sp>
      <p:cxnSp>
        <p:nvCxnSpPr>
          <p:cNvPr id="229" name="Gerade Verbindung mit Pfeil 228">
            <a:extLst>
              <a:ext uri="{FF2B5EF4-FFF2-40B4-BE49-F238E27FC236}">
                <a16:creationId xmlns:a16="http://schemas.microsoft.com/office/drawing/2014/main" id="{2486BEC3-630E-8091-E1A2-BB7CBA0B02A4}"/>
              </a:ext>
            </a:extLst>
          </p:cNvPr>
          <p:cNvCxnSpPr>
            <a:cxnSpLocks/>
            <a:stCxn id="122" idx="2"/>
            <a:endCxn id="228" idx="0"/>
          </p:cNvCxnSpPr>
          <p:nvPr/>
        </p:nvCxnSpPr>
        <p:spPr>
          <a:xfrm flipH="1">
            <a:off x="10750492" y="3734556"/>
            <a:ext cx="4" cy="1648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3" name="Gerade Verbindung mit Pfeil 232">
            <a:extLst>
              <a:ext uri="{FF2B5EF4-FFF2-40B4-BE49-F238E27FC236}">
                <a16:creationId xmlns:a16="http://schemas.microsoft.com/office/drawing/2014/main" id="{F6E5CF06-FD53-A511-3930-8F6FB399D97F}"/>
              </a:ext>
            </a:extLst>
          </p:cNvPr>
          <p:cNvCxnSpPr>
            <a:cxnSpLocks/>
            <a:stCxn id="228" idx="2"/>
            <a:endCxn id="149" idx="0"/>
          </p:cNvCxnSpPr>
          <p:nvPr/>
        </p:nvCxnSpPr>
        <p:spPr>
          <a:xfrm>
            <a:off x="10750492" y="4200198"/>
            <a:ext cx="3" cy="15886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39" name="Rechteck 238">
            <a:extLst>
              <a:ext uri="{FF2B5EF4-FFF2-40B4-BE49-F238E27FC236}">
                <a16:creationId xmlns:a16="http://schemas.microsoft.com/office/drawing/2014/main" id="{906F7603-54EE-5F0C-A687-D30EE69C6D4C}"/>
              </a:ext>
            </a:extLst>
          </p:cNvPr>
          <p:cNvSpPr/>
          <p:nvPr/>
        </p:nvSpPr>
        <p:spPr>
          <a:xfrm>
            <a:off x="10006370" y="4956513"/>
            <a:ext cx="519003" cy="3008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cs typeface="Times New Roman" panose="02020603050405020304" pitchFamily="18" charset="0"/>
              </a:rPr>
              <a:t>W</a:t>
            </a:r>
            <a:r>
              <a:rPr lang="de-DE" sz="1000" baseline="-25000" dirty="0" err="1">
                <a:solidFill>
                  <a:schemeClr val="tx1"/>
                </a:solidFill>
                <a:cs typeface="Times New Roman" panose="02020603050405020304" pitchFamily="18" charset="0"/>
              </a:rPr>
              <a:t>Pr</a:t>
            </a:r>
            <a:r>
              <a:rPr lang="de-DE" sz="1000" dirty="0">
                <a:solidFill>
                  <a:schemeClr val="tx1"/>
                </a:solidFill>
                <a:latin typeface="Agency FB" panose="020B0503020202020204" pitchFamily="34" charset="0"/>
                <a:cs typeface="Times New Roman" panose="02020603050405020304" pitchFamily="18" charset="0"/>
              </a:rPr>
              <a:t>‘</a:t>
            </a:r>
          </a:p>
        </p:txBody>
      </p:sp>
      <p:cxnSp>
        <p:nvCxnSpPr>
          <p:cNvPr id="240" name="Gerade Verbindung mit Pfeil 239">
            <a:extLst>
              <a:ext uri="{FF2B5EF4-FFF2-40B4-BE49-F238E27FC236}">
                <a16:creationId xmlns:a16="http://schemas.microsoft.com/office/drawing/2014/main" id="{DCB8350F-76A0-9227-8BC7-05956860913A}"/>
              </a:ext>
            </a:extLst>
          </p:cNvPr>
          <p:cNvCxnSpPr>
            <a:cxnSpLocks/>
            <a:endCxn id="239" idx="0"/>
          </p:cNvCxnSpPr>
          <p:nvPr/>
        </p:nvCxnSpPr>
        <p:spPr>
          <a:xfrm flipH="1">
            <a:off x="10265872" y="4791692"/>
            <a:ext cx="4" cy="1648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1" name="Gerade Verbindung mit Pfeil 240">
            <a:extLst>
              <a:ext uri="{FF2B5EF4-FFF2-40B4-BE49-F238E27FC236}">
                <a16:creationId xmlns:a16="http://schemas.microsoft.com/office/drawing/2014/main" id="{2BE60F3B-C912-341E-1959-832DD9CF1689}"/>
              </a:ext>
            </a:extLst>
          </p:cNvPr>
          <p:cNvCxnSpPr>
            <a:cxnSpLocks/>
            <a:stCxn id="239" idx="2"/>
          </p:cNvCxnSpPr>
          <p:nvPr/>
        </p:nvCxnSpPr>
        <p:spPr>
          <a:xfrm>
            <a:off x="10265872" y="5257334"/>
            <a:ext cx="3" cy="15886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42" name="Rechteck 241">
            <a:extLst>
              <a:ext uri="{FF2B5EF4-FFF2-40B4-BE49-F238E27FC236}">
                <a16:creationId xmlns:a16="http://schemas.microsoft.com/office/drawing/2014/main" id="{4855451E-4932-C151-E2D9-16A987ECF162}"/>
              </a:ext>
            </a:extLst>
          </p:cNvPr>
          <p:cNvSpPr/>
          <p:nvPr/>
        </p:nvSpPr>
        <p:spPr>
          <a:xfrm>
            <a:off x="11011263" y="4958760"/>
            <a:ext cx="519003" cy="30082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cs typeface="Times New Roman" panose="02020603050405020304" pitchFamily="18" charset="0"/>
              </a:rPr>
              <a:t>G</a:t>
            </a:r>
            <a:r>
              <a:rPr lang="de-DE" sz="1000" baseline="-25000" dirty="0" err="1">
                <a:solidFill>
                  <a:schemeClr val="tx1"/>
                </a:solidFill>
                <a:cs typeface="Times New Roman" panose="02020603050405020304" pitchFamily="18" charset="0"/>
              </a:rPr>
              <a:t>Pr</a:t>
            </a:r>
            <a:r>
              <a:rPr lang="de-DE" sz="1000" dirty="0">
                <a:solidFill>
                  <a:schemeClr val="tx1"/>
                </a:solidFill>
                <a:latin typeface="Agency FB" panose="020B0503020202020204" pitchFamily="34" charset="0"/>
                <a:cs typeface="Times New Roman" panose="02020603050405020304" pitchFamily="18" charset="0"/>
              </a:rPr>
              <a:t>‘</a:t>
            </a:r>
          </a:p>
        </p:txBody>
      </p:sp>
      <p:cxnSp>
        <p:nvCxnSpPr>
          <p:cNvPr id="243" name="Gerade Verbindung mit Pfeil 242">
            <a:extLst>
              <a:ext uri="{FF2B5EF4-FFF2-40B4-BE49-F238E27FC236}">
                <a16:creationId xmlns:a16="http://schemas.microsoft.com/office/drawing/2014/main" id="{70E7401F-8C80-7A9D-A4A1-562DE21354C7}"/>
              </a:ext>
            </a:extLst>
          </p:cNvPr>
          <p:cNvCxnSpPr>
            <a:cxnSpLocks/>
            <a:endCxn id="242" idx="0"/>
          </p:cNvCxnSpPr>
          <p:nvPr/>
        </p:nvCxnSpPr>
        <p:spPr>
          <a:xfrm flipH="1">
            <a:off x="11270765" y="4793939"/>
            <a:ext cx="4" cy="1648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4" name="Gerade Verbindung mit Pfeil 243">
            <a:extLst>
              <a:ext uri="{FF2B5EF4-FFF2-40B4-BE49-F238E27FC236}">
                <a16:creationId xmlns:a16="http://schemas.microsoft.com/office/drawing/2014/main" id="{FBF5E158-7D42-DC09-313E-74F4DE78E209}"/>
              </a:ext>
            </a:extLst>
          </p:cNvPr>
          <p:cNvCxnSpPr>
            <a:cxnSpLocks/>
            <a:stCxn id="242" idx="2"/>
          </p:cNvCxnSpPr>
          <p:nvPr/>
        </p:nvCxnSpPr>
        <p:spPr>
          <a:xfrm>
            <a:off x="11270765" y="5259581"/>
            <a:ext cx="3" cy="15886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pic>
        <p:nvPicPr>
          <p:cNvPr id="251" name="Grafik 250" descr="Dokument Silhouette">
            <a:extLst>
              <a:ext uri="{FF2B5EF4-FFF2-40B4-BE49-F238E27FC236}">
                <a16:creationId xmlns:a16="http://schemas.microsoft.com/office/drawing/2014/main" id="{7D58BDDD-6048-8A6A-500A-FB9C8EB88C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8481" y="4982686"/>
            <a:ext cx="914400" cy="914400"/>
          </a:xfrm>
          <a:prstGeom prst="rect">
            <a:avLst/>
          </a:prstGeom>
        </p:spPr>
      </p:pic>
      <p:cxnSp>
        <p:nvCxnSpPr>
          <p:cNvPr id="252" name="Gerade Verbindung mit Pfeil 251">
            <a:extLst>
              <a:ext uri="{FF2B5EF4-FFF2-40B4-BE49-F238E27FC236}">
                <a16:creationId xmlns:a16="http://schemas.microsoft.com/office/drawing/2014/main" id="{862D8AD7-745F-2277-BC65-CAA654F52BD7}"/>
              </a:ext>
            </a:extLst>
          </p:cNvPr>
          <p:cNvCxnSpPr>
            <a:cxnSpLocks/>
            <a:stCxn id="191" idx="1"/>
          </p:cNvCxnSpPr>
          <p:nvPr/>
        </p:nvCxnSpPr>
        <p:spPr>
          <a:xfrm flipH="1">
            <a:off x="9412125" y="5632514"/>
            <a:ext cx="41025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60" name="Verbinder: gewinkelt 259">
            <a:extLst>
              <a:ext uri="{FF2B5EF4-FFF2-40B4-BE49-F238E27FC236}">
                <a16:creationId xmlns:a16="http://schemas.microsoft.com/office/drawing/2014/main" id="{DC03F6E1-EEBC-57E1-DF20-C2FA6D99F2C9}"/>
              </a:ext>
            </a:extLst>
          </p:cNvPr>
          <p:cNvCxnSpPr>
            <a:cxnSpLocks/>
          </p:cNvCxnSpPr>
          <p:nvPr/>
        </p:nvCxnSpPr>
        <p:spPr>
          <a:xfrm rot="16200000" flipH="1">
            <a:off x="9992464" y="3685442"/>
            <a:ext cx="3420243" cy="471040"/>
          </a:xfrm>
          <a:prstGeom prst="bentConnector3">
            <a:avLst>
              <a:gd name="adj1" fmla="val 203"/>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Verbinder: gewinkelt 269">
            <a:extLst>
              <a:ext uri="{FF2B5EF4-FFF2-40B4-BE49-F238E27FC236}">
                <a16:creationId xmlns:a16="http://schemas.microsoft.com/office/drawing/2014/main" id="{B5294C47-A814-519B-5088-692F9822F55B}"/>
              </a:ext>
            </a:extLst>
          </p:cNvPr>
          <p:cNvCxnSpPr>
            <a:cxnSpLocks/>
            <a:endCxn id="182" idx="1"/>
          </p:cNvCxnSpPr>
          <p:nvPr/>
        </p:nvCxnSpPr>
        <p:spPr>
          <a:xfrm rot="16200000" flipH="1">
            <a:off x="6592466" y="3531800"/>
            <a:ext cx="1958268" cy="128884"/>
          </a:xfrm>
          <a:prstGeom prst="bent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5" name="Gerade Verbindung mit Pfeil 274">
            <a:extLst>
              <a:ext uri="{FF2B5EF4-FFF2-40B4-BE49-F238E27FC236}">
                <a16:creationId xmlns:a16="http://schemas.microsoft.com/office/drawing/2014/main" id="{7577EA8D-1F45-D72D-4776-B641F12CF6F6}"/>
              </a:ext>
            </a:extLst>
          </p:cNvPr>
          <p:cNvCxnSpPr>
            <a:cxnSpLocks/>
            <a:stCxn id="112" idx="2"/>
          </p:cNvCxnSpPr>
          <p:nvPr/>
        </p:nvCxnSpPr>
        <p:spPr>
          <a:xfrm flipH="1">
            <a:off x="8159877" y="3733716"/>
            <a:ext cx="1283" cy="62423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3" name="Gerade Verbindung mit Pfeil 282">
            <a:extLst>
              <a:ext uri="{FF2B5EF4-FFF2-40B4-BE49-F238E27FC236}">
                <a16:creationId xmlns:a16="http://schemas.microsoft.com/office/drawing/2014/main" id="{8FFC9B37-7E61-ECAD-14C8-4D306F400F36}"/>
              </a:ext>
            </a:extLst>
          </p:cNvPr>
          <p:cNvCxnSpPr>
            <a:cxnSpLocks/>
            <a:endCxn id="191" idx="3"/>
          </p:cNvCxnSpPr>
          <p:nvPr/>
        </p:nvCxnSpPr>
        <p:spPr>
          <a:xfrm flipH="1">
            <a:off x="11678610" y="5632514"/>
            <a:ext cx="259495"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91" name="Rechteck 290">
            <a:extLst>
              <a:ext uri="{FF2B5EF4-FFF2-40B4-BE49-F238E27FC236}">
                <a16:creationId xmlns:a16="http://schemas.microsoft.com/office/drawing/2014/main" id="{262652F4-95D4-DD6B-F867-9C7DAB434D84}"/>
              </a:ext>
            </a:extLst>
          </p:cNvPr>
          <p:cNvSpPr/>
          <p:nvPr/>
        </p:nvSpPr>
        <p:spPr>
          <a:xfrm>
            <a:off x="6198761" y="5584435"/>
            <a:ext cx="655518" cy="294697"/>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tx1"/>
                </a:solidFill>
              </a:rPr>
              <a:t>Embedding</a:t>
            </a:r>
          </a:p>
        </p:txBody>
      </p:sp>
      <p:sp>
        <p:nvSpPr>
          <p:cNvPr id="292" name="Rechteck 291">
            <a:extLst>
              <a:ext uri="{FF2B5EF4-FFF2-40B4-BE49-F238E27FC236}">
                <a16:creationId xmlns:a16="http://schemas.microsoft.com/office/drawing/2014/main" id="{432ED43E-B5CD-CAB9-2145-9EE35702567B}"/>
              </a:ext>
            </a:extLst>
          </p:cNvPr>
          <p:cNvSpPr/>
          <p:nvPr/>
        </p:nvSpPr>
        <p:spPr>
          <a:xfrm>
            <a:off x="7111922" y="5584434"/>
            <a:ext cx="655518" cy="29469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err="1">
                <a:solidFill>
                  <a:schemeClr val="tx1"/>
                </a:solidFill>
              </a:rPr>
              <a:t>Cosine</a:t>
            </a:r>
            <a:r>
              <a:rPr lang="de-DE" sz="700" dirty="0">
                <a:solidFill>
                  <a:schemeClr val="tx1"/>
                </a:solidFill>
              </a:rPr>
              <a:t> </a:t>
            </a:r>
            <a:r>
              <a:rPr lang="de-DE" sz="700" dirty="0" err="1">
                <a:solidFill>
                  <a:schemeClr val="tx1"/>
                </a:solidFill>
              </a:rPr>
              <a:t>Similarity</a:t>
            </a:r>
            <a:endParaRPr lang="de-DE" sz="700" dirty="0">
              <a:solidFill>
                <a:schemeClr val="tx1"/>
              </a:solidFill>
            </a:endParaRPr>
          </a:p>
        </p:txBody>
      </p:sp>
      <p:sp>
        <p:nvSpPr>
          <p:cNvPr id="293" name="Rechteck 292">
            <a:extLst>
              <a:ext uri="{FF2B5EF4-FFF2-40B4-BE49-F238E27FC236}">
                <a16:creationId xmlns:a16="http://schemas.microsoft.com/office/drawing/2014/main" id="{7B394056-349C-BE58-4106-47110F5058DD}"/>
              </a:ext>
            </a:extLst>
          </p:cNvPr>
          <p:cNvSpPr/>
          <p:nvPr/>
        </p:nvSpPr>
        <p:spPr>
          <a:xfrm>
            <a:off x="11289181" y="272947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Tree>
    <p:extLst>
      <p:ext uri="{BB962C8B-B14F-4D97-AF65-F5344CB8AC3E}">
        <p14:creationId xmlns:p14="http://schemas.microsoft.com/office/powerpoint/2010/main" val="1225474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3236-7159-6BE0-BE93-64403C30C99D}"/>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411BE30-B931-55C0-B750-6B250F1F7322}"/>
              </a:ext>
            </a:extLst>
          </p:cNvPr>
          <p:cNvSpPr>
            <a:spLocks noGrp="1"/>
          </p:cNvSpPr>
          <p:nvPr>
            <p:ph type="title"/>
          </p:nvPr>
        </p:nvSpPr>
        <p:spPr/>
        <p:txBody>
          <a:bodyPr/>
          <a:lstStyle/>
          <a:p>
            <a:r>
              <a:rPr lang="en-US" dirty="0"/>
              <a:t>Radiology Report Generation with a Learned Knowledge Base and Multi-modal Alignment </a:t>
            </a:r>
            <a:br>
              <a:rPr lang="en-US" dirty="0"/>
            </a:br>
            <a:r>
              <a:rPr lang="en-US" dirty="0"/>
              <a:t>(Yang et al., 2023) [2]</a:t>
            </a:r>
            <a:endParaRPr lang="de-DE" dirty="0"/>
          </a:p>
        </p:txBody>
      </p:sp>
      <p:sp>
        <p:nvSpPr>
          <p:cNvPr id="5" name="Textplatzhalter 1">
            <a:extLst>
              <a:ext uri="{FF2B5EF4-FFF2-40B4-BE49-F238E27FC236}">
                <a16:creationId xmlns:a16="http://schemas.microsoft.com/office/drawing/2014/main" id="{16F69D0E-3C4B-4BDF-1C77-1D449202C8C5}"/>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Image captioning tasks aim to describe all image details, but radiology report generation (RRG) needs to focus on identifying abnormal regions.</a:t>
            </a:r>
          </a:p>
          <a:p>
            <a:pPr lvl="1" algn="just"/>
            <a:r>
              <a:rPr lang="en-US" sz="1200" dirty="0"/>
              <a:t>Fixed knowledge graphs can’t transfer knowledge to unseen diseases.</a:t>
            </a:r>
          </a:p>
          <a:p>
            <a:pPr algn="just"/>
            <a:r>
              <a:rPr lang="en-US" sz="1400" b="1" dirty="0"/>
              <a:t>Approach</a:t>
            </a:r>
            <a:endParaRPr lang="en-US" sz="1600" b="1" dirty="0"/>
          </a:p>
          <a:p>
            <a:pPr lvl="1" algn="just"/>
            <a:r>
              <a:rPr lang="en-US" sz="1200" dirty="0"/>
              <a:t>The authors propose a framework consisting of three  modules:</a:t>
            </a:r>
          </a:p>
          <a:p>
            <a:pPr lvl="2" algn="just"/>
            <a:r>
              <a:rPr lang="en-US" sz="1200" b="1" dirty="0"/>
              <a:t>Knowledge-enhancing generator: </a:t>
            </a:r>
            <a:r>
              <a:rPr lang="en-US" sz="1200" dirty="0"/>
              <a:t>generates a report using visual and knowledge-enhanced features that integrate medical domain knowledge</a:t>
            </a:r>
          </a:p>
          <a:p>
            <a:pPr lvl="2" algn="just"/>
            <a:r>
              <a:rPr lang="en-US" sz="1200" b="1" dirty="0"/>
              <a:t>Knowledge-updating module: </a:t>
            </a:r>
            <a:r>
              <a:rPr lang="en-US" sz="1200" dirty="0"/>
              <a:t>dynamically updates a knowledge base during each training step using multi-head attention to retrieve relevant or new information from the current report</a:t>
            </a:r>
          </a:p>
          <a:p>
            <a:pPr lvl="2" algn="just"/>
            <a:r>
              <a:rPr lang="en-US" sz="1200" b="1" dirty="0"/>
              <a:t>Multi-modal alignment module: </a:t>
            </a:r>
            <a:r>
              <a:rPr lang="en-US" sz="1200" dirty="0"/>
              <a:t>aligns image features, textual (report) features, and disease label embeddings into a joint embedding space to better capture semantic relationships</a:t>
            </a:r>
          </a:p>
          <a:p>
            <a:pPr lvl="1" algn="just"/>
            <a:r>
              <a:rPr lang="en-US" sz="1200" dirty="0"/>
              <a:t>Only the Knowledge-enhancing generator is used during inference</a:t>
            </a:r>
          </a:p>
          <a:p>
            <a:pPr algn="just"/>
            <a:r>
              <a:rPr lang="en-US" sz="1400" b="1" dirty="0"/>
              <a:t>Results</a:t>
            </a:r>
          </a:p>
          <a:p>
            <a:pPr lvl="1" algn="just"/>
            <a:r>
              <a:rPr lang="en-US" sz="1200" dirty="0"/>
              <a:t>The model improves common NLG scores (BLEU-1/2/3/4, </a:t>
            </a:r>
            <a:r>
              <a:rPr lang="en-US" sz="1200" dirty="0" err="1"/>
              <a:t>CIDEr</a:t>
            </a:r>
            <a:r>
              <a:rPr lang="en-US" sz="1200" dirty="0"/>
              <a:t>, ROUGE-L) by 1%–32.1% on the MIMIC-CXR and IU-Xray datasets and clinical metrics by 7%–27.5% on MIMIC-CXR compared to prior SOTA models.</a:t>
            </a:r>
          </a:p>
          <a:p>
            <a:pPr lvl="1" algn="just"/>
            <a:r>
              <a:rPr lang="en-US" sz="1200" dirty="0"/>
              <a:t>Ablation studies show that each kind of alignment, 8 heads in MHA and a larger knowledge base on a large dataset all improve the model</a:t>
            </a:r>
          </a:p>
          <a:p>
            <a:pPr algn="just"/>
            <a:r>
              <a:rPr lang="en-US" sz="1400" b="1" dirty="0"/>
              <a:t>Key Takeaway</a:t>
            </a:r>
          </a:p>
          <a:p>
            <a:pPr lvl="1" algn="just"/>
            <a:r>
              <a:rPr lang="en-US" sz="1200" dirty="0"/>
              <a:t>Dynamically updating medical knowledge and aligning visual–text–label features significantly improve radiology report generation</a:t>
            </a:r>
            <a:endParaRPr lang="en-US" sz="1200" b="1" dirty="0"/>
          </a:p>
        </p:txBody>
      </p:sp>
      <p:sp>
        <p:nvSpPr>
          <p:cNvPr id="6" name="Inhaltsplatzhalter 3">
            <a:extLst>
              <a:ext uri="{FF2B5EF4-FFF2-40B4-BE49-F238E27FC236}">
                <a16:creationId xmlns:a16="http://schemas.microsoft.com/office/drawing/2014/main" id="{462B6B6A-3BCD-D235-2358-643342C5074A}"/>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Medical Image Analysis</a:t>
            </a:r>
            <a:endParaRPr lang="de-DE" sz="1800" dirty="0"/>
          </a:p>
        </p:txBody>
      </p:sp>
      <p:grpSp>
        <p:nvGrpSpPr>
          <p:cNvPr id="237" name="Gruppieren 236">
            <a:extLst>
              <a:ext uri="{FF2B5EF4-FFF2-40B4-BE49-F238E27FC236}">
                <a16:creationId xmlns:a16="http://schemas.microsoft.com/office/drawing/2014/main" id="{EE434B22-38A5-B2D0-219F-82F400FC23E4}"/>
              </a:ext>
            </a:extLst>
          </p:cNvPr>
          <p:cNvGrpSpPr/>
          <p:nvPr/>
        </p:nvGrpSpPr>
        <p:grpSpPr>
          <a:xfrm>
            <a:off x="6233799" y="1023588"/>
            <a:ext cx="5634201" cy="4335812"/>
            <a:chOff x="6379495" y="1432556"/>
            <a:chExt cx="5634201" cy="4335812"/>
          </a:xfrm>
        </p:grpSpPr>
        <p:sp>
          <p:nvSpPr>
            <p:cNvPr id="154" name="Rechteck: abgerundete Ecken 153">
              <a:extLst>
                <a:ext uri="{FF2B5EF4-FFF2-40B4-BE49-F238E27FC236}">
                  <a16:creationId xmlns:a16="http://schemas.microsoft.com/office/drawing/2014/main" id="{10A4FBC3-8DA0-EC10-177F-D7DEDC85B1D0}"/>
                </a:ext>
              </a:extLst>
            </p:cNvPr>
            <p:cNvSpPr/>
            <p:nvPr/>
          </p:nvSpPr>
          <p:spPr>
            <a:xfrm>
              <a:off x="8726780" y="1432557"/>
              <a:ext cx="3286916" cy="200499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abgerundete Ecken 7">
              <a:extLst>
                <a:ext uri="{FF2B5EF4-FFF2-40B4-BE49-F238E27FC236}">
                  <a16:creationId xmlns:a16="http://schemas.microsoft.com/office/drawing/2014/main" id="{A43D0948-DB97-A76F-E429-8203A49DDBAA}"/>
                </a:ext>
              </a:extLst>
            </p:cNvPr>
            <p:cNvSpPr/>
            <p:nvPr/>
          </p:nvSpPr>
          <p:spPr>
            <a:xfrm>
              <a:off x="6379495" y="1432556"/>
              <a:ext cx="2146448" cy="433581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9" name="Gruppieren 8">
              <a:extLst>
                <a:ext uri="{FF2B5EF4-FFF2-40B4-BE49-F238E27FC236}">
                  <a16:creationId xmlns:a16="http://schemas.microsoft.com/office/drawing/2014/main" id="{14D11B5F-F33B-95E1-3292-0D22DE98EE64}"/>
                </a:ext>
              </a:extLst>
            </p:cNvPr>
            <p:cNvGrpSpPr/>
            <p:nvPr/>
          </p:nvGrpSpPr>
          <p:grpSpPr>
            <a:xfrm>
              <a:off x="6471877" y="1623250"/>
              <a:ext cx="826807" cy="796741"/>
              <a:chOff x="6890327" y="1636222"/>
              <a:chExt cx="826807" cy="796741"/>
            </a:xfrm>
          </p:grpSpPr>
          <p:sp>
            <p:nvSpPr>
              <p:cNvPr id="73" name="Rechteck 72">
                <a:extLst>
                  <a:ext uri="{FF2B5EF4-FFF2-40B4-BE49-F238E27FC236}">
                    <a16:creationId xmlns:a16="http://schemas.microsoft.com/office/drawing/2014/main" id="{4FDEC0D6-9968-A3B1-73C4-2DD50246CB80}"/>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74" name="Gerader Verbinder 73">
                <a:extLst>
                  <a:ext uri="{FF2B5EF4-FFF2-40B4-BE49-F238E27FC236}">
                    <a16:creationId xmlns:a16="http://schemas.microsoft.com/office/drawing/2014/main" id="{C7D05D68-894A-6074-E15D-C7B7CE1BCCCA}"/>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75" name="Gerader Verbinder 74">
                <a:extLst>
                  <a:ext uri="{FF2B5EF4-FFF2-40B4-BE49-F238E27FC236}">
                    <a16:creationId xmlns:a16="http://schemas.microsoft.com/office/drawing/2014/main" id="{E6C542B6-4955-A7FE-C88C-0E818EC3D9BF}"/>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3" name="Gerader Verbinder 92">
                <a:extLst>
                  <a:ext uri="{FF2B5EF4-FFF2-40B4-BE49-F238E27FC236}">
                    <a16:creationId xmlns:a16="http://schemas.microsoft.com/office/drawing/2014/main" id="{E5541633-3BD6-2D24-498D-B978A64D5FBF}"/>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4" name="Gerader Verbinder 93">
                <a:extLst>
                  <a:ext uri="{FF2B5EF4-FFF2-40B4-BE49-F238E27FC236}">
                    <a16:creationId xmlns:a16="http://schemas.microsoft.com/office/drawing/2014/main" id="{BB2CF0BF-951E-5D42-B7A6-137DA5CCF574}"/>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5" name="Gerader Verbinder 94">
                <a:extLst>
                  <a:ext uri="{FF2B5EF4-FFF2-40B4-BE49-F238E27FC236}">
                    <a16:creationId xmlns:a16="http://schemas.microsoft.com/office/drawing/2014/main" id="{1F8BE346-78E9-B2B5-9A37-2FB83092F5D2}"/>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6" name="Gerader Verbinder 95">
                <a:extLst>
                  <a:ext uri="{FF2B5EF4-FFF2-40B4-BE49-F238E27FC236}">
                    <a16:creationId xmlns:a16="http://schemas.microsoft.com/office/drawing/2014/main" id="{B6016ECA-B561-EED5-6729-22C9AFDCB5CB}"/>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7" name="Gerader Verbinder 96">
                <a:extLst>
                  <a:ext uri="{FF2B5EF4-FFF2-40B4-BE49-F238E27FC236}">
                    <a16:creationId xmlns:a16="http://schemas.microsoft.com/office/drawing/2014/main" id="{03633B54-AB9F-E182-F2DF-A0E3C1FBCF22}"/>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8" name="Gerader Verbinder 97">
                <a:extLst>
                  <a:ext uri="{FF2B5EF4-FFF2-40B4-BE49-F238E27FC236}">
                    <a16:creationId xmlns:a16="http://schemas.microsoft.com/office/drawing/2014/main" id="{3E2EF8A6-42C3-53CB-7AD7-D59524373AA8}"/>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99" name="Grafik 98" descr="Lungen mit einfarbiger Füllung">
                <a:extLst>
                  <a:ext uri="{FF2B5EF4-FFF2-40B4-BE49-F238E27FC236}">
                    <a16:creationId xmlns:a16="http://schemas.microsoft.com/office/drawing/2014/main" id="{81FA1F3E-E6AF-61E9-8B56-A01138D945E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3008" y="1703870"/>
                <a:ext cx="661446" cy="661446"/>
              </a:xfrm>
              <a:prstGeom prst="rect">
                <a:avLst/>
              </a:prstGeom>
            </p:spPr>
          </p:pic>
        </p:grpSp>
        <p:sp>
          <p:nvSpPr>
            <p:cNvPr id="16" name="Rechteck 15">
              <a:extLst>
                <a:ext uri="{FF2B5EF4-FFF2-40B4-BE49-F238E27FC236}">
                  <a16:creationId xmlns:a16="http://schemas.microsoft.com/office/drawing/2014/main" id="{13975A96-88D7-194C-ACD5-50F6F4614FF6}"/>
                </a:ext>
              </a:extLst>
            </p:cNvPr>
            <p:cNvSpPr/>
            <p:nvPr/>
          </p:nvSpPr>
          <p:spPr>
            <a:xfrm>
              <a:off x="6471878" y="262497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pic>
          <p:nvPicPr>
            <p:cNvPr id="100" name="Grafik 99" descr="Dokument Silhouette">
              <a:extLst>
                <a:ext uri="{FF2B5EF4-FFF2-40B4-BE49-F238E27FC236}">
                  <a16:creationId xmlns:a16="http://schemas.microsoft.com/office/drawing/2014/main" id="{E49520DB-C888-2D35-D2CA-F1D1CBAA44B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80855" y="4505876"/>
              <a:ext cx="914400" cy="914400"/>
            </a:xfrm>
            <a:prstGeom prst="rect">
              <a:avLst/>
            </a:prstGeom>
          </p:spPr>
        </p:pic>
        <p:grpSp>
          <p:nvGrpSpPr>
            <p:cNvPr id="107" name="Gruppieren 106">
              <a:extLst>
                <a:ext uri="{FF2B5EF4-FFF2-40B4-BE49-F238E27FC236}">
                  <a16:creationId xmlns:a16="http://schemas.microsoft.com/office/drawing/2014/main" id="{9AB09AC9-0AF2-1971-8F96-D3E8F1C4C0CD}"/>
                </a:ext>
              </a:extLst>
            </p:cNvPr>
            <p:cNvGrpSpPr/>
            <p:nvPr/>
          </p:nvGrpSpPr>
          <p:grpSpPr>
            <a:xfrm>
              <a:off x="9985274" y="1980258"/>
              <a:ext cx="826807" cy="432000"/>
              <a:chOff x="9307830" y="1455420"/>
              <a:chExt cx="1260167" cy="756307"/>
            </a:xfrm>
          </p:grpSpPr>
          <p:sp>
            <p:nvSpPr>
              <p:cNvPr id="101" name="Rechteck 100">
                <a:extLst>
                  <a:ext uri="{FF2B5EF4-FFF2-40B4-BE49-F238E27FC236}">
                    <a16:creationId xmlns:a16="http://schemas.microsoft.com/office/drawing/2014/main" id="{D429E62B-4502-D610-285F-F0C8F117877F}"/>
                  </a:ext>
                </a:extLst>
              </p:cNvPr>
              <p:cNvSpPr/>
              <p:nvPr/>
            </p:nvSpPr>
            <p:spPr>
              <a:xfrm>
                <a:off x="9307830" y="1455420"/>
                <a:ext cx="1260167" cy="7563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000" dirty="0">
                    <a:solidFill>
                      <a:schemeClr val="bg1">
                        <a:lumMod val="65000"/>
                      </a:schemeClr>
                    </a:solidFill>
                  </a:rPr>
                  <a:t>Labels</a:t>
                </a:r>
              </a:p>
            </p:txBody>
          </p:sp>
          <p:sp>
            <p:nvSpPr>
              <p:cNvPr id="102" name="Flussdiagramm: Verbinder 101">
                <a:extLst>
                  <a:ext uri="{FF2B5EF4-FFF2-40B4-BE49-F238E27FC236}">
                    <a16:creationId xmlns:a16="http://schemas.microsoft.com/office/drawing/2014/main" id="{D227EA30-42E2-EAFF-457B-C51826C487A5}"/>
                  </a:ext>
                </a:extLst>
              </p:cNvPr>
              <p:cNvSpPr/>
              <p:nvPr/>
            </p:nvSpPr>
            <p:spPr>
              <a:xfrm>
                <a:off x="9410700" y="1881464"/>
                <a:ext cx="164607" cy="189077"/>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3" name="Flussdiagramm: Verbinder 102">
                <a:extLst>
                  <a:ext uri="{FF2B5EF4-FFF2-40B4-BE49-F238E27FC236}">
                    <a16:creationId xmlns:a16="http://schemas.microsoft.com/office/drawing/2014/main" id="{4CB8DE53-40AF-DEFA-3394-A05B3FA9DCCF}"/>
                  </a:ext>
                </a:extLst>
              </p:cNvPr>
              <p:cNvSpPr/>
              <p:nvPr/>
            </p:nvSpPr>
            <p:spPr>
              <a:xfrm>
                <a:off x="9652635" y="1881464"/>
                <a:ext cx="164607" cy="189077"/>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4" name="Flussdiagramm: Verbinder 103">
                <a:extLst>
                  <a:ext uri="{FF2B5EF4-FFF2-40B4-BE49-F238E27FC236}">
                    <a16:creationId xmlns:a16="http://schemas.microsoft.com/office/drawing/2014/main" id="{D0996585-C19F-85C4-5E1D-9F627D63EFB1}"/>
                  </a:ext>
                </a:extLst>
              </p:cNvPr>
              <p:cNvSpPr/>
              <p:nvPr/>
            </p:nvSpPr>
            <p:spPr>
              <a:xfrm>
                <a:off x="9894569" y="1881464"/>
                <a:ext cx="164607" cy="189077"/>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5" name="Flussdiagramm: Verbinder 104">
                <a:extLst>
                  <a:ext uri="{FF2B5EF4-FFF2-40B4-BE49-F238E27FC236}">
                    <a16:creationId xmlns:a16="http://schemas.microsoft.com/office/drawing/2014/main" id="{B5DCA91D-92C3-F5E1-AF9E-74CA9D54A013}"/>
                  </a:ext>
                </a:extLst>
              </p:cNvPr>
              <p:cNvSpPr/>
              <p:nvPr/>
            </p:nvSpPr>
            <p:spPr>
              <a:xfrm>
                <a:off x="10283082" y="1888413"/>
                <a:ext cx="164607" cy="189077"/>
              </a:xfrm>
              <a:prstGeom prst="flowChartConnector">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6" name="Textfeld 105">
                <a:extLst>
                  <a:ext uri="{FF2B5EF4-FFF2-40B4-BE49-F238E27FC236}">
                    <a16:creationId xmlns:a16="http://schemas.microsoft.com/office/drawing/2014/main" id="{B719D392-C681-B8A6-0032-9FBC1B9E61DF}"/>
                  </a:ext>
                </a:extLst>
              </p:cNvPr>
              <p:cNvSpPr txBox="1"/>
              <p:nvPr/>
            </p:nvSpPr>
            <p:spPr>
              <a:xfrm>
                <a:off x="9897540" y="1716959"/>
                <a:ext cx="560727" cy="389874"/>
              </a:xfrm>
              <a:prstGeom prst="rect">
                <a:avLst/>
              </a:prstGeom>
              <a:noFill/>
            </p:spPr>
            <p:txBody>
              <a:bodyPr wrap="square" rtlCol="0">
                <a:spAutoFit/>
              </a:bodyPr>
              <a:lstStyle/>
              <a:p>
                <a:pPr algn="ctr"/>
                <a:r>
                  <a:rPr lang="de-DE" sz="900" dirty="0"/>
                  <a:t>…</a:t>
                </a:r>
              </a:p>
            </p:txBody>
          </p:sp>
        </p:grpSp>
        <p:sp>
          <p:nvSpPr>
            <p:cNvPr id="108" name="Rechteck 107">
              <a:extLst>
                <a:ext uri="{FF2B5EF4-FFF2-40B4-BE49-F238E27FC236}">
                  <a16:creationId xmlns:a16="http://schemas.microsoft.com/office/drawing/2014/main" id="{2527AB2B-D2D0-777B-48CF-CD99F7CAE12C}"/>
                </a:ext>
              </a:extLst>
            </p:cNvPr>
            <p:cNvSpPr/>
            <p:nvPr/>
          </p:nvSpPr>
          <p:spPr>
            <a:xfrm>
              <a:off x="11031202" y="262497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09" name="Rechteck 108">
              <a:extLst>
                <a:ext uri="{FF2B5EF4-FFF2-40B4-BE49-F238E27FC236}">
                  <a16:creationId xmlns:a16="http://schemas.microsoft.com/office/drawing/2014/main" id="{A3AD3FD0-9590-9996-1AE1-9EA242D05D5A}"/>
                </a:ext>
              </a:extLst>
            </p:cNvPr>
            <p:cNvSpPr/>
            <p:nvPr/>
          </p:nvSpPr>
          <p:spPr>
            <a:xfrm>
              <a:off x="9985274" y="2624978"/>
              <a:ext cx="826807" cy="43263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10" name="Rechteck 109">
              <a:extLst>
                <a:ext uri="{FF2B5EF4-FFF2-40B4-BE49-F238E27FC236}">
                  <a16:creationId xmlns:a16="http://schemas.microsoft.com/office/drawing/2014/main" id="{4168ECAF-CF62-41CC-5BC9-408457D04761}"/>
                </a:ext>
              </a:extLst>
            </p:cNvPr>
            <p:cNvSpPr/>
            <p:nvPr/>
          </p:nvSpPr>
          <p:spPr>
            <a:xfrm>
              <a:off x="7517806" y="2624978"/>
              <a:ext cx="826807" cy="43263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11" name="Rechteck 110">
              <a:extLst>
                <a:ext uri="{FF2B5EF4-FFF2-40B4-BE49-F238E27FC236}">
                  <a16:creationId xmlns:a16="http://schemas.microsoft.com/office/drawing/2014/main" id="{3F86B9A2-F093-6550-659B-678C08BF0C8B}"/>
                </a:ext>
              </a:extLst>
            </p:cNvPr>
            <p:cNvSpPr/>
            <p:nvPr/>
          </p:nvSpPr>
          <p:spPr>
            <a:xfrm>
              <a:off x="8939346" y="2624978"/>
              <a:ext cx="826807" cy="4326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12" name="Rechteck 111">
              <a:extLst>
                <a:ext uri="{FF2B5EF4-FFF2-40B4-BE49-F238E27FC236}">
                  <a16:creationId xmlns:a16="http://schemas.microsoft.com/office/drawing/2014/main" id="{FDC7CBC2-9972-9F2B-C70C-B6BBF2D1B099}"/>
                </a:ext>
              </a:extLst>
            </p:cNvPr>
            <p:cNvSpPr/>
            <p:nvPr/>
          </p:nvSpPr>
          <p:spPr>
            <a:xfrm>
              <a:off x="8940012" y="1980000"/>
              <a:ext cx="826807" cy="4326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cxnSp>
          <p:nvCxnSpPr>
            <p:cNvPr id="114" name="Gerade Verbindung mit Pfeil 113">
              <a:extLst>
                <a:ext uri="{FF2B5EF4-FFF2-40B4-BE49-F238E27FC236}">
                  <a16:creationId xmlns:a16="http://schemas.microsoft.com/office/drawing/2014/main" id="{A1CFC365-D792-A1C8-2CA9-B787D3D77D1B}"/>
                </a:ext>
              </a:extLst>
            </p:cNvPr>
            <p:cNvCxnSpPr>
              <a:cxnSpLocks/>
              <a:stCxn id="73" idx="2"/>
              <a:endCxn id="16" idx="0"/>
            </p:cNvCxnSpPr>
            <p:nvPr/>
          </p:nvCxnSpPr>
          <p:spPr>
            <a:xfrm>
              <a:off x="6885281" y="2419991"/>
              <a:ext cx="1" cy="20498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Gerade Verbindung mit Pfeil 115">
              <a:extLst>
                <a:ext uri="{FF2B5EF4-FFF2-40B4-BE49-F238E27FC236}">
                  <a16:creationId xmlns:a16="http://schemas.microsoft.com/office/drawing/2014/main" id="{2DFAEF4E-8651-B7F5-FFE7-1A7EA85E92FB}"/>
                </a:ext>
              </a:extLst>
            </p:cNvPr>
            <p:cNvCxnSpPr>
              <a:cxnSpLocks/>
              <a:endCxn id="108" idx="0"/>
            </p:cNvCxnSpPr>
            <p:nvPr/>
          </p:nvCxnSpPr>
          <p:spPr>
            <a:xfrm>
              <a:off x="11444605" y="2416716"/>
              <a:ext cx="1" cy="2082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Gerade Verbindung mit Pfeil 120">
              <a:extLst>
                <a:ext uri="{FF2B5EF4-FFF2-40B4-BE49-F238E27FC236}">
                  <a16:creationId xmlns:a16="http://schemas.microsoft.com/office/drawing/2014/main" id="{5C2420B8-E3F3-79DD-0D33-CEA6B546CE0D}"/>
                </a:ext>
              </a:extLst>
            </p:cNvPr>
            <p:cNvCxnSpPr>
              <a:cxnSpLocks/>
              <a:stCxn id="16" idx="3"/>
              <a:endCxn id="110" idx="1"/>
            </p:cNvCxnSpPr>
            <p:nvPr/>
          </p:nvCxnSpPr>
          <p:spPr>
            <a:xfrm>
              <a:off x="7298685" y="2841295"/>
              <a:ext cx="21912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Gerade Verbindung mit Pfeil 123">
              <a:extLst>
                <a:ext uri="{FF2B5EF4-FFF2-40B4-BE49-F238E27FC236}">
                  <a16:creationId xmlns:a16="http://schemas.microsoft.com/office/drawing/2014/main" id="{2FBEB722-19A4-5166-07BA-926D5361979F}"/>
                </a:ext>
              </a:extLst>
            </p:cNvPr>
            <p:cNvCxnSpPr>
              <a:cxnSpLocks/>
              <a:stCxn id="110" idx="3"/>
              <a:endCxn id="111" idx="1"/>
            </p:cNvCxnSpPr>
            <p:nvPr/>
          </p:nvCxnSpPr>
          <p:spPr>
            <a:xfrm>
              <a:off x="8344613" y="2841295"/>
              <a:ext cx="59473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Gerade Verbindung mit Pfeil 126">
              <a:extLst>
                <a:ext uri="{FF2B5EF4-FFF2-40B4-BE49-F238E27FC236}">
                  <a16:creationId xmlns:a16="http://schemas.microsoft.com/office/drawing/2014/main" id="{988E6136-854E-E486-9822-5E08C3D35EF8}"/>
                </a:ext>
              </a:extLst>
            </p:cNvPr>
            <p:cNvCxnSpPr>
              <a:cxnSpLocks/>
              <a:stCxn id="109" idx="1"/>
              <a:endCxn id="111" idx="3"/>
            </p:cNvCxnSpPr>
            <p:nvPr/>
          </p:nvCxnSpPr>
          <p:spPr>
            <a:xfrm flipH="1">
              <a:off x="9766153" y="2841295"/>
              <a:ext cx="21912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Gerade Verbindung mit Pfeil 130">
              <a:extLst>
                <a:ext uri="{FF2B5EF4-FFF2-40B4-BE49-F238E27FC236}">
                  <a16:creationId xmlns:a16="http://schemas.microsoft.com/office/drawing/2014/main" id="{9C3D891E-2A66-FC8C-EAE1-F2090894E417}"/>
                </a:ext>
              </a:extLst>
            </p:cNvPr>
            <p:cNvCxnSpPr>
              <a:cxnSpLocks/>
              <a:stCxn id="108" idx="1"/>
              <a:endCxn id="109" idx="3"/>
            </p:cNvCxnSpPr>
            <p:nvPr/>
          </p:nvCxnSpPr>
          <p:spPr>
            <a:xfrm flipH="1">
              <a:off x="10812081" y="2841295"/>
              <a:ext cx="21912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Gerade Verbindung mit Pfeil 133">
              <a:extLst>
                <a:ext uri="{FF2B5EF4-FFF2-40B4-BE49-F238E27FC236}">
                  <a16:creationId xmlns:a16="http://schemas.microsoft.com/office/drawing/2014/main" id="{C5A41DEF-191E-5630-F2D1-E42DDA071EB5}"/>
                </a:ext>
              </a:extLst>
            </p:cNvPr>
            <p:cNvCxnSpPr>
              <a:cxnSpLocks/>
              <a:stCxn id="101" idx="1"/>
              <a:endCxn id="112" idx="3"/>
            </p:cNvCxnSpPr>
            <p:nvPr/>
          </p:nvCxnSpPr>
          <p:spPr>
            <a:xfrm flipH="1">
              <a:off x="9766819" y="2196258"/>
              <a:ext cx="218455" cy="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0" name="Verbinder: gewinkelt 139">
              <a:extLst>
                <a:ext uri="{FF2B5EF4-FFF2-40B4-BE49-F238E27FC236}">
                  <a16:creationId xmlns:a16="http://schemas.microsoft.com/office/drawing/2014/main" id="{5240E5D2-3420-D80C-1D19-62A34E2D37F3}"/>
                </a:ext>
              </a:extLst>
            </p:cNvPr>
            <p:cNvCxnSpPr>
              <a:stCxn id="110" idx="0"/>
              <a:endCxn id="112" idx="1"/>
            </p:cNvCxnSpPr>
            <p:nvPr/>
          </p:nvCxnSpPr>
          <p:spPr>
            <a:xfrm rot="5400000" flipH="1" flipV="1">
              <a:off x="8221281" y="1906247"/>
              <a:ext cx="428661" cy="1008802"/>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
          <p:nvSpPr>
            <p:cNvPr id="160" name="Rechteck: abgerundete Ecken 159">
              <a:extLst>
                <a:ext uri="{FF2B5EF4-FFF2-40B4-BE49-F238E27FC236}">
                  <a16:creationId xmlns:a16="http://schemas.microsoft.com/office/drawing/2014/main" id="{73445628-2A4C-61D7-9642-D36E4410A980}"/>
                </a:ext>
              </a:extLst>
            </p:cNvPr>
            <p:cNvSpPr/>
            <p:nvPr/>
          </p:nvSpPr>
          <p:spPr>
            <a:xfrm>
              <a:off x="8726896" y="3641344"/>
              <a:ext cx="3286800" cy="2127024"/>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61" name="Rechteck 160">
              <a:extLst>
                <a:ext uri="{FF2B5EF4-FFF2-40B4-BE49-F238E27FC236}">
                  <a16:creationId xmlns:a16="http://schemas.microsoft.com/office/drawing/2014/main" id="{475F6D3F-EB64-0E23-5D38-CBEF672F73D0}"/>
                </a:ext>
              </a:extLst>
            </p:cNvPr>
            <p:cNvSpPr/>
            <p:nvPr/>
          </p:nvSpPr>
          <p:spPr>
            <a:xfrm>
              <a:off x="9956835" y="4053109"/>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MHA</a:t>
              </a:r>
            </a:p>
          </p:txBody>
        </p:sp>
        <p:sp>
          <p:nvSpPr>
            <p:cNvPr id="163" name="Rechteck 162">
              <a:extLst>
                <a:ext uri="{FF2B5EF4-FFF2-40B4-BE49-F238E27FC236}">
                  <a16:creationId xmlns:a16="http://schemas.microsoft.com/office/drawing/2014/main" id="{E3936AB2-2272-D3A4-213A-50FF8C0015D6}"/>
                </a:ext>
              </a:extLst>
            </p:cNvPr>
            <p:cNvSpPr/>
            <p:nvPr/>
          </p:nvSpPr>
          <p:spPr>
            <a:xfrm>
              <a:off x="7487397" y="3726296"/>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MHA</a:t>
              </a:r>
            </a:p>
          </p:txBody>
        </p:sp>
        <p:grpSp>
          <p:nvGrpSpPr>
            <p:cNvPr id="169" name="Gruppieren 168">
              <a:extLst>
                <a:ext uri="{FF2B5EF4-FFF2-40B4-BE49-F238E27FC236}">
                  <a16:creationId xmlns:a16="http://schemas.microsoft.com/office/drawing/2014/main" id="{A6491366-0A8F-FB2F-4BE6-D8A25F437752}"/>
                </a:ext>
              </a:extLst>
            </p:cNvPr>
            <p:cNvGrpSpPr/>
            <p:nvPr/>
          </p:nvGrpSpPr>
          <p:grpSpPr>
            <a:xfrm>
              <a:off x="9689527" y="4702058"/>
              <a:ext cx="1361422" cy="967222"/>
              <a:chOff x="9669780" y="4702058"/>
              <a:chExt cx="1361422" cy="967222"/>
            </a:xfrm>
          </p:grpSpPr>
          <p:sp>
            <p:nvSpPr>
              <p:cNvPr id="164" name="Rechteck 163">
                <a:extLst>
                  <a:ext uri="{FF2B5EF4-FFF2-40B4-BE49-F238E27FC236}">
                    <a16:creationId xmlns:a16="http://schemas.microsoft.com/office/drawing/2014/main" id="{5AA64236-E694-A8C1-8E8B-63FEC7551A79}"/>
                  </a:ext>
                </a:extLst>
              </p:cNvPr>
              <p:cNvSpPr/>
              <p:nvPr/>
            </p:nvSpPr>
            <p:spPr>
              <a:xfrm>
                <a:off x="9669780" y="4702058"/>
                <a:ext cx="1361422" cy="96722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000" dirty="0">
                    <a:solidFill>
                      <a:schemeClr val="bg1">
                        <a:lumMod val="65000"/>
                      </a:schemeClr>
                    </a:solidFill>
                  </a:rPr>
                  <a:t>Knowledge Base</a:t>
                </a:r>
              </a:p>
            </p:txBody>
          </p:sp>
          <p:pic>
            <p:nvPicPr>
              <p:cNvPr id="167" name="Grafik 166" descr="Datenbank Silhouette">
                <a:extLst>
                  <a:ext uri="{FF2B5EF4-FFF2-40B4-BE49-F238E27FC236}">
                    <a16:creationId xmlns:a16="http://schemas.microsoft.com/office/drawing/2014/main" id="{0A738A7B-3FAF-02CB-2D87-6092EDE7AB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97284" y="4897507"/>
                <a:ext cx="712484" cy="712484"/>
              </a:xfrm>
              <a:prstGeom prst="rect">
                <a:avLst/>
              </a:prstGeom>
            </p:spPr>
          </p:pic>
        </p:grpSp>
        <p:cxnSp>
          <p:nvCxnSpPr>
            <p:cNvPr id="170" name="Gerade Verbindung mit Pfeil 169">
              <a:extLst>
                <a:ext uri="{FF2B5EF4-FFF2-40B4-BE49-F238E27FC236}">
                  <a16:creationId xmlns:a16="http://schemas.microsoft.com/office/drawing/2014/main" id="{495C2970-094D-141E-94BF-168A9B5FDEFA}"/>
                </a:ext>
              </a:extLst>
            </p:cNvPr>
            <p:cNvCxnSpPr>
              <a:cxnSpLocks/>
            </p:cNvCxnSpPr>
            <p:nvPr/>
          </p:nvCxnSpPr>
          <p:spPr>
            <a:xfrm flipV="1">
              <a:off x="10106768" y="4485741"/>
              <a:ext cx="0" cy="21631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Verbinder: gewinkelt 173">
              <a:extLst>
                <a:ext uri="{FF2B5EF4-FFF2-40B4-BE49-F238E27FC236}">
                  <a16:creationId xmlns:a16="http://schemas.microsoft.com/office/drawing/2014/main" id="{8D09A608-5666-2147-82B8-B4982A9E1516}"/>
                </a:ext>
              </a:extLst>
            </p:cNvPr>
            <p:cNvCxnSpPr>
              <a:cxnSpLocks/>
            </p:cNvCxnSpPr>
            <p:nvPr/>
          </p:nvCxnSpPr>
          <p:spPr>
            <a:xfrm rot="5400000">
              <a:off x="10187643" y="3234492"/>
              <a:ext cx="1428130" cy="1074369"/>
            </a:xfrm>
            <a:prstGeom prst="bentConnector3">
              <a:avLst>
                <a:gd name="adj1" fmla="val 110826"/>
              </a:avLst>
            </a:prstGeom>
            <a:ln w="12700">
              <a:tailEnd type="triangle"/>
            </a:ln>
          </p:spPr>
          <p:style>
            <a:lnRef idx="1">
              <a:schemeClr val="dk1"/>
            </a:lnRef>
            <a:fillRef idx="0">
              <a:schemeClr val="dk1"/>
            </a:fillRef>
            <a:effectRef idx="0">
              <a:schemeClr val="dk1"/>
            </a:effectRef>
            <a:fontRef idx="minor">
              <a:schemeClr val="tx1"/>
            </a:fontRef>
          </p:style>
        </p:cxnSp>
        <p:cxnSp>
          <p:nvCxnSpPr>
            <p:cNvPr id="180" name="Gerade Verbindung mit Pfeil 179">
              <a:extLst>
                <a:ext uri="{FF2B5EF4-FFF2-40B4-BE49-F238E27FC236}">
                  <a16:creationId xmlns:a16="http://schemas.microsoft.com/office/drawing/2014/main" id="{3ADDDD3C-C21D-866E-55BF-5C66DFCE3B5F}"/>
                </a:ext>
              </a:extLst>
            </p:cNvPr>
            <p:cNvCxnSpPr>
              <a:cxnSpLocks/>
            </p:cNvCxnSpPr>
            <p:nvPr/>
          </p:nvCxnSpPr>
          <p:spPr>
            <a:xfrm flipH="1" flipV="1">
              <a:off x="10622714" y="4485741"/>
              <a:ext cx="2432" cy="15702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5" name="Verbinder: gewinkelt 184">
              <a:extLst>
                <a:ext uri="{FF2B5EF4-FFF2-40B4-BE49-F238E27FC236}">
                  <a16:creationId xmlns:a16="http://schemas.microsoft.com/office/drawing/2014/main" id="{F9048DFF-3BAF-6B8C-8840-2AFB94CAE586}"/>
                </a:ext>
              </a:extLst>
            </p:cNvPr>
            <p:cNvCxnSpPr>
              <a:cxnSpLocks/>
              <a:stCxn id="161" idx="1"/>
              <a:endCxn id="164" idx="1"/>
            </p:cNvCxnSpPr>
            <p:nvPr/>
          </p:nvCxnSpPr>
          <p:spPr>
            <a:xfrm rot="10800000" flipV="1">
              <a:off x="9689527" y="4269425"/>
              <a:ext cx="267308" cy="916243"/>
            </a:xfrm>
            <a:prstGeom prst="bentConnector3">
              <a:avLst>
                <a:gd name="adj1" fmla="val 185519"/>
              </a:avLst>
            </a:prstGeom>
            <a:ln w="12700">
              <a:tailEnd type="triangle"/>
            </a:ln>
          </p:spPr>
          <p:style>
            <a:lnRef idx="1">
              <a:schemeClr val="dk1"/>
            </a:lnRef>
            <a:fillRef idx="0">
              <a:schemeClr val="dk1"/>
            </a:fillRef>
            <a:effectRef idx="0">
              <a:schemeClr val="dk1"/>
            </a:effectRef>
            <a:fontRef idx="minor">
              <a:schemeClr val="tx1"/>
            </a:fontRef>
          </p:style>
        </p:cxnSp>
        <p:sp>
          <p:nvSpPr>
            <p:cNvPr id="191" name="Textfeld 190">
              <a:extLst>
                <a:ext uri="{FF2B5EF4-FFF2-40B4-BE49-F238E27FC236}">
                  <a16:creationId xmlns:a16="http://schemas.microsoft.com/office/drawing/2014/main" id="{F9347575-C045-9BE6-D08D-9E28038E447C}"/>
                </a:ext>
              </a:extLst>
            </p:cNvPr>
            <p:cNvSpPr txBox="1"/>
            <p:nvPr/>
          </p:nvSpPr>
          <p:spPr>
            <a:xfrm>
              <a:off x="8927309" y="4238377"/>
              <a:ext cx="572593" cy="246221"/>
            </a:xfrm>
            <a:prstGeom prst="rect">
              <a:avLst/>
            </a:prstGeom>
            <a:noFill/>
          </p:spPr>
          <p:txBody>
            <a:bodyPr wrap="none" rtlCol="0">
              <a:spAutoFit/>
            </a:bodyPr>
            <a:lstStyle/>
            <a:p>
              <a:r>
                <a:rPr lang="de-DE" sz="1000" dirty="0">
                  <a:solidFill>
                    <a:schemeClr val="bg1">
                      <a:lumMod val="65000"/>
                    </a:schemeClr>
                  </a:solidFill>
                </a:rPr>
                <a:t>update</a:t>
              </a:r>
            </a:p>
          </p:txBody>
        </p:sp>
        <p:cxnSp>
          <p:nvCxnSpPr>
            <p:cNvPr id="194" name="Verbinder: gewinkelt 193">
              <a:extLst>
                <a:ext uri="{FF2B5EF4-FFF2-40B4-BE49-F238E27FC236}">
                  <a16:creationId xmlns:a16="http://schemas.microsoft.com/office/drawing/2014/main" id="{40D9019E-615F-4297-AFDD-7B270EE45B57}"/>
                </a:ext>
              </a:extLst>
            </p:cNvPr>
            <p:cNvCxnSpPr>
              <a:cxnSpLocks/>
              <a:endCxn id="163" idx="2"/>
            </p:cNvCxnSpPr>
            <p:nvPr/>
          </p:nvCxnSpPr>
          <p:spPr>
            <a:xfrm rot="10800000">
              <a:off x="7900802" y="4158929"/>
              <a:ext cx="1786853" cy="1266514"/>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195" name="Gerade Verbindung mit Pfeil 194">
              <a:extLst>
                <a:ext uri="{FF2B5EF4-FFF2-40B4-BE49-F238E27FC236}">
                  <a16:creationId xmlns:a16="http://schemas.microsoft.com/office/drawing/2014/main" id="{44784CC6-C26C-F518-5B9E-A4728440F39C}"/>
                </a:ext>
              </a:extLst>
            </p:cNvPr>
            <p:cNvCxnSpPr>
              <a:cxnSpLocks/>
            </p:cNvCxnSpPr>
            <p:nvPr/>
          </p:nvCxnSpPr>
          <p:spPr>
            <a:xfrm flipV="1">
              <a:off x="8181854" y="4157785"/>
              <a:ext cx="0" cy="126765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7" name="Rechteck 206">
              <a:extLst>
                <a:ext uri="{FF2B5EF4-FFF2-40B4-BE49-F238E27FC236}">
                  <a16:creationId xmlns:a16="http://schemas.microsoft.com/office/drawing/2014/main" id="{329A2249-FB4C-307A-5590-91219E3F4FEC}"/>
                </a:ext>
              </a:extLst>
            </p:cNvPr>
            <p:cNvSpPr/>
            <p:nvPr/>
          </p:nvSpPr>
          <p:spPr>
            <a:xfrm>
              <a:off x="6471877" y="3725152"/>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bg1">
                      <a:lumMod val="65000"/>
                    </a:schemeClr>
                  </a:solidFill>
                </a:rPr>
                <a:t>Decoder</a:t>
              </a:r>
            </a:p>
          </p:txBody>
        </p:sp>
        <p:pic>
          <p:nvPicPr>
            <p:cNvPr id="208" name="Grafik 207" descr="Dokument Silhouette">
              <a:extLst>
                <a:ext uri="{FF2B5EF4-FFF2-40B4-BE49-F238E27FC236}">
                  <a16:creationId xmlns:a16="http://schemas.microsoft.com/office/drawing/2014/main" id="{0BB1FFF7-6FF4-0BAC-BE2E-AE1275CCA4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86104" y="1589720"/>
              <a:ext cx="914400" cy="914400"/>
            </a:xfrm>
            <a:prstGeom prst="rect">
              <a:avLst/>
            </a:prstGeom>
          </p:spPr>
        </p:pic>
        <p:cxnSp>
          <p:nvCxnSpPr>
            <p:cNvPr id="221" name="Gerade Verbindung mit Pfeil 220">
              <a:extLst>
                <a:ext uri="{FF2B5EF4-FFF2-40B4-BE49-F238E27FC236}">
                  <a16:creationId xmlns:a16="http://schemas.microsoft.com/office/drawing/2014/main" id="{55E197A2-146C-CA2F-3E5A-78D74E8B37EC}"/>
                </a:ext>
              </a:extLst>
            </p:cNvPr>
            <p:cNvCxnSpPr>
              <a:cxnSpLocks/>
            </p:cNvCxnSpPr>
            <p:nvPr/>
          </p:nvCxnSpPr>
          <p:spPr>
            <a:xfrm>
              <a:off x="7667625" y="3057611"/>
              <a:ext cx="0" cy="6675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Gerade Verbindung mit Pfeil 223">
              <a:extLst>
                <a:ext uri="{FF2B5EF4-FFF2-40B4-BE49-F238E27FC236}">
                  <a16:creationId xmlns:a16="http://schemas.microsoft.com/office/drawing/2014/main" id="{46D57623-0125-27F3-208E-CD54EF4C76A2}"/>
                </a:ext>
              </a:extLst>
            </p:cNvPr>
            <p:cNvCxnSpPr>
              <a:cxnSpLocks/>
              <a:stCxn id="16" idx="2"/>
              <a:endCxn id="207" idx="0"/>
            </p:cNvCxnSpPr>
            <p:nvPr/>
          </p:nvCxnSpPr>
          <p:spPr>
            <a:xfrm flipH="1">
              <a:off x="6885281" y="3057611"/>
              <a:ext cx="1" cy="66754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0" name="Gerade Verbindung mit Pfeil 229">
              <a:extLst>
                <a:ext uri="{FF2B5EF4-FFF2-40B4-BE49-F238E27FC236}">
                  <a16:creationId xmlns:a16="http://schemas.microsoft.com/office/drawing/2014/main" id="{97B15A59-0A31-9982-3197-04A293E8C1B7}"/>
                </a:ext>
              </a:extLst>
            </p:cNvPr>
            <p:cNvCxnSpPr>
              <a:cxnSpLocks/>
              <a:stCxn id="163" idx="1"/>
              <a:endCxn id="207" idx="3"/>
            </p:cNvCxnSpPr>
            <p:nvPr/>
          </p:nvCxnSpPr>
          <p:spPr>
            <a:xfrm flipH="1" flipV="1">
              <a:off x="7298684" y="3941469"/>
              <a:ext cx="188713" cy="11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Gerade Verbindung mit Pfeil 233">
              <a:extLst>
                <a:ext uri="{FF2B5EF4-FFF2-40B4-BE49-F238E27FC236}">
                  <a16:creationId xmlns:a16="http://schemas.microsoft.com/office/drawing/2014/main" id="{0D1D5367-DC94-2B8A-2EAB-4DA20ACA2098}"/>
                </a:ext>
              </a:extLst>
            </p:cNvPr>
            <p:cNvCxnSpPr>
              <a:cxnSpLocks/>
              <a:stCxn id="207" idx="2"/>
            </p:cNvCxnSpPr>
            <p:nvPr/>
          </p:nvCxnSpPr>
          <p:spPr>
            <a:xfrm flipH="1">
              <a:off x="6885280" y="4157785"/>
              <a:ext cx="1" cy="43611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38" name="Rechteck 237">
            <a:extLst>
              <a:ext uri="{FF2B5EF4-FFF2-40B4-BE49-F238E27FC236}">
                <a16:creationId xmlns:a16="http://schemas.microsoft.com/office/drawing/2014/main" id="{8C69CD9F-6902-95F8-D895-C4402A9728ED}"/>
              </a:ext>
            </a:extLst>
          </p:cNvPr>
          <p:cNvSpPr/>
          <p:nvPr/>
        </p:nvSpPr>
        <p:spPr>
          <a:xfrm>
            <a:off x="6335159" y="5490030"/>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Encoder</a:t>
            </a:r>
          </a:p>
        </p:txBody>
      </p:sp>
      <p:sp>
        <p:nvSpPr>
          <p:cNvPr id="239" name="Rechteck 238">
            <a:extLst>
              <a:ext uri="{FF2B5EF4-FFF2-40B4-BE49-F238E27FC236}">
                <a16:creationId xmlns:a16="http://schemas.microsoft.com/office/drawing/2014/main" id="{B297D332-5B49-C306-DEDF-8F5BB488E706}"/>
              </a:ext>
            </a:extLst>
          </p:cNvPr>
          <p:cNvSpPr/>
          <p:nvPr/>
        </p:nvSpPr>
        <p:spPr>
          <a:xfrm>
            <a:off x="7381087" y="5490030"/>
            <a:ext cx="826807" cy="43263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Pooling</a:t>
            </a:r>
          </a:p>
        </p:txBody>
      </p:sp>
      <p:sp>
        <p:nvSpPr>
          <p:cNvPr id="240" name="Rechteck 239">
            <a:extLst>
              <a:ext uri="{FF2B5EF4-FFF2-40B4-BE49-F238E27FC236}">
                <a16:creationId xmlns:a16="http://schemas.microsoft.com/office/drawing/2014/main" id="{8085938B-AC74-6B42-87C0-0136773ADFE2}"/>
              </a:ext>
            </a:extLst>
          </p:cNvPr>
          <p:cNvSpPr/>
          <p:nvPr/>
        </p:nvSpPr>
        <p:spPr>
          <a:xfrm>
            <a:off x="8427015" y="5490030"/>
            <a:ext cx="826807" cy="4326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Alignment</a:t>
            </a:r>
          </a:p>
        </p:txBody>
      </p:sp>
    </p:spTree>
    <p:extLst>
      <p:ext uri="{BB962C8B-B14F-4D97-AF65-F5344CB8AC3E}">
        <p14:creationId xmlns:p14="http://schemas.microsoft.com/office/powerpoint/2010/main" val="3770917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089313A8-9E4E-3823-9E06-0E86321FE4C5}"/>
              </a:ext>
            </a:extLst>
          </p:cNvPr>
          <p:cNvSpPr>
            <a:spLocks noGrp="1"/>
          </p:cNvSpPr>
          <p:nvPr>
            <p:ph type="title"/>
          </p:nvPr>
        </p:nvSpPr>
        <p:spPr/>
        <p:txBody>
          <a:bodyPr/>
          <a:lstStyle/>
          <a:p>
            <a:r>
              <a:rPr lang="en-US" dirty="0"/>
              <a:t>KARGEN: Knowledge-enhanced Automated Radiology Report Generation Using Large Language Models (Li et al., 2024) [3]</a:t>
            </a:r>
            <a:endParaRPr lang="de-DE" dirty="0"/>
          </a:p>
        </p:txBody>
      </p:sp>
      <p:sp>
        <p:nvSpPr>
          <p:cNvPr id="5" name="Textplatzhalter 1">
            <a:extLst>
              <a:ext uri="{FF2B5EF4-FFF2-40B4-BE49-F238E27FC236}">
                <a16:creationId xmlns:a16="http://schemas.microsoft.com/office/drawing/2014/main" id="{55DA5E44-7C3F-C41C-2D51-5EEB2C28C4A3}"/>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Normal cases dominate the datasets</a:t>
            </a:r>
          </a:p>
          <a:p>
            <a:pPr lvl="1" algn="just"/>
            <a:r>
              <a:rPr lang="en-US" sz="1200" dirty="0"/>
              <a:t>Visual features miss detailed, disease-specific information</a:t>
            </a:r>
          </a:p>
          <a:p>
            <a:pPr lvl="1" algn="just"/>
            <a:r>
              <a:rPr lang="en-US" sz="1200" dirty="0"/>
              <a:t>Triggering the </a:t>
            </a:r>
            <a:r>
              <a:rPr lang="en-US" sz="1200" i="1" dirty="0"/>
              <a:t>relevant</a:t>
            </a:r>
            <a:r>
              <a:rPr lang="en-US" sz="1200" dirty="0"/>
              <a:t> medical domain knowledge remains a major challenge</a:t>
            </a:r>
            <a:endParaRPr lang="en-US" sz="1200" b="1" dirty="0"/>
          </a:p>
          <a:p>
            <a:pPr algn="just"/>
            <a:r>
              <a:rPr lang="en-US" sz="1400" b="1" dirty="0"/>
              <a:t>Approach</a:t>
            </a:r>
          </a:p>
          <a:p>
            <a:pPr lvl="1" algn="just"/>
            <a:r>
              <a:rPr lang="en-US" sz="1200" dirty="0"/>
              <a:t>The authors introduce a framework named </a:t>
            </a:r>
            <a:r>
              <a:rPr lang="en-US" sz="1200" b="1" dirty="0"/>
              <a:t>KARGEN</a:t>
            </a:r>
          </a:p>
          <a:p>
            <a:pPr lvl="1" algn="just"/>
            <a:r>
              <a:rPr lang="en-US" sz="1200" dirty="0"/>
              <a:t>It consists of four components</a:t>
            </a:r>
          </a:p>
          <a:p>
            <a:pPr lvl="2" algn="just"/>
            <a:r>
              <a:rPr lang="en-US" sz="1200" b="1" dirty="0"/>
              <a:t>Visual feature encoder:</a:t>
            </a:r>
            <a:r>
              <a:rPr lang="en-US" sz="1200" dirty="0"/>
              <a:t> extracts regional features</a:t>
            </a:r>
          </a:p>
          <a:p>
            <a:pPr lvl="2" algn="just"/>
            <a:r>
              <a:rPr lang="en-US" sz="1200" b="1" dirty="0"/>
              <a:t>Knowledge-enhanced feature encoder: </a:t>
            </a:r>
            <a:r>
              <a:rPr lang="en-US" sz="1200" dirty="0"/>
              <a:t>attends the embeddings of disease entity names to the image features and refines them using a knowledge graph via a three-layer graph convolutional network</a:t>
            </a:r>
            <a:endParaRPr lang="en-US" sz="1200" b="1" dirty="0"/>
          </a:p>
          <a:p>
            <a:pPr lvl="2" algn="just"/>
            <a:r>
              <a:rPr lang="en-US" sz="1200" b="1" dirty="0"/>
              <a:t>Feature fusion model: </a:t>
            </a:r>
            <a:r>
              <a:rPr lang="en-US" sz="1200" dirty="0"/>
              <a:t>combines visual and knowledge-enhanced features using element-wise or modality-wise (Mixture of Experts) fusion</a:t>
            </a:r>
          </a:p>
          <a:p>
            <a:pPr lvl="2" algn="just"/>
            <a:r>
              <a:rPr lang="en-US" sz="1200" b="1" dirty="0"/>
              <a:t>Report generator: </a:t>
            </a:r>
            <a:r>
              <a:rPr lang="en-US" sz="1200" dirty="0"/>
              <a:t>prompts a LLM to generate a report from the fused features</a:t>
            </a:r>
            <a:endParaRPr lang="en-US" sz="1200" b="1" dirty="0"/>
          </a:p>
          <a:p>
            <a:pPr algn="just"/>
            <a:r>
              <a:rPr lang="en-US" sz="1400" b="1" dirty="0"/>
              <a:t>Results</a:t>
            </a:r>
          </a:p>
          <a:p>
            <a:pPr lvl="1" algn="just"/>
            <a:r>
              <a:rPr lang="en-US" sz="1200" dirty="0"/>
              <a:t>Improved common NLG scores (BLEU-1/2/3/4, METEOR and ROUGE-L) by 0.3%-4.5% on the MIMIC-CXR and IU-Xray Datasets and clinic-related metrics (</a:t>
            </a:r>
            <a:r>
              <a:rPr lang="en-US" sz="1200" dirty="0" err="1"/>
              <a:t>RadGraph</a:t>
            </a:r>
            <a:r>
              <a:rPr lang="en-US" sz="1200" dirty="0"/>
              <a:t> F1, </a:t>
            </a:r>
            <a:r>
              <a:rPr lang="de-DE" sz="1200" dirty="0" err="1"/>
              <a:t>BERTScore</a:t>
            </a:r>
            <a:r>
              <a:rPr lang="de-DE" sz="1200" dirty="0"/>
              <a:t>, </a:t>
            </a:r>
            <a:r>
              <a:rPr lang="de-DE" sz="1200" dirty="0" err="1"/>
              <a:t>RadCliQ</a:t>
            </a:r>
            <a:r>
              <a:rPr lang="en-US" sz="1200" dirty="0"/>
              <a:t>) by 0.7%-5.4% on MIMIC-CXR over previous SOTA model</a:t>
            </a:r>
          </a:p>
          <a:p>
            <a:pPr algn="just"/>
            <a:r>
              <a:rPr lang="en-US" sz="1400" b="1" dirty="0"/>
              <a:t>Key Takeaway</a:t>
            </a:r>
          </a:p>
          <a:p>
            <a:pPr lvl="1" algn="just"/>
            <a:r>
              <a:rPr lang="en-US" sz="1200" dirty="0"/>
              <a:t>Integrating medical knowledge with visual features enables more accurate and clinically meaningful radiology report generation.</a:t>
            </a:r>
            <a:endParaRPr lang="de-DE" sz="1000" dirty="0"/>
          </a:p>
        </p:txBody>
      </p:sp>
      <p:sp>
        <p:nvSpPr>
          <p:cNvPr id="6" name="Inhaltsplatzhalter 3">
            <a:extLst>
              <a:ext uri="{FF2B5EF4-FFF2-40B4-BE49-F238E27FC236}">
                <a16:creationId xmlns:a16="http://schemas.microsoft.com/office/drawing/2014/main" id="{4694DBD6-6103-E51F-8721-DCE61389916B}"/>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Medical Image Computing and Computer Assisted Intervention – MICCAI 2024</a:t>
            </a:r>
            <a:endParaRPr lang="de-DE" sz="1800" dirty="0"/>
          </a:p>
        </p:txBody>
      </p:sp>
      <p:grpSp>
        <p:nvGrpSpPr>
          <p:cNvPr id="239" name="Gruppieren 238">
            <a:extLst>
              <a:ext uri="{FF2B5EF4-FFF2-40B4-BE49-F238E27FC236}">
                <a16:creationId xmlns:a16="http://schemas.microsoft.com/office/drawing/2014/main" id="{B09B10B9-A12E-1BCF-B851-3C8A6CAFE82E}"/>
              </a:ext>
            </a:extLst>
          </p:cNvPr>
          <p:cNvGrpSpPr/>
          <p:nvPr/>
        </p:nvGrpSpPr>
        <p:grpSpPr>
          <a:xfrm>
            <a:off x="6359175" y="1301976"/>
            <a:ext cx="5245737" cy="4665184"/>
            <a:chOff x="6359175" y="1301976"/>
            <a:chExt cx="5245737" cy="4665184"/>
          </a:xfrm>
        </p:grpSpPr>
        <p:sp>
          <p:nvSpPr>
            <p:cNvPr id="150" name="Rechteck: abgerundete Ecken 149">
              <a:extLst>
                <a:ext uri="{FF2B5EF4-FFF2-40B4-BE49-F238E27FC236}">
                  <a16:creationId xmlns:a16="http://schemas.microsoft.com/office/drawing/2014/main" id="{F7D8278F-3872-3F9A-9DD3-48A436444C22}"/>
                </a:ext>
              </a:extLst>
            </p:cNvPr>
            <p:cNvSpPr/>
            <p:nvPr/>
          </p:nvSpPr>
          <p:spPr>
            <a:xfrm>
              <a:off x="6359175" y="5157445"/>
              <a:ext cx="5245735" cy="80971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7" name="Rechteck: abgerundete Ecken 146">
              <a:extLst>
                <a:ext uri="{FF2B5EF4-FFF2-40B4-BE49-F238E27FC236}">
                  <a16:creationId xmlns:a16="http://schemas.microsoft.com/office/drawing/2014/main" id="{E4C1597F-E1AF-1F77-AFD0-E623DEE85B22}"/>
                </a:ext>
              </a:extLst>
            </p:cNvPr>
            <p:cNvSpPr/>
            <p:nvPr/>
          </p:nvSpPr>
          <p:spPr>
            <a:xfrm>
              <a:off x="7605432" y="1301976"/>
              <a:ext cx="3999480" cy="2713586"/>
            </a:xfrm>
            <a:prstGeom prst="roundRect">
              <a:avLst>
                <a:gd name="adj" fmla="val 5707"/>
              </a:avLst>
            </a:prstGeom>
            <a:solidFill>
              <a:schemeClr val="bg1">
                <a:lumMod val="95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5" name="Rechteck: abgerundete Ecken 144">
              <a:extLst>
                <a:ext uri="{FF2B5EF4-FFF2-40B4-BE49-F238E27FC236}">
                  <a16:creationId xmlns:a16="http://schemas.microsoft.com/office/drawing/2014/main" id="{DD328B56-7C9E-BA02-48ED-034CB7CF3969}"/>
                </a:ext>
              </a:extLst>
            </p:cNvPr>
            <p:cNvSpPr/>
            <p:nvPr/>
          </p:nvSpPr>
          <p:spPr>
            <a:xfrm>
              <a:off x="6359176" y="1301976"/>
              <a:ext cx="1052209" cy="2713586"/>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1" name="Gruppieren 10">
              <a:extLst>
                <a:ext uri="{FF2B5EF4-FFF2-40B4-BE49-F238E27FC236}">
                  <a16:creationId xmlns:a16="http://schemas.microsoft.com/office/drawing/2014/main" id="{6197A85D-1461-FEB1-550D-BDB125F52CB0}"/>
                </a:ext>
              </a:extLst>
            </p:cNvPr>
            <p:cNvGrpSpPr/>
            <p:nvPr/>
          </p:nvGrpSpPr>
          <p:grpSpPr>
            <a:xfrm>
              <a:off x="6471878" y="1534998"/>
              <a:ext cx="826807" cy="796741"/>
              <a:chOff x="6890327" y="1636222"/>
              <a:chExt cx="826807" cy="796741"/>
            </a:xfrm>
          </p:grpSpPr>
          <p:sp>
            <p:nvSpPr>
              <p:cNvPr id="83" name="Rechteck 82">
                <a:extLst>
                  <a:ext uri="{FF2B5EF4-FFF2-40B4-BE49-F238E27FC236}">
                    <a16:creationId xmlns:a16="http://schemas.microsoft.com/office/drawing/2014/main" id="{F76AE269-B566-CE60-F808-51D64F83841A}"/>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84" name="Gerader Verbinder 83">
                <a:extLst>
                  <a:ext uri="{FF2B5EF4-FFF2-40B4-BE49-F238E27FC236}">
                    <a16:creationId xmlns:a16="http://schemas.microsoft.com/office/drawing/2014/main" id="{1B839287-F3D2-B8E6-03BF-11292A47DE04}"/>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85" name="Gerader Verbinder 84">
                <a:extLst>
                  <a:ext uri="{FF2B5EF4-FFF2-40B4-BE49-F238E27FC236}">
                    <a16:creationId xmlns:a16="http://schemas.microsoft.com/office/drawing/2014/main" id="{AC08ACE0-CA79-8952-6887-31C85D282CC9}"/>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86" name="Gerader Verbinder 85">
                <a:extLst>
                  <a:ext uri="{FF2B5EF4-FFF2-40B4-BE49-F238E27FC236}">
                    <a16:creationId xmlns:a16="http://schemas.microsoft.com/office/drawing/2014/main" id="{1F30B634-7140-7FFA-A027-C899FDEDA193}"/>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87" name="Gerader Verbinder 86">
                <a:extLst>
                  <a:ext uri="{FF2B5EF4-FFF2-40B4-BE49-F238E27FC236}">
                    <a16:creationId xmlns:a16="http://schemas.microsoft.com/office/drawing/2014/main" id="{1950DBDC-6409-89B7-78F3-A4F2577CF77D}"/>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88" name="Gerader Verbinder 87">
                <a:extLst>
                  <a:ext uri="{FF2B5EF4-FFF2-40B4-BE49-F238E27FC236}">
                    <a16:creationId xmlns:a16="http://schemas.microsoft.com/office/drawing/2014/main" id="{0C662F6A-4AC5-79CA-C348-C77E8C5120CA}"/>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89" name="Gerader Verbinder 88">
                <a:extLst>
                  <a:ext uri="{FF2B5EF4-FFF2-40B4-BE49-F238E27FC236}">
                    <a16:creationId xmlns:a16="http://schemas.microsoft.com/office/drawing/2014/main" id="{70955832-14F2-13E9-D72D-F7DF726D2042}"/>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0" name="Gerader Verbinder 89">
                <a:extLst>
                  <a:ext uri="{FF2B5EF4-FFF2-40B4-BE49-F238E27FC236}">
                    <a16:creationId xmlns:a16="http://schemas.microsoft.com/office/drawing/2014/main" id="{5DF39AC5-12CB-1860-531C-B9066DDDC654}"/>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1" name="Gerader Verbinder 90">
                <a:extLst>
                  <a:ext uri="{FF2B5EF4-FFF2-40B4-BE49-F238E27FC236}">
                    <a16:creationId xmlns:a16="http://schemas.microsoft.com/office/drawing/2014/main" id="{4FDF113A-1DB0-6BA2-6708-709CD346AEDC}"/>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92" name="Grafik 91" descr="Lungen mit einfarbiger Füllung">
                <a:extLst>
                  <a:ext uri="{FF2B5EF4-FFF2-40B4-BE49-F238E27FC236}">
                    <a16:creationId xmlns:a16="http://schemas.microsoft.com/office/drawing/2014/main" id="{242BA247-EA2F-890F-B653-73881DFFAB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3008" y="1703870"/>
                <a:ext cx="661446" cy="661446"/>
              </a:xfrm>
              <a:prstGeom prst="rect">
                <a:avLst/>
              </a:prstGeom>
            </p:spPr>
          </p:pic>
        </p:grpSp>
        <p:pic>
          <p:nvPicPr>
            <p:cNvPr id="12" name="Grafik 11" descr="Dokument Silhouette">
              <a:extLst>
                <a:ext uri="{FF2B5EF4-FFF2-40B4-BE49-F238E27FC236}">
                  <a16:creationId xmlns:a16="http://schemas.microsoft.com/office/drawing/2014/main" id="{5F2FBC3C-5D1B-1276-8410-CD0277F36B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230186" y="5213934"/>
              <a:ext cx="717213" cy="717213"/>
            </a:xfrm>
            <a:prstGeom prst="rect">
              <a:avLst/>
            </a:prstGeom>
          </p:spPr>
        </p:pic>
        <p:grpSp>
          <p:nvGrpSpPr>
            <p:cNvPr id="13" name="Gruppieren 12">
              <a:extLst>
                <a:ext uri="{FF2B5EF4-FFF2-40B4-BE49-F238E27FC236}">
                  <a16:creationId xmlns:a16="http://schemas.microsoft.com/office/drawing/2014/main" id="{96D01E47-BD58-8E19-9949-5940CB5468A4}"/>
                </a:ext>
              </a:extLst>
            </p:cNvPr>
            <p:cNvGrpSpPr/>
            <p:nvPr/>
          </p:nvGrpSpPr>
          <p:grpSpPr>
            <a:xfrm>
              <a:off x="7894800" y="1548951"/>
              <a:ext cx="1564423" cy="796740"/>
              <a:chOff x="6140618" y="2996366"/>
              <a:chExt cx="1857334" cy="432633"/>
            </a:xfrm>
          </p:grpSpPr>
          <p:sp>
            <p:nvSpPr>
              <p:cNvPr id="76" name="Rechteck 75">
                <a:extLst>
                  <a:ext uri="{FF2B5EF4-FFF2-40B4-BE49-F238E27FC236}">
                    <a16:creationId xmlns:a16="http://schemas.microsoft.com/office/drawing/2014/main" id="{CE7C47A3-2573-D91F-9B7E-E9666F99A022}"/>
                  </a:ext>
                </a:extLst>
              </p:cNvPr>
              <p:cNvSpPr/>
              <p:nvPr/>
            </p:nvSpPr>
            <p:spPr>
              <a:xfrm>
                <a:off x="6141721" y="2996366"/>
                <a:ext cx="1856231"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7" name="Rechteck 76">
                <a:extLst>
                  <a:ext uri="{FF2B5EF4-FFF2-40B4-BE49-F238E27FC236}">
                    <a16:creationId xmlns:a16="http://schemas.microsoft.com/office/drawing/2014/main" id="{A3F18E76-DBD8-2786-67E3-79DB50BE5E31}"/>
                  </a:ext>
                </a:extLst>
              </p:cNvPr>
              <p:cNvSpPr/>
              <p:nvPr/>
            </p:nvSpPr>
            <p:spPr>
              <a:xfrm>
                <a:off x="6182403"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8" name="Rechteck 77">
                <a:extLst>
                  <a:ext uri="{FF2B5EF4-FFF2-40B4-BE49-F238E27FC236}">
                    <a16:creationId xmlns:a16="http://schemas.microsoft.com/office/drawing/2014/main" id="{2D73C505-C386-01EC-4BB2-4BFB2039C4CE}"/>
                  </a:ext>
                </a:extLst>
              </p:cNvPr>
              <p:cNvSpPr/>
              <p:nvPr/>
            </p:nvSpPr>
            <p:spPr>
              <a:xfrm>
                <a:off x="6600270" y="3236511"/>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9" name="Rechteck 78">
                <a:extLst>
                  <a:ext uri="{FF2B5EF4-FFF2-40B4-BE49-F238E27FC236}">
                    <a16:creationId xmlns:a16="http://schemas.microsoft.com/office/drawing/2014/main" id="{1D02798F-9E9A-AB0C-2F4E-65DA2B285726}"/>
                  </a:ext>
                </a:extLst>
              </p:cNvPr>
              <p:cNvSpPr/>
              <p:nvPr/>
            </p:nvSpPr>
            <p:spPr>
              <a:xfrm>
                <a:off x="7018137"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0" name="Rechteck 79">
                <a:extLst>
                  <a:ext uri="{FF2B5EF4-FFF2-40B4-BE49-F238E27FC236}">
                    <a16:creationId xmlns:a16="http://schemas.microsoft.com/office/drawing/2014/main" id="{2F217F79-142D-8832-3957-547B615086D3}"/>
                  </a:ext>
                </a:extLst>
              </p:cNvPr>
              <p:cNvSpPr/>
              <p:nvPr/>
            </p:nvSpPr>
            <p:spPr>
              <a:xfrm>
                <a:off x="7642971" y="3237215"/>
                <a:ext cx="313943" cy="984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1" name="Textfeld 80">
                <a:extLst>
                  <a:ext uri="{FF2B5EF4-FFF2-40B4-BE49-F238E27FC236}">
                    <a16:creationId xmlns:a16="http://schemas.microsoft.com/office/drawing/2014/main" id="{D66777AC-97E4-7090-F9A6-0ECE1E98BA79}"/>
                  </a:ext>
                </a:extLst>
              </p:cNvPr>
              <p:cNvSpPr txBox="1"/>
              <p:nvPr/>
            </p:nvSpPr>
            <p:spPr>
              <a:xfrm>
                <a:off x="7295033" y="3149671"/>
                <a:ext cx="210898" cy="215444"/>
              </a:xfrm>
              <a:prstGeom prst="rect">
                <a:avLst/>
              </a:prstGeom>
              <a:noFill/>
            </p:spPr>
            <p:txBody>
              <a:bodyPr wrap="square" rtlCol="0">
                <a:spAutoFit/>
              </a:bodyPr>
              <a:lstStyle/>
              <a:p>
                <a:r>
                  <a:rPr lang="de-DE" sz="800" dirty="0"/>
                  <a:t>…</a:t>
                </a:r>
              </a:p>
            </p:txBody>
          </p:sp>
          <p:sp>
            <p:nvSpPr>
              <p:cNvPr id="82" name="Textfeld 81">
                <a:extLst>
                  <a:ext uri="{FF2B5EF4-FFF2-40B4-BE49-F238E27FC236}">
                    <a16:creationId xmlns:a16="http://schemas.microsoft.com/office/drawing/2014/main" id="{312F827B-6F43-8724-4D45-7A5273740768}"/>
                  </a:ext>
                </a:extLst>
              </p:cNvPr>
              <p:cNvSpPr txBox="1"/>
              <p:nvPr/>
            </p:nvSpPr>
            <p:spPr>
              <a:xfrm>
                <a:off x="6140618" y="3003769"/>
                <a:ext cx="1856231" cy="400110"/>
              </a:xfrm>
              <a:prstGeom prst="rect">
                <a:avLst/>
              </a:prstGeom>
              <a:noFill/>
            </p:spPr>
            <p:txBody>
              <a:bodyPr wrap="square" rtlCol="0">
                <a:spAutoFit/>
              </a:bodyPr>
              <a:lstStyle/>
              <a:p>
                <a:pPr algn="ctr"/>
                <a:r>
                  <a:rPr lang="de-DE" sz="1000" dirty="0">
                    <a:solidFill>
                      <a:schemeClr val="bg1">
                        <a:lumMod val="65000"/>
                      </a:schemeClr>
                    </a:solidFill>
                  </a:rPr>
                  <a:t>Disease Entity </a:t>
                </a:r>
                <a:r>
                  <a:rPr lang="de-DE" sz="1000" dirty="0" err="1">
                    <a:solidFill>
                      <a:schemeClr val="bg1">
                        <a:lumMod val="65000"/>
                      </a:schemeClr>
                    </a:solidFill>
                  </a:rPr>
                  <a:t>names</a:t>
                </a:r>
                <a:endParaRPr lang="de-DE" sz="1000" dirty="0">
                  <a:solidFill>
                    <a:schemeClr val="bg1">
                      <a:lumMod val="65000"/>
                    </a:schemeClr>
                  </a:solidFill>
                </a:endParaRPr>
              </a:p>
            </p:txBody>
          </p:sp>
        </p:grpSp>
        <p:grpSp>
          <p:nvGrpSpPr>
            <p:cNvPr id="148" name="Gruppieren 147">
              <a:extLst>
                <a:ext uri="{FF2B5EF4-FFF2-40B4-BE49-F238E27FC236}">
                  <a16:creationId xmlns:a16="http://schemas.microsoft.com/office/drawing/2014/main" id="{F38B50D1-E8A1-6D2F-A9BF-389D96FF78EC}"/>
                </a:ext>
              </a:extLst>
            </p:cNvPr>
            <p:cNvGrpSpPr/>
            <p:nvPr/>
          </p:nvGrpSpPr>
          <p:grpSpPr>
            <a:xfrm>
              <a:off x="9748800" y="1548951"/>
              <a:ext cx="1566000" cy="796740"/>
              <a:chOff x="9946467" y="1534998"/>
              <a:chExt cx="1563494" cy="796740"/>
            </a:xfrm>
          </p:grpSpPr>
          <p:sp>
            <p:nvSpPr>
              <p:cNvPr id="53" name="Rechteck 52">
                <a:extLst>
                  <a:ext uri="{FF2B5EF4-FFF2-40B4-BE49-F238E27FC236}">
                    <a16:creationId xmlns:a16="http://schemas.microsoft.com/office/drawing/2014/main" id="{6EA2E41F-8FA0-EE7E-AB37-7F99010543D4}"/>
                  </a:ext>
                </a:extLst>
              </p:cNvPr>
              <p:cNvSpPr/>
              <p:nvPr/>
            </p:nvSpPr>
            <p:spPr>
              <a:xfrm>
                <a:off x="9950267" y="1534998"/>
                <a:ext cx="1559694" cy="7967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Textfeld 53">
                <a:extLst>
                  <a:ext uri="{FF2B5EF4-FFF2-40B4-BE49-F238E27FC236}">
                    <a16:creationId xmlns:a16="http://schemas.microsoft.com/office/drawing/2014/main" id="{4FC7A94F-044D-39CF-7F1C-86D2581B6BCD}"/>
                  </a:ext>
                </a:extLst>
              </p:cNvPr>
              <p:cNvSpPr txBox="1"/>
              <p:nvPr/>
            </p:nvSpPr>
            <p:spPr>
              <a:xfrm>
                <a:off x="9946467" y="1540884"/>
                <a:ext cx="1559694" cy="385141"/>
              </a:xfrm>
              <a:prstGeom prst="rect">
                <a:avLst/>
              </a:prstGeom>
              <a:noFill/>
            </p:spPr>
            <p:txBody>
              <a:bodyPr wrap="square" rtlCol="0">
                <a:spAutoFit/>
              </a:bodyPr>
              <a:lstStyle/>
              <a:p>
                <a:pPr algn="ctr"/>
                <a:r>
                  <a:rPr lang="de-DE" sz="1000" dirty="0">
                    <a:solidFill>
                      <a:schemeClr val="bg1">
                        <a:lumMod val="65000"/>
                      </a:schemeClr>
                    </a:solidFill>
                  </a:rPr>
                  <a:t>Graph</a:t>
                </a:r>
              </a:p>
            </p:txBody>
          </p:sp>
          <p:grpSp>
            <p:nvGrpSpPr>
              <p:cNvPr id="144" name="Gruppieren 143">
                <a:extLst>
                  <a:ext uri="{FF2B5EF4-FFF2-40B4-BE49-F238E27FC236}">
                    <a16:creationId xmlns:a16="http://schemas.microsoft.com/office/drawing/2014/main" id="{011161CC-DDA0-EDD8-3B54-A021DBDDB278}"/>
                  </a:ext>
                </a:extLst>
              </p:cNvPr>
              <p:cNvGrpSpPr/>
              <p:nvPr/>
            </p:nvGrpSpPr>
            <p:grpSpPr>
              <a:xfrm>
                <a:off x="10432929" y="1863430"/>
                <a:ext cx="586770" cy="360627"/>
                <a:chOff x="10324730" y="2316893"/>
                <a:chExt cx="586770" cy="360627"/>
              </a:xfrm>
            </p:grpSpPr>
            <p:sp>
              <p:nvSpPr>
                <p:cNvPr id="55" name="Flussdiagramm: Verbinder 54">
                  <a:extLst>
                    <a:ext uri="{FF2B5EF4-FFF2-40B4-BE49-F238E27FC236}">
                      <a16:creationId xmlns:a16="http://schemas.microsoft.com/office/drawing/2014/main" id="{14FE2489-8DF3-28E2-C8D1-A90370FFDDF0}"/>
                    </a:ext>
                  </a:extLst>
                </p:cNvPr>
                <p:cNvSpPr/>
                <p:nvPr/>
              </p:nvSpPr>
              <p:spPr>
                <a:xfrm>
                  <a:off x="10324730" y="2442070"/>
                  <a:ext cx="10666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Flussdiagramm: Verbinder 55">
                  <a:extLst>
                    <a:ext uri="{FF2B5EF4-FFF2-40B4-BE49-F238E27FC236}">
                      <a16:creationId xmlns:a16="http://schemas.microsoft.com/office/drawing/2014/main" id="{CC6CF75F-7980-6949-AA28-D1A77C42D6CE}"/>
                    </a:ext>
                  </a:extLst>
                </p:cNvPr>
                <p:cNvSpPr/>
                <p:nvPr/>
              </p:nvSpPr>
              <p:spPr>
                <a:xfrm>
                  <a:off x="10561194" y="2316893"/>
                  <a:ext cx="10666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Flussdiagramm: Verbinder 56">
                  <a:extLst>
                    <a:ext uri="{FF2B5EF4-FFF2-40B4-BE49-F238E27FC236}">
                      <a16:creationId xmlns:a16="http://schemas.microsoft.com/office/drawing/2014/main" id="{CB8A7B28-A96E-72AF-6A3D-956D593A6624}"/>
                    </a:ext>
                  </a:extLst>
                </p:cNvPr>
                <p:cNvSpPr/>
                <p:nvPr/>
              </p:nvSpPr>
              <p:spPr>
                <a:xfrm>
                  <a:off x="10561194" y="2564897"/>
                  <a:ext cx="10666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Flussdiagramm: Verbinder 57">
                  <a:extLst>
                    <a:ext uri="{FF2B5EF4-FFF2-40B4-BE49-F238E27FC236}">
                      <a16:creationId xmlns:a16="http://schemas.microsoft.com/office/drawing/2014/main" id="{A7CC2DBA-F178-A798-E7D8-8E88BA53D113}"/>
                    </a:ext>
                  </a:extLst>
                </p:cNvPr>
                <p:cNvSpPr/>
                <p:nvPr/>
              </p:nvSpPr>
              <p:spPr>
                <a:xfrm>
                  <a:off x="10804834" y="2442070"/>
                  <a:ext cx="10666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9" name="Gerader Verbinder 58">
                  <a:extLst>
                    <a:ext uri="{FF2B5EF4-FFF2-40B4-BE49-F238E27FC236}">
                      <a16:creationId xmlns:a16="http://schemas.microsoft.com/office/drawing/2014/main" id="{0F90A80E-7941-E1CC-9BED-83E9274A029A}"/>
                    </a:ext>
                  </a:extLst>
                </p:cNvPr>
                <p:cNvCxnSpPr>
                  <a:cxnSpLocks/>
                  <a:stCxn id="55" idx="7"/>
                </p:cNvCxnSpPr>
                <p:nvPr/>
              </p:nvCxnSpPr>
              <p:spPr>
                <a:xfrm flipV="1">
                  <a:off x="10415776" y="2388103"/>
                  <a:ext cx="145418" cy="7046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Gerader Verbinder 59">
                  <a:extLst>
                    <a:ext uri="{FF2B5EF4-FFF2-40B4-BE49-F238E27FC236}">
                      <a16:creationId xmlns:a16="http://schemas.microsoft.com/office/drawing/2014/main" id="{F7054141-BF04-6702-F119-449EB8E0E6D3}"/>
                    </a:ext>
                  </a:extLst>
                </p:cNvPr>
                <p:cNvCxnSpPr>
                  <a:cxnSpLocks/>
                </p:cNvCxnSpPr>
                <p:nvPr/>
              </p:nvCxnSpPr>
              <p:spPr>
                <a:xfrm flipV="1">
                  <a:off x="10667860" y="2528696"/>
                  <a:ext cx="145418" cy="70460"/>
                </a:xfrm>
                <a:prstGeom prst="line">
                  <a:avLst/>
                </a:prstGeom>
                <a:ln w="12700"/>
              </p:spPr>
              <p:style>
                <a:lnRef idx="1">
                  <a:schemeClr val="dk1"/>
                </a:lnRef>
                <a:fillRef idx="0">
                  <a:schemeClr val="dk1"/>
                </a:fillRef>
                <a:effectRef idx="0">
                  <a:schemeClr val="dk1"/>
                </a:effectRef>
                <a:fontRef idx="minor">
                  <a:schemeClr val="tx1"/>
                </a:fontRef>
              </p:style>
            </p:cxnSp>
            <p:cxnSp>
              <p:nvCxnSpPr>
                <p:cNvPr id="61" name="Gerader Verbinder 60">
                  <a:extLst>
                    <a:ext uri="{FF2B5EF4-FFF2-40B4-BE49-F238E27FC236}">
                      <a16:creationId xmlns:a16="http://schemas.microsoft.com/office/drawing/2014/main" id="{C66DC8F9-FAC8-9B0D-07A1-D0419B839F9F}"/>
                    </a:ext>
                  </a:extLst>
                </p:cNvPr>
                <p:cNvCxnSpPr>
                  <a:cxnSpLocks/>
                </p:cNvCxnSpPr>
                <p:nvPr/>
              </p:nvCxnSpPr>
              <p:spPr>
                <a:xfrm>
                  <a:off x="10667860" y="2397607"/>
                  <a:ext cx="145418"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62" name="Gerader Verbinder 61">
                  <a:extLst>
                    <a:ext uri="{FF2B5EF4-FFF2-40B4-BE49-F238E27FC236}">
                      <a16:creationId xmlns:a16="http://schemas.microsoft.com/office/drawing/2014/main" id="{4810A8E1-04EA-61EF-FE32-BE1C722A9E89}"/>
                    </a:ext>
                  </a:extLst>
                </p:cNvPr>
                <p:cNvCxnSpPr>
                  <a:cxnSpLocks/>
                </p:cNvCxnSpPr>
                <p:nvPr/>
              </p:nvCxnSpPr>
              <p:spPr>
                <a:xfrm>
                  <a:off x="10419057" y="2541851"/>
                  <a:ext cx="145418"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63" name="Gerader Verbinder 62">
                  <a:extLst>
                    <a:ext uri="{FF2B5EF4-FFF2-40B4-BE49-F238E27FC236}">
                      <a16:creationId xmlns:a16="http://schemas.microsoft.com/office/drawing/2014/main" id="{9C5AC70C-F8B1-ECAA-EC38-1A0BF3551024}"/>
                    </a:ext>
                  </a:extLst>
                </p:cNvPr>
                <p:cNvCxnSpPr>
                  <a:cxnSpLocks/>
                  <a:stCxn id="56" idx="4"/>
                  <a:endCxn id="57" idx="0"/>
                </p:cNvCxnSpPr>
                <p:nvPr/>
              </p:nvCxnSpPr>
              <p:spPr>
                <a:xfrm>
                  <a:off x="10614527" y="2429516"/>
                  <a:ext cx="0" cy="135381"/>
                </a:xfrm>
                <a:prstGeom prst="line">
                  <a:avLst/>
                </a:prstGeom>
                <a:ln w="12700"/>
              </p:spPr>
              <p:style>
                <a:lnRef idx="1">
                  <a:schemeClr val="dk1"/>
                </a:lnRef>
                <a:fillRef idx="0">
                  <a:schemeClr val="dk1"/>
                </a:fillRef>
                <a:effectRef idx="0">
                  <a:schemeClr val="dk1"/>
                </a:effectRef>
                <a:fontRef idx="minor">
                  <a:schemeClr val="tx1"/>
                </a:fontRef>
              </p:style>
            </p:cxnSp>
          </p:grpSp>
        </p:grpSp>
        <p:sp>
          <p:nvSpPr>
            <p:cNvPr id="141" name="Rechteck 140">
              <a:extLst>
                <a:ext uri="{FF2B5EF4-FFF2-40B4-BE49-F238E27FC236}">
                  <a16:creationId xmlns:a16="http://schemas.microsoft.com/office/drawing/2014/main" id="{D61D8555-AE2D-D421-775A-AF482A21203C}"/>
                </a:ext>
              </a:extLst>
            </p:cNvPr>
            <p:cNvSpPr/>
            <p:nvPr/>
          </p:nvSpPr>
          <p:spPr>
            <a:xfrm>
              <a:off x="6471878" y="2624980"/>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42" name="Rechteck 141">
              <a:extLst>
                <a:ext uri="{FF2B5EF4-FFF2-40B4-BE49-F238E27FC236}">
                  <a16:creationId xmlns:a16="http://schemas.microsoft.com/office/drawing/2014/main" id="{22F2982D-B8FA-A06D-07AF-29915EEC5A96}"/>
                </a:ext>
              </a:extLst>
            </p:cNvPr>
            <p:cNvSpPr/>
            <p:nvPr/>
          </p:nvSpPr>
          <p:spPr>
            <a:xfrm>
              <a:off x="8263143" y="2654054"/>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43" name="Rechteck 142">
              <a:extLst>
                <a:ext uri="{FF2B5EF4-FFF2-40B4-BE49-F238E27FC236}">
                  <a16:creationId xmlns:a16="http://schemas.microsoft.com/office/drawing/2014/main" id="{0FCB8BDB-C132-23EF-14FD-31A74F1848EC}"/>
                </a:ext>
              </a:extLst>
            </p:cNvPr>
            <p:cNvSpPr/>
            <p:nvPr/>
          </p:nvSpPr>
          <p:spPr>
            <a:xfrm>
              <a:off x="7894800" y="3394800"/>
              <a:ext cx="156123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Cross Attention Module</a:t>
              </a:r>
            </a:p>
          </p:txBody>
        </p:sp>
        <p:sp>
          <p:nvSpPr>
            <p:cNvPr id="146" name="Rechteck 145">
              <a:extLst>
                <a:ext uri="{FF2B5EF4-FFF2-40B4-BE49-F238E27FC236}">
                  <a16:creationId xmlns:a16="http://schemas.microsoft.com/office/drawing/2014/main" id="{FBCF312E-27A9-296B-4B1D-429644EEC9CD}"/>
                </a:ext>
              </a:extLst>
            </p:cNvPr>
            <p:cNvSpPr/>
            <p:nvPr/>
          </p:nvSpPr>
          <p:spPr>
            <a:xfrm>
              <a:off x="9748800" y="3394800"/>
              <a:ext cx="156123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Disease </a:t>
              </a:r>
              <a:r>
                <a:rPr lang="de-DE" sz="1200" dirty="0" err="1">
                  <a:solidFill>
                    <a:schemeClr val="tx1"/>
                  </a:solidFill>
                </a:rPr>
                <a:t>Related</a:t>
              </a:r>
              <a:r>
                <a:rPr lang="de-DE" sz="1200" dirty="0">
                  <a:solidFill>
                    <a:schemeClr val="tx1"/>
                  </a:solidFill>
                </a:rPr>
                <a:t> Feature Extractor</a:t>
              </a:r>
            </a:p>
          </p:txBody>
        </p:sp>
        <p:sp>
          <p:nvSpPr>
            <p:cNvPr id="149" name="Rechteck: abgerundete Ecken 148">
              <a:extLst>
                <a:ext uri="{FF2B5EF4-FFF2-40B4-BE49-F238E27FC236}">
                  <a16:creationId xmlns:a16="http://schemas.microsoft.com/office/drawing/2014/main" id="{72FFABEE-C8FF-55ED-669E-1F0424FD4951}"/>
                </a:ext>
              </a:extLst>
            </p:cNvPr>
            <p:cNvSpPr/>
            <p:nvPr/>
          </p:nvSpPr>
          <p:spPr>
            <a:xfrm>
              <a:off x="6359176" y="4181646"/>
              <a:ext cx="5245735" cy="80971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1" name="Rechteck 150">
              <a:extLst>
                <a:ext uri="{FF2B5EF4-FFF2-40B4-BE49-F238E27FC236}">
                  <a16:creationId xmlns:a16="http://schemas.microsoft.com/office/drawing/2014/main" id="{F9533ABC-44F8-0B53-AFA1-C5DEFE08BEFC}"/>
                </a:ext>
              </a:extLst>
            </p:cNvPr>
            <p:cNvSpPr/>
            <p:nvPr/>
          </p:nvSpPr>
          <p:spPr>
            <a:xfrm>
              <a:off x="6465643" y="4509304"/>
              <a:ext cx="828000"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Expert 1</a:t>
              </a:r>
            </a:p>
          </p:txBody>
        </p:sp>
        <p:sp>
          <p:nvSpPr>
            <p:cNvPr id="152" name="Rechteck 151">
              <a:extLst>
                <a:ext uri="{FF2B5EF4-FFF2-40B4-BE49-F238E27FC236}">
                  <a16:creationId xmlns:a16="http://schemas.microsoft.com/office/drawing/2014/main" id="{D917E0AF-6558-96F6-39A2-B4C7299808BE}"/>
                </a:ext>
              </a:extLst>
            </p:cNvPr>
            <p:cNvSpPr/>
            <p:nvPr/>
          </p:nvSpPr>
          <p:spPr>
            <a:xfrm>
              <a:off x="10606494" y="4514400"/>
              <a:ext cx="828000"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Expert 2</a:t>
              </a:r>
            </a:p>
          </p:txBody>
        </p:sp>
        <p:sp>
          <p:nvSpPr>
            <p:cNvPr id="153" name="Rechteck 152">
              <a:extLst>
                <a:ext uri="{FF2B5EF4-FFF2-40B4-BE49-F238E27FC236}">
                  <a16:creationId xmlns:a16="http://schemas.microsoft.com/office/drawing/2014/main" id="{8520517D-9059-4A56-7724-FBB70A193D53}"/>
                </a:ext>
              </a:extLst>
            </p:cNvPr>
            <p:cNvSpPr/>
            <p:nvPr/>
          </p:nvSpPr>
          <p:spPr>
            <a:xfrm>
              <a:off x="8162015" y="5395828"/>
              <a:ext cx="156123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LLM</a:t>
              </a:r>
            </a:p>
          </p:txBody>
        </p:sp>
        <p:cxnSp>
          <p:nvCxnSpPr>
            <p:cNvPr id="155" name="Gerade Verbindung mit Pfeil 154">
              <a:extLst>
                <a:ext uri="{FF2B5EF4-FFF2-40B4-BE49-F238E27FC236}">
                  <a16:creationId xmlns:a16="http://schemas.microsoft.com/office/drawing/2014/main" id="{BE93A4F4-CC7C-020A-3D37-DC5211AFFC84}"/>
                </a:ext>
              </a:extLst>
            </p:cNvPr>
            <p:cNvCxnSpPr>
              <a:stCxn id="83" idx="2"/>
              <a:endCxn id="141" idx="0"/>
            </p:cNvCxnSpPr>
            <p:nvPr/>
          </p:nvCxnSpPr>
          <p:spPr>
            <a:xfrm>
              <a:off x="6885282" y="2331739"/>
              <a:ext cx="0" cy="29324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6" name="Gerade Verbindung mit Pfeil 155">
              <a:extLst>
                <a:ext uri="{FF2B5EF4-FFF2-40B4-BE49-F238E27FC236}">
                  <a16:creationId xmlns:a16="http://schemas.microsoft.com/office/drawing/2014/main" id="{D0962EE0-94E1-7B7F-495B-659C2B4C538A}"/>
                </a:ext>
              </a:extLst>
            </p:cNvPr>
            <p:cNvCxnSpPr>
              <a:cxnSpLocks/>
              <a:stCxn id="76" idx="2"/>
              <a:endCxn id="142" idx="0"/>
            </p:cNvCxnSpPr>
            <p:nvPr/>
          </p:nvCxnSpPr>
          <p:spPr>
            <a:xfrm flipH="1">
              <a:off x="8676547" y="2345691"/>
              <a:ext cx="929" cy="30836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7" name="Gerade Verbindung mit Pfeil 156">
              <a:extLst>
                <a:ext uri="{FF2B5EF4-FFF2-40B4-BE49-F238E27FC236}">
                  <a16:creationId xmlns:a16="http://schemas.microsoft.com/office/drawing/2014/main" id="{8E2AAECC-2A00-C196-262B-E56257B5BF6E}"/>
                </a:ext>
              </a:extLst>
            </p:cNvPr>
            <p:cNvCxnSpPr>
              <a:cxnSpLocks/>
              <a:stCxn id="142" idx="2"/>
              <a:endCxn id="143" idx="0"/>
            </p:cNvCxnSpPr>
            <p:nvPr/>
          </p:nvCxnSpPr>
          <p:spPr>
            <a:xfrm flipH="1">
              <a:off x="8675418" y="3086687"/>
              <a:ext cx="1129" cy="30811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2" name="Gerade Verbindung mit Pfeil 161">
              <a:extLst>
                <a:ext uri="{FF2B5EF4-FFF2-40B4-BE49-F238E27FC236}">
                  <a16:creationId xmlns:a16="http://schemas.microsoft.com/office/drawing/2014/main" id="{D2318FD2-0645-40B4-9C39-013D14651602}"/>
                </a:ext>
              </a:extLst>
            </p:cNvPr>
            <p:cNvCxnSpPr>
              <a:cxnSpLocks/>
              <a:stCxn id="53" idx="2"/>
              <a:endCxn id="146" idx="0"/>
            </p:cNvCxnSpPr>
            <p:nvPr/>
          </p:nvCxnSpPr>
          <p:spPr>
            <a:xfrm flipH="1">
              <a:off x="10529418" y="2345691"/>
              <a:ext cx="4285" cy="104910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5" name="Gerade Verbindung mit Pfeil 164">
              <a:extLst>
                <a:ext uri="{FF2B5EF4-FFF2-40B4-BE49-F238E27FC236}">
                  <a16:creationId xmlns:a16="http://schemas.microsoft.com/office/drawing/2014/main" id="{6DBF63A3-ABAC-AF7E-4A6D-EF95FF3CFFB0}"/>
                </a:ext>
              </a:extLst>
            </p:cNvPr>
            <p:cNvCxnSpPr>
              <a:cxnSpLocks/>
              <a:stCxn id="143" idx="3"/>
              <a:endCxn id="146" idx="1"/>
            </p:cNvCxnSpPr>
            <p:nvPr/>
          </p:nvCxnSpPr>
          <p:spPr>
            <a:xfrm>
              <a:off x="9456036" y="3611117"/>
              <a:ext cx="29276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8" name="Gerade Verbindung mit Pfeil 167">
              <a:extLst>
                <a:ext uri="{FF2B5EF4-FFF2-40B4-BE49-F238E27FC236}">
                  <a16:creationId xmlns:a16="http://schemas.microsoft.com/office/drawing/2014/main" id="{243AC94A-4A2F-F551-F72E-7E2D8BA2D92A}"/>
                </a:ext>
              </a:extLst>
            </p:cNvPr>
            <p:cNvCxnSpPr>
              <a:cxnSpLocks/>
              <a:stCxn id="141" idx="2"/>
              <a:endCxn id="151" idx="0"/>
            </p:cNvCxnSpPr>
            <p:nvPr/>
          </p:nvCxnSpPr>
          <p:spPr>
            <a:xfrm flipH="1">
              <a:off x="6879643" y="3057613"/>
              <a:ext cx="5639" cy="145169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2" name="Gerade Verbindung mit Pfeil 171">
              <a:extLst>
                <a:ext uri="{FF2B5EF4-FFF2-40B4-BE49-F238E27FC236}">
                  <a16:creationId xmlns:a16="http://schemas.microsoft.com/office/drawing/2014/main" id="{037FBA11-9022-C534-2A9E-47CC74865D57}"/>
                </a:ext>
              </a:extLst>
            </p:cNvPr>
            <p:cNvCxnSpPr>
              <a:cxnSpLocks/>
              <a:endCxn id="143" idx="1"/>
            </p:cNvCxnSpPr>
            <p:nvPr/>
          </p:nvCxnSpPr>
          <p:spPr>
            <a:xfrm>
              <a:off x="6890321" y="3611117"/>
              <a:ext cx="100447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5" name="Gerade Verbindung mit Pfeil 174">
              <a:extLst>
                <a:ext uri="{FF2B5EF4-FFF2-40B4-BE49-F238E27FC236}">
                  <a16:creationId xmlns:a16="http://schemas.microsoft.com/office/drawing/2014/main" id="{FE63806F-805A-719E-35DC-06D10669A167}"/>
                </a:ext>
              </a:extLst>
            </p:cNvPr>
            <p:cNvCxnSpPr>
              <a:cxnSpLocks/>
              <a:endCxn id="152" idx="0"/>
            </p:cNvCxnSpPr>
            <p:nvPr/>
          </p:nvCxnSpPr>
          <p:spPr>
            <a:xfrm>
              <a:off x="11020494" y="3827433"/>
              <a:ext cx="0" cy="68696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179" name="Rechteck 178">
              <a:extLst>
                <a:ext uri="{FF2B5EF4-FFF2-40B4-BE49-F238E27FC236}">
                  <a16:creationId xmlns:a16="http://schemas.microsoft.com/office/drawing/2014/main" id="{C2B53D66-DA50-4788-9FAE-018275642B4E}"/>
                </a:ext>
              </a:extLst>
            </p:cNvPr>
            <p:cNvSpPr/>
            <p:nvPr/>
          </p:nvSpPr>
          <p:spPr>
            <a:xfrm>
              <a:off x="7401130" y="4257215"/>
              <a:ext cx="3083006" cy="2854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Soft Router</a:t>
              </a:r>
            </a:p>
          </p:txBody>
        </p:sp>
        <p:sp>
          <p:nvSpPr>
            <p:cNvPr id="192" name="Rechteck 191">
              <a:extLst>
                <a:ext uri="{FF2B5EF4-FFF2-40B4-BE49-F238E27FC236}">
                  <a16:creationId xmlns:a16="http://schemas.microsoft.com/office/drawing/2014/main" id="{AA0B5C7F-2DA9-1BEF-9CED-02E150080CE7}"/>
                </a:ext>
              </a:extLst>
            </p:cNvPr>
            <p:cNvSpPr/>
            <p:nvPr/>
          </p:nvSpPr>
          <p:spPr>
            <a:xfrm>
              <a:off x="8162015" y="4662152"/>
              <a:ext cx="1561236" cy="2854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err="1">
                  <a:solidFill>
                    <a:schemeClr val="tx1"/>
                  </a:solidFill>
                </a:rPr>
                <a:t>Weighted</a:t>
              </a:r>
              <a:r>
                <a:rPr lang="de-DE" sz="1200" dirty="0">
                  <a:solidFill>
                    <a:schemeClr val="tx1"/>
                  </a:solidFill>
                </a:rPr>
                <a:t> </a:t>
              </a:r>
              <a:r>
                <a:rPr lang="de-DE" sz="1200" dirty="0" err="1">
                  <a:solidFill>
                    <a:schemeClr val="tx1"/>
                  </a:solidFill>
                </a:rPr>
                <a:t>Sum</a:t>
              </a:r>
              <a:endParaRPr lang="de-DE" sz="1200" dirty="0">
                <a:solidFill>
                  <a:schemeClr val="tx1"/>
                </a:solidFill>
              </a:endParaRPr>
            </a:p>
          </p:txBody>
        </p:sp>
        <p:cxnSp>
          <p:nvCxnSpPr>
            <p:cNvPr id="193" name="Gerade Verbindung mit Pfeil 192">
              <a:extLst>
                <a:ext uri="{FF2B5EF4-FFF2-40B4-BE49-F238E27FC236}">
                  <a16:creationId xmlns:a16="http://schemas.microsoft.com/office/drawing/2014/main" id="{75DE947F-BB94-E2CD-ED3C-CA1FB4044591}"/>
                </a:ext>
              </a:extLst>
            </p:cNvPr>
            <p:cNvCxnSpPr>
              <a:cxnSpLocks/>
              <a:stCxn id="179" idx="2"/>
              <a:endCxn id="192" idx="0"/>
            </p:cNvCxnSpPr>
            <p:nvPr/>
          </p:nvCxnSpPr>
          <p:spPr>
            <a:xfrm>
              <a:off x="8942633" y="4542675"/>
              <a:ext cx="0" cy="11947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97" name="Gerade Verbindung mit Pfeil 196">
              <a:extLst>
                <a:ext uri="{FF2B5EF4-FFF2-40B4-BE49-F238E27FC236}">
                  <a16:creationId xmlns:a16="http://schemas.microsoft.com/office/drawing/2014/main" id="{761D98B8-D448-8AC3-543A-B9AA2FE5D45C}"/>
                </a:ext>
              </a:extLst>
            </p:cNvPr>
            <p:cNvCxnSpPr>
              <a:cxnSpLocks/>
              <a:endCxn id="192" idx="1"/>
            </p:cNvCxnSpPr>
            <p:nvPr/>
          </p:nvCxnSpPr>
          <p:spPr>
            <a:xfrm>
              <a:off x="7298685" y="4804882"/>
              <a:ext cx="86333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01" name="Gerade Verbindung mit Pfeil 200">
              <a:extLst>
                <a:ext uri="{FF2B5EF4-FFF2-40B4-BE49-F238E27FC236}">
                  <a16:creationId xmlns:a16="http://schemas.microsoft.com/office/drawing/2014/main" id="{1C7B425F-6083-8973-EA06-7C207D45B9C1}"/>
                </a:ext>
              </a:extLst>
            </p:cNvPr>
            <p:cNvCxnSpPr>
              <a:cxnSpLocks/>
              <a:endCxn id="192" idx="3"/>
            </p:cNvCxnSpPr>
            <p:nvPr/>
          </p:nvCxnSpPr>
          <p:spPr>
            <a:xfrm flipH="1">
              <a:off x="9723251" y="4802819"/>
              <a:ext cx="883243" cy="206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0" name="Verbinder: gewinkelt 209">
              <a:extLst>
                <a:ext uri="{FF2B5EF4-FFF2-40B4-BE49-F238E27FC236}">
                  <a16:creationId xmlns:a16="http://schemas.microsoft.com/office/drawing/2014/main" id="{1801657F-4CE7-E354-30E3-B4C0155B1C1A}"/>
                </a:ext>
              </a:extLst>
            </p:cNvPr>
            <p:cNvCxnSpPr>
              <a:cxnSpLocks/>
            </p:cNvCxnSpPr>
            <p:nvPr/>
          </p:nvCxnSpPr>
          <p:spPr>
            <a:xfrm>
              <a:off x="6879643" y="3694425"/>
              <a:ext cx="646750" cy="562512"/>
            </a:xfrm>
            <a:prstGeom prst="bentConnector3">
              <a:avLst>
                <a:gd name="adj1" fmla="val 100270"/>
              </a:avLst>
            </a:prstGeom>
            <a:ln w="12700">
              <a:tailEnd type="triangle"/>
            </a:ln>
          </p:spPr>
          <p:style>
            <a:lnRef idx="1">
              <a:schemeClr val="dk1"/>
            </a:lnRef>
            <a:fillRef idx="0">
              <a:schemeClr val="dk1"/>
            </a:fillRef>
            <a:effectRef idx="0">
              <a:schemeClr val="dk1"/>
            </a:effectRef>
            <a:fontRef idx="minor">
              <a:schemeClr val="tx1"/>
            </a:fontRef>
          </p:style>
        </p:cxnSp>
        <p:cxnSp>
          <p:nvCxnSpPr>
            <p:cNvPr id="218" name="Gerade Verbindung mit Pfeil 217">
              <a:extLst>
                <a:ext uri="{FF2B5EF4-FFF2-40B4-BE49-F238E27FC236}">
                  <a16:creationId xmlns:a16="http://schemas.microsoft.com/office/drawing/2014/main" id="{E301EBE8-52B0-1E93-37CF-8E5A33CF92BF}"/>
                </a:ext>
              </a:extLst>
            </p:cNvPr>
            <p:cNvCxnSpPr>
              <a:cxnSpLocks/>
            </p:cNvCxnSpPr>
            <p:nvPr/>
          </p:nvCxnSpPr>
          <p:spPr>
            <a:xfrm>
              <a:off x="10058400" y="3827433"/>
              <a:ext cx="0" cy="42978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225" name="Rechteck 224">
              <a:extLst>
                <a:ext uri="{FF2B5EF4-FFF2-40B4-BE49-F238E27FC236}">
                  <a16:creationId xmlns:a16="http://schemas.microsoft.com/office/drawing/2014/main" id="{6811C2ED-014A-137A-1525-E968BD82E4E5}"/>
                </a:ext>
              </a:extLst>
            </p:cNvPr>
            <p:cNvSpPr/>
            <p:nvPr/>
          </p:nvSpPr>
          <p:spPr>
            <a:xfrm>
              <a:off x="6465643" y="5395828"/>
              <a:ext cx="156123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200" dirty="0">
                  <a:solidFill>
                    <a:schemeClr val="tx1"/>
                  </a:solidFill>
                </a:rPr>
                <a:t>Text Prompt</a:t>
              </a:r>
            </a:p>
          </p:txBody>
        </p:sp>
        <p:cxnSp>
          <p:nvCxnSpPr>
            <p:cNvPr id="226" name="Gerade Verbindung mit Pfeil 225">
              <a:extLst>
                <a:ext uri="{FF2B5EF4-FFF2-40B4-BE49-F238E27FC236}">
                  <a16:creationId xmlns:a16="http://schemas.microsoft.com/office/drawing/2014/main" id="{DF388ADA-C603-8707-907E-E2FA8ACAA05A}"/>
                </a:ext>
              </a:extLst>
            </p:cNvPr>
            <p:cNvCxnSpPr>
              <a:cxnSpLocks/>
              <a:stCxn id="225" idx="3"/>
              <a:endCxn id="153" idx="1"/>
            </p:cNvCxnSpPr>
            <p:nvPr/>
          </p:nvCxnSpPr>
          <p:spPr>
            <a:xfrm>
              <a:off x="8026879" y="5612145"/>
              <a:ext cx="135136"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8" name="Gerade Verbindung mit Pfeil 227">
              <a:extLst>
                <a:ext uri="{FF2B5EF4-FFF2-40B4-BE49-F238E27FC236}">
                  <a16:creationId xmlns:a16="http://schemas.microsoft.com/office/drawing/2014/main" id="{F7704366-F7E2-EA09-2F1E-3EB45F27D38D}"/>
                </a:ext>
              </a:extLst>
            </p:cNvPr>
            <p:cNvCxnSpPr>
              <a:cxnSpLocks/>
              <a:stCxn id="192" idx="2"/>
              <a:endCxn id="153" idx="0"/>
            </p:cNvCxnSpPr>
            <p:nvPr/>
          </p:nvCxnSpPr>
          <p:spPr>
            <a:xfrm>
              <a:off x="8942633" y="4947612"/>
              <a:ext cx="0" cy="44821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2" name="Gerade Verbindung mit Pfeil 231">
              <a:extLst>
                <a:ext uri="{FF2B5EF4-FFF2-40B4-BE49-F238E27FC236}">
                  <a16:creationId xmlns:a16="http://schemas.microsoft.com/office/drawing/2014/main" id="{21832EB1-8954-81AA-EB60-850AABB6ACA6}"/>
                </a:ext>
              </a:extLst>
            </p:cNvPr>
            <p:cNvCxnSpPr>
              <a:cxnSpLocks/>
              <a:stCxn id="153" idx="3"/>
            </p:cNvCxnSpPr>
            <p:nvPr/>
          </p:nvCxnSpPr>
          <p:spPr>
            <a:xfrm>
              <a:off x="9723251" y="5612145"/>
              <a:ext cx="6196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00939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7D89-B72B-9FDF-F42A-A22F2563B818}"/>
            </a:ext>
          </a:extLst>
        </p:cNvPr>
        <p:cNvGrpSpPr/>
        <p:nvPr/>
      </p:nvGrpSpPr>
      <p:grpSpPr>
        <a:xfrm>
          <a:off x="0" y="0"/>
          <a:ext cx="0" cy="0"/>
          <a:chOff x="0" y="0"/>
          <a:chExt cx="0" cy="0"/>
        </a:xfrm>
      </p:grpSpPr>
      <p:pic>
        <p:nvPicPr>
          <p:cNvPr id="270" name="Grafik 269" descr="Papier Silhouette">
            <a:extLst>
              <a:ext uri="{FF2B5EF4-FFF2-40B4-BE49-F238E27FC236}">
                <a16:creationId xmlns:a16="http://schemas.microsoft.com/office/drawing/2014/main" id="{AC40886E-5D81-91B5-142D-BCBE9D9506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6860" y="1109829"/>
            <a:ext cx="971976" cy="971976"/>
          </a:xfrm>
          <a:prstGeom prst="rect">
            <a:avLst/>
          </a:prstGeom>
        </p:spPr>
      </p:pic>
      <p:sp>
        <p:nvSpPr>
          <p:cNvPr id="271" name="Rechteck: eine Ecke abgeschnitten 90">
            <a:extLst>
              <a:ext uri="{FF2B5EF4-FFF2-40B4-BE49-F238E27FC236}">
                <a16:creationId xmlns:a16="http://schemas.microsoft.com/office/drawing/2014/main" id="{21EF2F8E-5CD1-C588-BC9F-C2F8F28B2FE7}"/>
              </a:ext>
            </a:extLst>
          </p:cNvPr>
          <p:cNvSpPr/>
          <p:nvPr/>
        </p:nvSpPr>
        <p:spPr>
          <a:xfrm>
            <a:off x="11343040" y="1243849"/>
            <a:ext cx="557495" cy="77305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3673"/>
              <a:gd name="connsiteY0" fmla="*/ 0 h 629956"/>
              <a:gd name="connsiteX1" fmla="*/ 292433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3673"/>
              <a:gd name="connsiteY0" fmla="*/ 0 h 629956"/>
              <a:gd name="connsiteX1" fmla="*/ 292433 w 473673"/>
              <a:gd name="connsiteY1" fmla="*/ 1407 h 629956"/>
              <a:gd name="connsiteX2" fmla="*/ 473673 w 473673"/>
              <a:gd name="connsiteY2" fmla="*/ 178206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92433" y="1407"/>
                </a:lnTo>
                <a:lnTo>
                  <a:pt x="473673" y="178206"/>
                </a:lnTo>
                <a:cubicBezTo>
                  <a:pt x="472415" y="326202"/>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8" name="Grafik 267" descr="Papier Silhouette">
            <a:extLst>
              <a:ext uri="{FF2B5EF4-FFF2-40B4-BE49-F238E27FC236}">
                <a16:creationId xmlns:a16="http://schemas.microsoft.com/office/drawing/2014/main" id="{BC67D083-0D0B-6C8B-AED0-1C515111289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17330" y="1143984"/>
            <a:ext cx="971976" cy="971976"/>
          </a:xfrm>
          <a:prstGeom prst="rect">
            <a:avLst/>
          </a:prstGeom>
        </p:spPr>
      </p:pic>
      <p:sp>
        <p:nvSpPr>
          <p:cNvPr id="269" name="Rechteck: eine Ecke abgeschnitten 90">
            <a:extLst>
              <a:ext uri="{FF2B5EF4-FFF2-40B4-BE49-F238E27FC236}">
                <a16:creationId xmlns:a16="http://schemas.microsoft.com/office/drawing/2014/main" id="{745C5CC8-C8C9-83DD-9BC7-88C7B09FE6DD}"/>
              </a:ext>
            </a:extLst>
          </p:cNvPr>
          <p:cNvSpPr/>
          <p:nvPr/>
        </p:nvSpPr>
        <p:spPr>
          <a:xfrm>
            <a:off x="11293510" y="1278004"/>
            <a:ext cx="557495" cy="77305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3673"/>
              <a:gd name="connsiteY0" fmla="*/ 0 h 629956"/>
              <a:gd name="connsiteX1" fmla="*/ 292433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3673"/>
              <a:gd name="connsiteY0" fmla="*/ 0 h 629956"/>
              <a:gd name="connsiteX1" fmla="*/ 292433 w 473673"/>
              <a:gd name="connsiteY1" fmla="*/ 1407 h 629956"/>
              <a:gd name="connsiteX2" fmla="*/ 473673 w 473673"/>
              <a:gd name="connsiteY2" fmla="*/ 178206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92433" y="1407"/>
                </a:lnTo>
                <a:lnTo>
                  <a:pt x="473673" y="178206"/>
                </a:lnTo>
                <a:cubicBezTo>
                  <a:pt x="472415" y="326202"/>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itel 2">
            <a:extLst>
              <a:ext uri="{FF2B5EF4-FFF2-40B4-BE49-F238E27FC236}">
                <a16:creationId xmlns:a16="http://schemas.microsoft.com/office/drawing/2014/main" id="{F06D2943-9D38-4B4D-6BE5-92794E7DB727}"/>
              </a:ext>
            </a:extLst>
          </p:cNvPr>
          <p:cNvSpPr>
            <a:spLocks noGrp="1"/>
          </p:cNvSpPr>
          <p:nvPr>
            <p:ph type="title"/>
          </p:nvPr>
        </p:nvSpPr>
        <p:spPr/>
        <p:txBody>
          <a:bodyPr/>
          <a:lstStyle/>
          <a:p>
            <a:r>
              <a:rPr lang="en-US" dirty="0"/>
              <a:t>RADAR: Enhancing Radiology Report Generation with Supplementary Knowledge Injection</a:t>
            </a:r>
            <a:br>
              <a:rPr lang="en-US" dirty="0"/>
            </a:br>
            <a:r>
              <a:rPr lang="en-US" dirty="0"/>
              <a:t>(Hou et al., 2025) [4]</a:t>
            </a:r>
            <a:endParaRPr lang="de-DE" dirty="0"/>
          </a:p>
        </p:txBody>
      </p:sp>
      <p:sp>
        <p:nvSpPr>
          <p:cNvPr id="5" name="Textplatzhalter 1">
            <a:extLst>
              <a:ext uri="{FF2B5EF4-FFF2-40B4-BE49-F238E27FC236}">
                <a16:creationId xmlns:a16="http://schemas.microsoft.com/office/drawing/2014/main" id="{10F87DF5-4099-5BFB-31B2-7952D10CB726}"/>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Previous approaches often ignore the knowledge already embedded in LLMs, leading to redundant retrieval.</a:t>
            </a:r>
          </a:p>
          <a:p>
            <a:pPr lvl="1" algn="just"/>
            <a:r>
              <a:rPr lang="en-US" sz="1200" dirty="0"/>
              <a:t>LLM knowledge can be unreliable (hallucinated or inconsistent with image)</a:t>
            </a:r>
          </a:p>
          <a:p>
            <a:pPr algn="just"/>
            <a:r>
              <a:rPr lang="en-US" sz="1400" b="1" dirty="0"/>
              <a:t>Approach</a:t>
            </a:r>
            <a:endParaRPr lang="en-US" b="1" dirty="0"/>
          </a:p>
          <a:p>
            <a:pPr lvl="1" algn="just"/>
            <a:r>
              <a:rPr lang="en-US" sz="1200" b="1" dirty="0"/>
              <a:t>RADAR</a:t>
            </a:r>
            <a:r>
              <a:rPr lang="en-US" sz="1200" dirty="0"/>
              <a:t> (</a:t>
            </a:r>
            <a:r>
              <a:rPr lang="en-US" sz="1200" dirty="0" err="1"/>
              <a:t>RADiology</a:t>
            </a:r>
            <a:r>
              <a:rPr lang="en-US" sz="1200" dirty="0"/>
              <a:t> report generation with </a:t>
            </a:r>
            <a:r>
              <a:rPr lang="en-US" sz="1200" dirty="0" err="1"/>
              <a:t>supplementARy</a:t>
            </a:r>
            <a:r>
              <a:rPr lang="en-US" sz="1200" dirty="0"/>
              <a:t> knowledge) integrates internal and external knowledge through two stages:</a:t>
            </a:r>
          </a:p>
          <a:p>
            <a:pPr lvl="2" algn="just"/>
            <a:r>
              <a:rPr lang="en-US" sz="1200" b="1" dirty="0"/>
              <a:t>Preliminary Findings (PF) Generation: </a:t>
            </a:r>
            <a:r>
              <a:rPr lang="en-US" sz="1200" dirty="0"/>
              <a:t>An LLM generates a draft report, which is converted into semi-structured knowledge using </a:t>
            </a:r>
            <a:r>
              <a:rPr lang="en-US" sz="1200" dirty="0" err="1"/>
              <a:t>CheXpert</a:t>
            </a:r>
            <a:r>
              <a:rPr lang="en-US" sz="1200" dirty="0"/>
              <a:t> annotations (keeping only positive observations).</a:t>
            </a:r>
          </a:p>
          <a:p>
            <a:pPr lvl="2" algn="just"/>
            <a:r>
              <a:rPr lang="en-US" sz="1200" b="1" dirty="0"/>
              <a:t>Supplementary Findings (SF) Augmentation:</a:t>
            </a:r>
            <a:r>
              <a:rPr lang="en-US" sz="1200" dirty="0"/>
              <a:t> Top-K similar reports are retrieved based on expert-model output similarity; their semi-structured observations are filtered to add only complementary findings.</a:t>
            </a:r>
          </a:p>
          <a:p>
            <a:pPr lvl="1" algn="just"/>
            <a:r>
              <a:rPr lang="en-US" sz="1200" dirty="0"/>
              <a:t>The expert model encodes the image and clinical context to predict observation probabilities.</a:t>
            </a:r>
          </a:p>
          <a:p>
            <a:pPr algn="just"/>
            <a:r>
              <a:rPr lang="en-US" sz="1400" b="1" dirty="0"/>
              <a:t>Results</a:t>
            </a:r>
            <a:endParaRPr lang="en-US" sz="1600" b="1" dirty="0"/>
          </a:p>
          <a:p>
            <a:pPr lvl="1" algn="just"/>
            <a:r>
              <a:rPr lang="en-US" sz="1200" dirty="0"/>
              <a:t>RADAR improves NLG metrics (BLEU-4, ROUGE-L) while achieving state-of-the-art clinical performance (RG-F1, </a:t>
            </a:r>
            <a:r>
              <a:rPr lang="en-US" sz="1200" dirty="0" err="1"/>
              <a:t>RadCliQ</a:t>
            </a:r>
            <a:r>
              <a:rPr lang="en-US" sz="1200" dirty="0"/>
              <a:t>) on MIMIC-CXR, IU-Xray, and </a:t>
            </a:r>
            <a:r>
              <a:rPr lang="en-US" sz="1200" dirty="0" err="1"/>
              <a:t>CheXpert</a:t>
            </a:r>
            <a:r>
              <a:rPr lang="en-US" sz="1200" dirty="0"/>
              <a:t>-Plus.</a:t>
            </a:r>
          </a:p>
          <a:p>
            <a:pPr lvl="1" algn="just"/>
            <a:r>
              <a:rPr lang="en-US" sz="1200" dirty="0"/>
              <a:t>Ablations confirm that combining all modules (PF, SF, OI) yields the best results.</a:t>
            </a:r>
          </a:p>
          <a:p>
            <a:pPr algn="just"/>
            <a:r>
              <a:rPr lang="en-US" sz="1400" b="1" dirty="0"/>
              <a:t>Key Takeaway</a:t>
            </a:r>
          </a:p>
          <a:p>
            <a:pPr lvl="1" algn="just"/>
            <a:r>
              <a:rPr lang="en-US" sz="1200" dirty="0"/>
              <a:t>Effectively combining an LLM’s internal knowledge with carefully retrieved supplementary domain knowledge can improve clinical accuracy in RRG - more than retrieval‐only or LLM‐only approaches.</a:t>
            </a:r>
            <a:endParaRPr lang="en-US" sz="1200" b="1" dirty="0"/>
          </a:p>
        </p:txBody>
      </p:sp>
      <p:sp>
        <p:nvSpPr>
          <p:cNvPr id="6" name="Inhaltsplatzhalter 3">
            <a:extLst>
              <a:ext uri="{FF2B5EF4-FFF2-40B4-BE49-F238E27FC236}">
                <a16:creationId xmlns:a16="http://schemas.microsoft.com/office/drawing/2014/main" id="{AC2C17A2-07C5-B7F7-FA55-2DF537BC4C8A}"/>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Proceedings of the 63rd Annual Meeting of the Association for Computational Linguistics (Volume 1: Long Papers)</a:t>
            </a:r>
            <a:endParaRPr lang="de-DE" sz="1600" dirty="0"/>
          </a:p>
        </p:txBody>
      </p:sp>
      <p:grpSp>
        <p:nvGrpSpPr>
          <p:cNvPr id="10" name="Gruppieren 9">
            <a:extLst>
              <a:ext uri="{FF2B5EF4-FFF2-40B4-BE49-F238E27FC236}">
                <a16:creationId xmlns:a16="http://schemas.microsoft.com/office/drawing/2014/main" id="{55044314-1E52-190B-EF19-D1427BD0309E}"/>
              </a:ext>
            </a:extLst>
          </p:cNvPr>
          <p:cNvGrpSpPr/>
          <p:nvPr/>
        </p:nvGrpSpPr>
        <p:grpSpPr>
          <a:xfrm>
            <a:off x="7029367" y="2048404"/>
            <a:ext cx="826807" cy="796741"/>
            <a:chOff x="6890327" y="1636222"/>
            <a:chExt cx="826807" cy="796741"/>
          </a:xfrm>
        </p:grpSpPr>
        <p:sp>
          <p:nvSpPr>
            <p:cNvPr id="74" name="Rechteck 73">
              <a:extLst>
                <a:ext uri="{FF2B5EF4-FFF2-40B4-BE49-F238E27FC236}">
                  <a16:creationId xmlns:a16="http://schemas.microsoft.com/office/drawing/2014/main" id="{617EBD9F-3B3F-66BB-B527-4937C6DC3E36}"/>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75" name="Gerader Verbinder 74">
              <a:extLst>
                <a:ext uri="{FF2B5EF4-FFF2-40B4-BE49-F238E27FC236}">
                  <a16:creationId xmlns:a16="http://schemas.microsoft.com/office/drawing/2014/main" id="{11247979-81BD-63EA-FB8B-1BC54669F726}"/>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3" name="Gerader Verbinder 92">
              <a:extLst>
                <a:ext uri="{FF2B5EF4-FFF2-40B4-BE49-F238E27FC236}">
                  <a16:creationId xmlns:a16="http://schemas.microsoft.com/office/drawing/2014/main" id="{D63DAF0D-0FFD-FAB9-4D46-94A86E7C1D99}"/>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4" name="Gerader Verbinder 93">
              <a:extLst>
                <a:ext uri="{FF2B5EF4-FFF2-40B4-BE49-F238E27FC236}">
                  <a16:creationId xmlns:a16="http://schemas.microsoft.com/office/drawing/2014/main" id="{0219AFAC-B410-73AA-D290-CC002352EAFC}"/>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5" name="Gerader Verbinder 94">
              <a:extLst>
                <a:ext uri="{FF2B5EF4-FFF2-40B4-BE49-F238E27FC236}">
                  <a16:creationId xmlns:a16="http://schemas.microsoft.com/office/drawing/2014/main" id="{AC14434A-BE5F-528B-0304-345677D105F3}"/>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6" name="Gerader Verbinder 95">
              <a:extLst>
                <a:ext uri="{FF2B5EF4-FFF2-40B4-BE49-F238E27FC236}">
                  <a16:creationId xmlns:a16="http://schemas.microsoft.com/office/drawing/2014/main" id="{7EA52521-0B52-5407-F1B4-CAC19C2054FC}"/>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7" name="Gerader Verbinder 96">
              <a:extLst>
                <a:ext uri="{FF2B5EF4-FFF2-40B4-BE49-F238E27FC236}">
                  <a16:creationId xmlns:a16="http://schemas.microsoft.com/office/drawing/2014/main" id="{BDDAD43C-20D1-65DA-5736-EE3A08D7D2CF}"/>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8" name="Gerader Verbinder 97">
              <a:extLst>
                <a:ext uri="{FF2B5EF4-FFF2-40B4-BE49-F238E27FC236}">
                  <a16:creationId xmlns:a16="http://schemas.microsoft.com/office/drawing/2014/main" id="{2DF2E5F1-A078-B4B7-6218-2574E8AE7766}"/>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99" name="Gerader Verbinder 98">
              <a:extLst>
                <a:ext uri="{FF2B5EF4-FFF2-40B4-BE49-F238E27FC236}">
                  <a16:creationId xmlns:a16="http://schemas.microsoft.com/office/drawing/2014/main" id="{ABCBCDCC-E63B-DBFC-4193-5B4C899AE81E}"/>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00" name="Grafik 99" descr="Lungen mit einfarbiger Füllung">
              <a:extLst>
                <a:ext uri="{FF2B5EF4-FFF2-40B4-BE49-F238E27FC236}">
                  <a16:creationId xmlns:a16="http://schemas.microsoft.com/office/drawing/2014/main" id="{F18D87FE-8664-B45F-AB80-04550278E1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101" name="Gruppieren 100">
            <a:extLst>
              <a:ext uri="{FF2B5EF4-FFF2-40B4-BE49-F238E27FC236}">
                <a16:creationId xmlns:a16="http://schemas.microsoft.com/office/drawing/2014/main" id="{68E3A672-B695-545E-7D45-987DBE5B6B66}"/>
              </a:ext>
            </a:extLst>
          </p:cNvPr>
          <p:cNvGrpSpPr/>
          <p:nvPr/>
        </p:nvGrpSpPr>
        <p:grpSpPr>
          <a:xfrm>
            <a:off x="8023266" y="2048404"/>
            <a:ext cx="826807" cy="796741"/>
            <a:chOff x="6890327" y="1636222"/>
            <a:chExt cx="826807" cy="796741"/>
          </a:xfrm>
        </p:grpSpPr>
        <p:sp>
          <p:nvSpPr>
            <p:cNvPr id="102" name="Rechteck 101">
              <a:extLst>
                <a:ext uri="{FF2B5EF4-FFF2-40B4-BE49-F238E27FC236}">
                  <a16:creationId xmlns:a16="http://schemas.microsoft.com/office/drawing/2014/main" id="{F488344C-0F32-9C4A-258E-E7AFA1A806B2}"/>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03" name="Gerader Verbinder 102">
              <a:extLst>
                <a:ext uri="{FF2B5EF4-FFF2-40B4-BE49-F238E27FC236}">
                  <a16:creationId xmlns:a16="http://schemas.microsoft.com/office/drawing/2014/main" id="{1B72625C-239B-A6DD-FEDC-66196FB88E0B}"/>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4" name="Gerader Verbinder 103">
              <a:extLst>
                <a:ext uri="{FF2B5EF4-FFF2-40B4-BE49-F238E27FC236}">
                  <a16:creationId xmlns:a16="http://schemas.microsoft.com/office/drawing/2014/main" id="{D5A16C32-4115-A926-D64F-D9E8EA60457D}"/>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5" name="Gerader Verbinder 104">
              <a:extLst>
                <a:ext uri="{FF2B5EF4-FFF2-40B4-BE49-F238E27FC236}">
                  <a16:creationId xmlns:a16="http://schemas.microsoft.com/office/drawing/2014/main" id="{7EF5B1FC-FA93-5868-F385-FBD33BF0248E}"/>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6" name="Gerader Verbinder 105">
              <a:extLst>
                <a:ext uri="{FF2B5EF4-FFF2-40B4-BE49-F238E27FC236}">
                  <a16:creationId xmlns:a16="http://schemas.microsoft.com/office/drawing/2014/main" id="{623E98B9-A7C4-6B31-B94D-637A426D9599}"/>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7" name="Gerader Verbinder 106">
              <a:extLst>
                <a:ext uri="{FF2B5EF4-FFF2-40B4-BE49-F238E27FC236}">
                  <a16:creationId xmlns:a16="http://schemas.microsoft.com/office/drawing/2014/main" id="{6336C4A3-51D4-AD36-AD29-B7D0E2BC66D1}"/>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8" name="Gerader Verbinder 107">
              <a:extLst>
                <a:ext uri="{FF2B5EF4-FFF2-40B4-BE49-F238E27FC236}">
                  <a16:creationId xmlns:a16="http://schemas.microsoft.com/office/drawing/2014/main" id="{0451D736-6F2F-5EA6-E825-0E9F9CFC8874}"/>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09" name="Gerader Verbinder 108">
              <a:extLst>
                <a:ext uri="{FF2B5EF4-FFF2-40B4-BE49-F238E27FC236}">
                  <a16:creationId xmlns:a16="http://schemas.microsoft.com/office/drawing/2014/main" id="{1A169C7B-577D-3C8D-9136-F19BDB14731E}"/>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10" name="Gerader Verbinder 109">
              <a:extLst>
                <a:ext uri="{FF2B5EF4-FFF2-40B4-BE49-F238E27FC236}">
                  <a16:creationId xmlns:a16="http://schemas.microsoft.com/office/drawing/2014/main" id="{24FAA557-DB1E-855B-B961-E856B8716C86}"/>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11" name="Grafik 110" descr="Lungen mit einfarbiger Füllung">
              <a:extLst>
                <a:ext uri="{FF2B5EF4-FFF2-40B4-BE49-F238E27FC236}">
                  <a16:creationId xmlns:a16="http://schemas.microsoft.com/office/drawing/2014/main" id="{C9B16329-86EA-196D-59FF-9217E7540CD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116" name="Gruppieren 115">
            <a:extLst>
              <a:ext uri="{FF2B5EF4-FFF2-40B4-BE49-F238E27FC236}">
                <a16:creationId xmlns:a16="http://schemas.microsoft.com/office/drawing/2014/main" id="{3386BE2E-6AC6-4363-CDA1-CDED7BBD1847}"/>
              </a:ext>
            </a:extLst>
          </p:cNvPr>
          <p:cNvGrpSpPr>
            <a:grpSpLocks noChangeAspect="1"/>
          </p:cNvGrpSpPr>
          <p:nvPr/>
        </p:nvGrpSpPr>
        <p:grpSpPr>
          <a:xfrm>
            <a:off x="6096000" y="1960786"/>
            <a:ext cx="971976" cy="971976"/>
            <a:chOff x="6554558" y="2373204"/>
            <a:chExt cx="1367790" cy="1367790"/>
          </a:xfrm>
        </p:grpSpPr>
        <p:pic>
          <p:nvPicPr>
            <p:cNvPr id="113" name="Grafik 112" descr="Geschichte Silhouette">
              <a:extLst>
                <a:ext uri="{FF2B5EF4-FFF2-40B4-BE49-F238E27FC236}">
                  <a16:creationId xmlns:a16="http://schemas.microsoft.com/office/drawing/2014/main" id="{4BABF952-436F-2251-350B-776025843C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48265" y="2923734"/>
              <a:ext cx="580375" cy="580375"/>
            </a:xfrm>
            <a:prstGeom prst="rect">
              <a:avLst/>
            </a:prstGeom>
          </p:spPr>
        </p:pic>
        <p:pic>
          <p:nvPicPr>
            <p:cNvPr id="115" name="Grafik 114" descr="Papier Silhouette">
              <a:extLst>
                <a:ext uri="{FF2B5EF4-FFF2-40B4-BE49-F238E27FC236}">
                  <a16:creationId xmlns:a16="http://schemas.microsoft.com/office/drawing/2014/main" id="{998D54E7-01C3-DF22-159F-B3EC63D3036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4558" y="2373204"/>
              <a:ext cx="1367790" cy="1367790"/>
            </a:xfrm>
            <a:prstGeom prst="rect">
              <a:avLst/>
            </a:prstGeom>
          </p:spPr>
        </p:pic>
      </p:grpSp>
      <p:sp>
        <p:nvSpPr>
          <p:cNvPr id="117" name="Rechteck 116">
            <a:extLst>
              <a:ext uri="{FF2B5EF4-FFF2-40B4-BE49-F238E27FC236}">
                <a16:creationId xmlns:a16="http://schemas.microsoft.com/office/drawing/2014/main" id="{7B5E4356-8EBB-7ECB-8F0A-7F4EA09DC640}"/>
              </a:ext>
            </a:extLst>
          </p:cNvPr>
          <p:cNvSpPr/>
          <p:nvPr/>
        </p:nvSpPr>
        <p:spPr>
          <a:xfrm>
            <a:off x="7029367" y="3089241"/>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118" name="Rechteck 117">
            <a:extLst>
              <a:ext uri="{FF2B5EF4-FFF2-40B4-BE49-F238E27FC236}">
                <a16:creationId xmlns:a16="http://schemas.microsoft.com/office/drawing/2014/main" id="{93939729-3871-4485-B89C-4CE93A06C47B}"/>
              </a:ext>
            </a:extLst>
          </p:cNvPr>
          <p:cNvSpPr/>
          <p:nvPr/>
        </p:nvSpPr>
        <p:spPr>
          <a:xfrm>
            <a:off x="8023266" y="3082630"/>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pic>
        <p:nvPicPr>
          <p:cNvPr id="119" name="Grafik 118" descr="Dokument Silhouette">
            <a:extLst>
              <a:ext uri="{FF2B5EF4-FFF2-40B4-BE49-F238E27FC236}">
                <a16:creationId xmlns:a16="http://schemas.microsoft.com/office/drawing/2014/main" id="{F4C9D132-9D85-0EFB-5806-D8D1845E659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59094" y="4436088"/>
            <a:ext cx="914400" cy="914400"/>
          </a:xfrm>
          <a:prstGeom prst="rect">
            <a:avLst/>
          </a:prstGeom>
        </p:spPr>
      </p:pic>
      <p:sp>
        <p:nvSpPr>
          <p:cNvPr id="120" name="Rechteck 119">
            <a:extLst>
              <a:ext uri="{FF2B5EF4-FFF2-40B4-BE49-F238E27FC236}">
                <a16:creationId xmlns:a16="http://schemas.microsoft.com/office/drawing/2014/main" id="{458269B7-C7A2-EA85-23D8-AAB6B940E861}"/>
              </a:ext>
            </a:extLst>
          </p:cNvPr>
          <p:cNvSpPr/>
          <p:nvPr/>
        </p:nvSpPr>
        <p:spPr>
          <a:xfrm>
            <a:off x="7029367" y="3759359"/>
            <a:ext cx="182070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LLM</a:t>
            </a:r>
          </a:p>
        </p:txBody>
      </p:sp>
      <p:grpSp>
        <p:nvGrpSpPr>
          <p:cNvPr id="159" name="Gruppieren 158">
            <a:extLst>
              <a:ext uri="{FF2B5EF4-FFF2-40B4-BE49-F238E27FC236}">
                <a16:creationId xmlns:a16="http://schemas.microsoft.com/office/drawing/2014/main" id="{59975C4B-66BF-E794-D681-2F01E2742870}"/>
              </a:ext>
            </a:extLst>
          </p:cNvPr>
          <p:cNvGrpSpPr/>
          <p:nvPr/>
        </p:nvGrpSpPr>
        <p:grpSpPr>
          <a:xfrm>
            <a:off x="10305924" y="1183968"/>
            <a:ext cx="826807" cy="796741"/>
            <a:chOff x="6890327" y="1636222"/>
            <a:chExt cx="826807" cy="796741"/>
          </a:xfrm>
        </p:grpSpPr>
        <p:sp>
          <p:nvSpPr>
            <p:cNvPr id="160" name="Rechteck 159">
              <a:extLst>
                <a:ext uri="{FF2B5EF4-FFF2-40B4-BE49-F238E27FC236}">
                  <a16:creationId xmlns:a16="http://schemas.microsoft.com/office/drawing/2014/main" id="{2C257969-4069-2FA2-8AAD-07A9411B4211}"/>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61" name="Gerader Verbinder 160">
              <a:extLst>
                <a:ext uri="{FF2B5EF4-FFF2-40B4-BE49-F238E27FC236}">
                  <a16:creationId xmlns:a16="http://schemas.microsoft.com/office/drawing/2014/main" id="{F5445706-0224-7E0E-6269-71461610511A}"/>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63" name="Gerader Verbinder 162">
              <a:extLst>
                <a:ext uri="{FF2B5EF4-FFF2-40B4-BE49-F238E27FC236}">
                  <a16:creationId xmlns:a16="http://schemas.microsoft.com/office/drawing/2014/main" id="{BE83DD3D-AA08-FF1F-75EF-F1394E797677}"/>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64" name="Gerader Verbinder 163">
              <a:extLst>
                <a:ext uri="{FF2B5EF4-FFF2-40B4-BE49-F238E27FC236}">
                  <a16:creationId xmlns:a16="http://schemas.microsoft.com/office/drawing/2014/main" id="{87AD86C4-27BE-A6A4-85AA-6CD448C175B7}"/>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66" name="Gerader Verbinder 165">
              <a:extLst>
                <a:ext uri="{FF2B5EF4-FFF2-40B4-BE49-F238E27FC236}">
                  <a16:creationId xmlns:a16="http://schemas.microsoft.com/office/drawing/2014/main" id="{50DE212E-BD67-BBAA-DA7D-7162731D74D0}"/>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67" name="Gerader Verbinder 166">
              <a:extLst>
                <a:ext uri="{FF2B5EF4-FFF2-40B4-BE49-F238E27FC236}">
                  <a16:creationId xmlns:a16="http://schemas.microsoft.com/office/drawing/2014/main" id="{73F0CE0F-B0E4-2B26-F16A-FA160C1F85D8}"/>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69" name="Gerader Verbinder 168">
              <a:extLst>
                <a:ext uri="{FF2B5EF4-FFF2-40B4-BE49-F238E27FC236}">
                  <a16:creationId xmlns:a16="http://schemas.microsoft.com/office/drawing/2014/main" id="{2AB82C44-1043-208A-53FC-C626A845CE09}"/>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70" name="Gerader Verbinder 169">
              <a:extLst>
                <a:ext uri="{FF2B5EF4-FFF2-40B4-BE49-F238E27FC236}">
                  <a16:creationId xmlns:a16="http://schemas.microsoft.com/office/drawing/2014/main" id="{0F56AA09-1542-2D9E-DC29-1B1E465376C2}"/>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71" name="Gerader Verbinder 170">
              <a:extLst>
                <a:ext uri="{FF2B5EF4-FFF2-40B4-BE49-F238E27FC236}">
                  <a16:creationId xmlns:a16="http://schemas.microsoft.com/office/drawing/2014/main" id="{DA9694D4-8165-D026-9B1B-7798B41C0FD3}"/>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73" name="Grafik 172" descr="Lungen mit einfarbiger Füllung">
              <a:extLst>
                <a:ext uri="{FF2B5EF4-FFF2-40B4-BE49-F238E27FC236}">
                  <a16:creationId xmlns:a16="http://schemas.microsoft.com/office/drawing/2014/main" id="{AC420048-95C4-5C9B-ED37-D259278CB9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132" name="Gruppieren 131">
            <a:extLst>
              <a:ext uri="{FF2B5EF4-FFF2-40B4-BE49-F238E27FC236}">
                <a16:creationId xmlns:a16="http://schemas.microsoft.com/office/drawing/2014/main" id="{63800D75-7E44-D1FA-A414-1B7DF62AE9CE}"/>
              </a:ext>
            </a:extLst>
          </p:cNvPr>
          <p:cNvGrpSpPr/>
          <p:nvPr/>
        </p:nvGrpSpPr>
        <p:grpSpPr>
          <a:xfrm>
            <a:off x="10263600" y="1226150"/>
            <a:ext cx="826807" cy="796741"/>
            <a:chOff x="6890327" y="1636222"/>
            <a:chExt cx="826807" cy="796741"/>
          </a:xfrm>
        </p:grpSpPr>
        <p:sp>
          <p:nvSpPr>
            <p:cNvPr id="133" name="Rechteck 132">
              <a:extLst>
                <a:ext uri="{FF2B5EF4-FFF2-40B4-BE49-F238E27FC236}">
                  <a16:creationId xmlns:a16="http://schemas.microsoft.com/office/drawing/2014/main" id="{01EF6AA1-6CFA-8AC1-57E3-AF765150EA9E}"/>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34" name="Gerader Verbinder 133">
              <a:extLst>
                <a:ext uri="{FF2B5EF4-FFF2-40B4-BE49-F238E27FC236}">
                  <a16:creationId xmlns:a16="http://schemas.microsoft.com/office/drawing/2014/main" id="{14194131-9B65-45C7-D553-58129A52FF5A}"/>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35" name="Gerader Verbinder 134">
              <a:extLst>
                <a:ext uri="{FF2B5EF4-FFF2-40B4-BE49-F238E27FC236}">
                  <a16:creationId xmlns:a16="http://schemas.microsoft.com/office/drawing/2014/main" id="{DDCEC6FF-0E76-9402-C4CB-C6E7C3858294}"/>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6" name="Gerader Verbinder 135">
              <a:extLst>
                <a:ext uri="{FF2B5EF4-FFF2-40B4-BE49-F238E27FC236}">
                  <a16:creationId xmlns:a16="http://schemas.microsoft.com/office/drawing/2014/main" id="{C91C17D9-80EE-2AA5-D2CA-EA3915593527}"/>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37" name="Gerader Verbinder 136">
              <a:extLst>
                <a:ext uri="{FF2B5EF4-FFF2-40B4-BE49-F238E27FC236}">
                  <a16:creationId xmlns:a16="http://schemas.microsoft.com/office/drawing/2014/main" id="{B4C8750D-DEB3-E148-52E4-8DD6B2CF8611}"/>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8" name="Gerader Verbinder 137">
              <a:extLst>
                <a:ext uri="{FF2B5EF4-FFF2-40B4-BE49-F238E27FC236}">
                  <a16:creationId xmlns:a16="http://schemas.microsoft.com/office/drawing/2014/main" id="{B0320ADA-57D8-70CF-5F69-DB1533BED91B}"/>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39" name="Gerader Verbinder 138">
              <a:extLst>
                <a:ext uri="{FF2B5EF4-FFF2-40B4-BE49-F238E27FC236}">
                  <a16:creationId xmlns:a16="http://schemas.microsoft.com/office/drawing/2014/main" id="{64E7DA57-6F62-76C3-6641-9DA37808C901}"/>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40" name="Gerader Verbinder 139">
              <a:extLst>
                <a:ext uri="{FF2B5EF4-FFF2-40B4-BE49-F238E27FC236}">
                  <a16:creationId xmlns:a16="http://schemas.microsoft.com/office/drawing/2014/main" id="{5DAF0ACC-8F0A-EF8D-BF7B-C2FCF4CF9F3D}"/>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54" name="Gerader Verbinder 153">
              <a:extLst>
                <a:ext uri="{FF2B5EF4-FFF2-40B4-BE49-F238E27FC236}">
                  <a16:creationId xmlns:a16="http://schemas.microsoft.com/office/drawing/2014/main" id="{4FACFC03-419B-2EC1-8E30-E8B7DCAA7175}"/>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58" name="Grafik 157" descr="Lungen mit einfarbiger Füllung">
              <a:extLst>
                <a:ext uri="{FF2B5EF4-FFF2-40B4-BE49-F238E27FC236}">
                  <a16:creationId xmlns:a16="http://schemas.microsoft.com/office/drawing/2014/main" id="{5D0B15CD-F9E5-C792-F61F-C172AAC277A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grpSp>
        <p:nvGrpSpPr>
          <p:cNvPr id="121" name="Gruppieren 120">
            <a:extLst>
              <a:ext uri="{FF2B5EF4-FFF2-40B4-BE49-F238E27FC236}">
                <a16:creationId xmlns:a16="http://schemas.microsoft.com/office/drawing/2014/main" id="{A7F70698-C141-E28C-5713-7C4D796BB4FF}"/>
              </a:ext>
            </a:extLst>
          </p:cNvPr>
          <p:cNvGrpSpPr/>
          <p:nvPr/>
        </p:nvGrpSpPr>
        <p:grpSpPr>
          <a:xfrm>
            <a:off x="10239605" y="1266162"/>
            <a:ext cx="826807" cy="796741"/>
            <a:chOff x="6890327" y="1636222"/>
            <a:chExt cx="826807" cy="796741"/>
          </a:xfrm>
        </p:grpSpPr>
        <p:sp>
          <p:nvSpPr>
            <p:cNvPr id="122" name="Rechteck 121">
              <a:extLst>
                <a:ext uri="{FF2B5EF4-FFF2-40B4-BE49-F238E27FC236}">
                  <a16:creationId xmlns:a16="http://schemas.microsoft.com/office/drawing/2014/main" id="{D9455EEF-06D4-8137-7D32-F8E6BA3BD1BC}"/>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123" name="Gerader Verbinder 122">
              <a:extLst>
                <a:ext uri="{FF2B5EF4-FFF2-40B4-BE49-F238E27FC236}">
                  <a16:creationId xmlns:a16="http://schemas.microsoft.com/office/drawing/2014/main" id="{F16BB7DB-C9AE-36EE-208A-A4B1C9ED860D}"/>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24" name="Gerader Verbinder 123">
              <a:extLst>
                <a:ext uri="{FF2B5EF4-FFF2-40B4-BE49-F238E27FC236}">
                  <a16:creationId xmlns:a16="http://schemas.microsoft.com/office/drawing/2014/main" id="{8476E1E6-3964-302A-C7D6-BC0A34E50542}"/>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25" name="Gerader Verbinder 124">
              <a:extLst>
                <a:ext uri="{FF2B5EF4-FFF2-40B4-BE49-F238E27FC236}">
                  <a16:creationId xmlns:a16="http://schemas.microsoft.com/office/drawing/2014/main" id="{4C9F9435-E517-3A1F-73A3-A84AE975A9B4}"/>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26" name="Gerader Verbinder 125">
              <a:extLst>
                <a:ext uri="{FF2B5EF4-FFF2-40B4-BE49-F238E27FC236}">
                  <a16:creationId xmlns:a16="http://schemas.microsoft.com/office/drawing/2014/main" id="{0C5E9195-D9EA-237B-C19E-5F3BA1945A70}"/>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27" name="Gerader Verbinder 126">
              <a:extLst>
                <a:ext uri="{FF2B5EF4-FFF2-40B4-BE49-F238E27FC236}">
                  <a16:creationId xmlns:a16="http://schemas.microsoft.com/office/drawing/2014/main" id="{2CED54F3-3E4A-FB6A-68D3-1126A70C3650}"/>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28" name="Gerader Verbinder 127">
              <a:extLst>
                <a:ext uri="{FF2B5EF4-FFF2-40B4-BE49-F238E27FC236}">
                  <a16:creationId xmlns:a16="http://schemas.microsoft.com/office/drawing/2014/main" id="{355363FA-A344-ABBB-1C3E-AFAADEE66DF8}"/>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29" name="Gerader Verbinder 128">
              <a:extLst>
                <a:ext uri="{FF2B5EF4-FFF2-40B4-BE49-F238E27FC236}">
                  <a16:creationId xmlns:a16="http://schemas.microsoft.com/office/drawing/2014/main" id="{531EF574-01BD-3390-2835-6F35918449FB}"/>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30" name="Gerader Verbinder 129">
              <a:extLst>
                <a:ext uri="{FF2B5EF4-FFF2-40B4-BE49-F238E27FC236}">
                  <a16:creationId xmlns:a16="http://schemas.microsoft.com/office/drawing/2014/main" id="{CB6B64A0-9EB6-933C-8B44-D7254C254079}"/>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31" name="Grafik 130" descr="Lungen mit einfarbiger Füllung">
              <a:extLst>
                <a:ext uri="{FF2B5EF4-FFF2-40B4-BE49-F238E27FC236}">
                  <a16:creationId xmlns:a16="http://schemas.microsoft.com/office/drawing/2014/main" id="{05AA5BD6-77E6-E7D0-EC90-9B76F16EEE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73008" y="1703870"/>
              <a:ext cx="661446" cy="661446"/>
            </a:xfrm>
            <a:prstGeom prst="rect">
              <a:avLst/>
            </a:prstGeom>
          </p:spPr>
        </p:pic>
      </p:grpSp>
      <p:sp>
        <p:nvSpPr>
          <p:cNvPr id="174" name="Rechteck 173">
            <a:extLst>
              <a:ext uri="{FF2B5EF4-FFF2-40B4-BE49-F238E27FC236}">
                <a16:creationId xmlns:a16="http://schemas.microsoft.com/office/drawing/2014/main" id="{705F0815-4A8F-A7A8-4B4F-E86C787D021C}"/>
              </a:ext>
            </a:extLst>
          </p:cNvPr>
          <p:cNvSpPr/>
          <p:nvPr/>
        </p:nvSpPr>
        <p:spPr>
          <a:xfrm>
            <a:off x="9145560" y="2228365"/>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Expert Model</a:t>
            </a:r>
          </a:p>
        </p:txBody>
      </p:sp>
      <p:sp>
        <p:nvSpPr>
          <p:cNvPr id="176" name="Rechteck 175">
            <a:extLst>
              <a:ext uri="{FF2B5EF4-FFF2-40B4-BE49-F238E27FC236}">
                <a16:creationId xmlns:a16="http://schemas.microsoft.com/office/drawing/2014/main" id="{2AA4333C-EADE-8A1D-F400-956C8081F3AF}"/>
              </a:ext>
            </a:extLst>
          </p:cNvPr>
          <p:cNvSpPr/>
          <p:nvPr/>
        </p:nvSpPr>
        <p:spPr>
          <a:xfrm>
            <a:off x="9144000" y="3076205"/>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f(X)</a:t>
            </a:r>
            <a:endParaRPr lang="de-DE" sz="2000" baseline="-25000" dirty="0">
              <a:solidFill>
                <a:schemeClr val="tx1"/>
              </a:solidFill>
            </a:endParaRPr>
          </a:p>
        </p:txBody>
      </p:sp>
      <p:sp>
        <p:nvSpPr>
          <p:cNvPr id="177" name="Rechteck 176">
            <a:extLst>
              <a:ext uri="{FF2B5EF4-FFF2-40B4-BE49-F238E27FC236}">
                <a16:creationId xmlns:a16="http://schemas.microsoft.com/office/drawing/2014/main" id="{83C1D518-790A-2093-3C8B-86BEF294DA7A}"/>
              </a:ext>
            </a:extLst>
          </p:cNvPr>
          <p:cNvSpPr/>
          <p:nvPr/>
        </p:nvSpPr>
        <p:spPr>
          <a:xfrm>
            <a:off x="8024671" y="4518425"/>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O</a:t>
            </a:r>
            <a:r>
              <a:rPr lang="de-DE" sz="2000" baseline="-25000" dirty="0">
                <a:solidFill>
                  <a:schemeClr val="tx1"/>
                </a:solidFill>
              </a:rPr>
              <a:t>R</a:t>
            </a:r>
          </a:p>
        </p:txBody>
      </p:sp>
      <p:sp>
        <p:nvSpPr>
          <p:cNvPr id="178" name="Rechteck 177">
            <a:extLst>
              <a:ext uri="{FF2B5EF4-FFF2-40B4-BE49-F238E27FC236}">
                <a16:creationId xmlns:a16="http://schemas.microsoft.com/office/drawing/2014/main" id="{7578E034-17EE-633C-E748-467E7B3E8B5C}"/>
              </a:ext>
            </a:extLst>
          </p:cNvPr>
          <p:cNvSpPr/>
          <p:nvPr/>
        </p:nvSpPr>
        <p:spPr>
          <a:xfrm>
            <a:off x="10263600" y="2229192"/>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f(</a:t>
            </a:r>
            <a:r>
              <a:rPr lang="de-DE" sz="2000" dirty="0" err="1">
                <a:solidFill>
                  <a:schemeClr val="tx1"/>
                </a:solidFill>
              </a:rPr>
              <a:t>X</a:t>
            </a:r>
            <a:r>
              <a:rPr lang="de-DE" sz="2000" baseline="-25000" dirty="0" err="1">
                <a:solidFill>
                  <a:schemeClr val="tx1"/>
                </a:solidFill>
              </a:rPr>
              <a:t>Tr</a:t>
            </a:r>
            <a:r>
              <a:rPr lang="de-DE" sz="2000" dirty="0">
                <a:solidFill>
                  <a:schemeClr val="tx1"/>
                </a:solidFill>
              </a:rPr>
              <a:t>)</a:t>
            </a:r>
            <a:endParaRPr lang="de-DE" sz="2000" baseline="-25000" dirty="0">
              <a:solidFill>
                <a:schemeClr val="tx1"/>
              </a:solidFill>
            </a:endParaRPr>
          </a:p>
        </p:txBody>
      </p:sp>
      <p:sp>
        <p:nvSpPr>
          <p:cNvPr id="180" name="Rechteck 179">
            <a:extLst>
              <a:ext uri="{FF2B5EF4-FFF2-40B4-BE49-F238E27FC236}">
                <a16:creationId xmlns:a16="http://schemas.microsoft.com/office/drawing/2014/main" id="{75BDFA8D-0D1D-62B6-7163-0F8EF5F02095}"/>
              </a:ext>
            </a:extLst>
          </p:cNvPr>
          <p:cNvSpPr/>
          <p:nvPr/>
        </p:nvSpPr>
        <p:spPr>
          <a:xfrm>
            <a:off x="10263600" y="3075056"/>
            <a:ext cx="826807" cy="43263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grpSp>
        <p:nvGrpSpPr>
          <p:cNvPr id="191" name="Gruppieren 190">
            <a:extLst>
              <a:ext uri="{FF2B5EF4-FFF2-40B4-BE49-F238E27FC236}">
                <a16:creationId xmlns:a16="http://schemas.microsoft.com/office/drawing/2014/main" id="{01151041-6A9A-9874-A601-CB9768BF5448}"/>
              </a:ext>
            </a:extLst>
          </p:cNvPr>
          <p:cNvGrpSpPr/>
          <p:nvPr/>
        </p:nvGrpSpPr>
        <p:grpSpPr>
          <a:xfrm>
            <a:off x="11147617" y="2777498"/>
            <a:ext cx="989320" cy="999285"/>
            <a:chOff x="10981746" y="3210871"/>
            <a:chExt cx="989320" cy="999285"/>
          </a:xfrm>
        </p:grpSpPr>
        <p:sp>
          <p:nvSpPr>
            <p:cNvPr id="186" name="Rechteck: eine Ecke abgeschnitten 90">
              <a:extLst>
                <a:ext uri="{FF2B5EF4-FFF2-40B4-BE49-F238E27FC236}">
                  <a16:creationId xmlns:a16="http://schemas.microsoft.com/office/drawing/2014/main" id="{ABD5452F-B6E7-F6C0-8584-64126E122091}"/>
                </a:ext>
              </a:extLst>
            </p:cNvPr>
            <p:cNvSpPr/>
            <p:nvPr/>
          </p:nvSpPr>
          <p:spPr>
            <a:xfrm>
              <a:off x="11301254" y="3305208"/>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7" name="Grafik 186" descr="Papier Silhouette">
              <a:extLst>
                <a:ext uri="{FF2B5EF4-FFF2-40B4-BE49-F238E27FC236}">
                  <a16:creationId xmlns:a16="http://schemas.microsoft.com/office/drawing/2014/main" id="{3CB46A60-6373-D6B0-A9E3-87DDEBCFD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56666" y="3210871"/>
              <a:ext cx="914400" cy="914400"/>
            </a:xfrm>
            <a:prstGeom prst="rect">
              <a:avLst/>
            </a:prstGeom>
          </p:spPr>
        </p:pic>
        <p:sp>
          <p:nvSpPr>
            <p:cNvPr id="188" name="Rechteck: eine Ecke abgeschnitten 90">
              <a:extLst>
                <a:ext uri="{FF2B5EF4-FFF2-40B4-BE49-F238E27FC236}">
                  <a16:creationId xmlns:a16="http://schemas.microsoft.com/office/drawing/2014/main" id="{40248515-71B5-A35B-D203-B8F03BC59C9A}"/>
                </a:ext>
              </a:extLst>
            </p:cNvPr>
            <p:cNvSpPr/>
            <p:nvPr/>
          </p:nvSpPr>
          <p:spPr>
            <a:xfrm>
              <a:off x="11222149" y="3389035"/>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9" name="Freihandform: Form 188">
              <a:extLst>
                <a:ext uri="{FF2B5EF4-FFF2-40B4-BE49-F238E27FC236}">
                  <a16:creationId xmlns:a16="http://schemas.microsoft.com/office/drawing/2014/main" id="{3338C388-7B93-471A-CD16-1D2159BBC039}"/>
                </a:ext>
              </a:extLst>
            </p:cNvPr>
            <p:cNvSpPr/>
            <p:nvPr/>
          </p:nvSpPr>
          <p:spPr>
            <a:xfrm>
              <a:off x="11153196" y="3371108"/>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de-DE"/>
            </a:p>
          </p:txBody>
        </p:sp>
        <p:pic>
          <p:nvPicPr>
            <p:cNvPr id="190" name="Grafik 189" descr="Dokument Silhouette">
              <a:extLst>
                <a:ext uri="{FF2B5EF4-FFF2-40B4-BE49-F238E27FC236}">
                  <a16:creationId xmlns:a16="http://schemas.microsoft.com/office/drawing/2014/main" id="{F4D908D3-5BFC-EB90-D282-EB17134BE1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81746" y="3295756"/>
              <a:ext cx="914400" cy="914400"/>
            </a:xfrm>
            <a:prstGeom prst="rect">
              <a:avLst/>
            </a:prstGeom>
          </p:spPr>
        </p:pic>
      </p:grpSp>
      <p:sp>
        <p:nvSpPr>
          <p:cNvPr id="194" name="Rechteck 193">
            <a:extLst>
              <a:ext uri="{FF2B5EF4-FFF2-40B4-BE49-F238E27FC236}">
                <a16:creationId xmlns:a16="http://schemas.microsoft.com/office/drawing/2014/main" id="{EAEA35E9-718C-BFC2-473D-368699FED0CB}"/>
              </a:ext>
            </a:extLst>
          </p:cNvPr>
          <p:cNvSpPr/>
          <p:nvPr/>
        </p:nvSpPr>
        <p:spPr>
          <a:xfrm>
            <a:off x="9143999" y="4518425"/>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O</a:t>
            </a:r>
            <a:r>
              <a:rPr lang="de-DE" sz="2000" baseline="-25000" dirty="0">
                <a:solidFill>
                  <a:schemeClr val="tx1"/>
                </a:solidFill>
              </a:rPr>
              <a:t>✓</a:t>
            </a:r>
          </a:p>
          <a:p>
            <a:pPr algn="ctr"/>
            <a:r>
              <a:rPr lang="de-DE" sz="700" dirty="0">
                <a:solidFill>
                  <a:schemeClr val="tx1"/>
                </a:solidFill>
              </a:rPr>
              <a:t>= O</a:t>
            </a:r>
            <a:r>
              <a:rPr lang="de-DE" sz="700" baseline="-25000" dirty="0">
                <a:solidFill>
                  <a:schemeClr val="tx1"/>
                </a:solidFill>
              </a:rPr>
              <a:t>I</a:t>
            </a:r>
            <a:r>
              <a:rPr lang="de-DE" sz="700" dirty="0">
                <a:solidFill>
                  <a:schemeClr val="tx1"/>
                </a:solidFill>
              </a:rPr>
              <a:t> ∩ O</a:t>
            </a:r>
            <a:r>
              <a:rPr lang="de-DE" sz="700" baseline="-25000" dirty="0">
                <a:solidFill>
                  <a:schemeClr val="tx1"/>
                </a:solidFill>
              </a:rPr>
              <a:t>R</a:t>
            </a:r>
          </a:p>
        </p:txBody>
      </p:sp>
      <p:sp>
        <p:nvSpPr>
          <p:cNvPr id="195" name="Rechteck 194">
            <a:extLst>
              <a:ext uri="{FF2B5EF4-FFF2-40B4-BE49-F238E27FC236}">
                <a16:creationId xmlns:a16="http://schemas.microsoft.com/office/drawing/2014/main" id="{81AD1AB6-B9CB-6E2F-2E04-856A8DD83511}"/>
              </a:ext>
            </a:extLst>
          </p:cNvPr>
          <p:cNvSpPr/>
          <p:nvPr/>
        </p:nvSpPr>
        <p:spPr>
          <a:xfrm>
            <a:off x="10262010" y="3759359"/>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O</a:t>
            </a:r>
            <a:endParaRPr lang="de-DE" sz="2000" baseline="-25000" dirty="0">
              <a:solidFill>
                <a:schemeClr val="tx1"/>
              </a:solidFill>
            </a:endParaRPr>
          </a:p>
        </p:txBody>
      </p:sp>
      <p:sp>
        <p:nvSpPr>
          <p:cNvPr id="196" name="Rechteck 195">
            <a:extLst>
              <a:ext uri="{FF2B5EF4-FFF2-40B4-BE49-F238E27FC236}">
                <a16:creationId xmlns:a16="http://schemas.microsoft.com/office/drawing/2014/main" id="{6C217269-A034-764C-A4FB-1795A6342880}"/>
              </a:ext>
            </a:extLst>
          </p:cNvPr>
          <p:cNvSpPr/>
          <p:nvPr/>
        </p:nvSpPr>
        <p:spPr>
          <a:xfrm>
            <a:off x="10262010" y="4518105"/>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O</a:t>
            </a:r>
            <a:r>
              <a:rPr lang="el-GR" sz="2000" baseline="-25000" dirty="0">
                <a:solidFill>
                  <a:schemeClr val="tx1"/>
                </a:solidFill>
              </a:rPr>
              <a:t>δ</a:t>
            </a:r>
            <a:endParaRPr lang="de-DE" sz="2000" baseline="-25000" dirty="0">
              <a:solidFill>
                <a:schemeClr val="tx1"/>
              </a:solidFill>
            </a:endParaRPr>
          </a:p>
          <a:p>
            <a:pPr algn="ctr"/>
            <a:r>
              <a:rPr lang="el-GR" sz="700" dirty="0">
                <a:solidFill>
                  <a:schemeClr val="tx1"/>
                </a:solidFill>
              </a:rPr>
              <a:t>= </a:t>
            </a:r>
            <a:r>
              <a:rPr lang="de-DE" sz="700" dirty="0">
                <a:solidFill>
                  <a:schemeClr val="tx1"/>
                </a:solidFill>
              </a:rPr>
              <a:t>O − O</a:t>
            </a:r>
            <a:r>
              <a:rPr lang="de-DE" sz="700" baseline="-25000" dirty="0">
                <a:solidFill>
                  <a:schemeClr val="tx1"/>
                </a:solidFill>
              </a:rPr>
              <a:t>✓</a:t>
            </a:r>
          </a:p>
        </p:txBody>
      </p:sp>
      <p:sp>
        <p:nvSpPr>
          <p:cNvPr id="199" name="Rechteck 198">
            <a:extLst>
              <a:ext uri="{FF2B5EF4-FFF2-40B4-BE49-F238E27FC236}">
                <a16:creationId xmlns:a16="http://schemas.microsoft.com/office/drawing/2014/main" id="{08E9D762-93C9-0541-3E5D-410D39C65F08}"/>
              </a:ext>
            </a:extLst>
          </p:cNvPr>
          <p:cNvSpPr/>
          <p:nvPr/>
        </p:nvSpPr>
        <p:spPr>
          <a:xfrm>
            <a:off x="9136675" y="5448540"/>
            <a:ext cx="1820706"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LLM</a:t>
            </a:r>
          </a:p>
        </p:txBody>
      </p:sp>
      <p:sp>
        <p:nvSpPr>
          <p:cNvPr id="206" name="Flussdiagramm: Verbinder 205">
            <a:extLst>
              <a:ext uri="{FF2B5EF4-FFF2-40B4-BE49-F238E27FC236}">
                <a16:creationId xmlns:a16="http://schemas.microsoft.com/office/drawing/2014/main" id="{13478862-808C-3258-6E6A-C554BBC96781}"/>
              </a:ext>
            </a:extLst>
          </p:cNvPr>
          <p:cNvSpPr/>
          <p:nvPr/>
        </p:nvSpPr>
        <p:spPr>
          <a:xfrm>
            <a:off x="8208069" y="5436257"/>
            <a:ext cx="457200" cy="457200"/>
          </a:xfrm>
          <a:prstGeom prst="flowChartConnec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chemeClr val="tx1"/>
                </a:solidFill>
              </a:rPr>
              <a:t>+</a:t>
            </a:r>
          </a:p>
        </p:txBody>
      </p:sp>
      <p:pic>
        <p:nvPicPr>
          <p:cNvPr id="207" name="Grafik 206" descr="Dokument Silhouette">
            <a:extLst>
              <a:ext uri="{FF2B5EF4-FFF2-40B4-BE49-F238E27FC236}">
                <a16:creationId xmlns:a16="http://schemas.microsoft.com/office/drawing/2014/main" id="{675ED2B7-6948-2403-8ED2-D07B6484793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46118" y="5046012"/>
            <a:ext cx="914400" cy="914400"/>
          </a:xfrm>
          <a:prstGeom prst="rect">
            <a:avLst/>
          </a:prstGeom>
        </p:spPr>
      </p:pic>
      <p:cxnSp>
        <p:nvCxnSpPr>
          <p:cNvPr id="209" name="Gerade Verbindung mit Pfeil 208">
            <a:extLst>
              <a:ext uri="{FF2B5EF4-FFF2-40B4-BE49-F238E27FC236}">
                <a16:creationId xmlns:a16="http://schemas.microsoft.com/office/drawing/2014/main" id="{B09FAE53-8CA5-0F84-E5E8-BDBFA969AC82}"/>
              </a:ext>
            </a:extLst>
          </p:cNvPr>
          <p:cNvCxnSpPr>
            <a:stCxn id="74" idx="2"/>
            <a:endCxn id="117" idx="0"/>
          </p:cNvCxnSpPr>
          <p:nvPr/>
        </p:nvCxnSpPr>
        <p:spPr>
          <a:xfrm>
            <a:off x="7442771" y="2845145"/>
            <a:ext cx="0" cy="24409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1" name="Gerade Verbindung mit Pfeil 210">
            <a:extLst>
              <a:ext uri="{FF2B5EF4-FFF2-40B4-BE49-F238E27FC236}">
                <a16:creationId xmlns:a16="http://schemas.microsoft.com/office/drawing/2014/main" id="{B89812E3-E883-4CF2-636C-A6C385A86210}"/>
              </a:ext>
            </a:extLst>
          </p:cNvPr>
          <p:cNvCxnSpPr>
            <a:cxnSpLocks/>
            <a:stCxn id="102" idx="2"/>
            <a:endCxn id="118" idx="0"/>
          </p:cNvCxnSpPr>
          <p:nvPr/>
        </p:nvCxnSpPr>
        <p:spPr>
          <a:xfrm>
            <a:off x="8436670" y="2845145"/>
            <a:ext cx="0" cy="23748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4" name="Gerade Verbindung mit Pfeil 213">
            <a:extLst>
              <a:ext uri="{FF2B5EF4-FFF2-40B4-BE49-F238E27FC236}">
                <a16:creationId xmlns:a16="http://schemas.microsoft.com/office/drawing/2014/main" id="{4423C504-19FE-019B-DF0E-33DF2331175E}"/>
              </a:ext>
            </a:extLst>
          </p:cNvPr>
          <p:cNvCxnSpPr>
            <a:cxnSpLocks/>
            <a:stCxn id="118" idx="2"/>
          </p:cNvCxnSpPr>
          <p:nvPr/>
        </p:nvCxnSpPr>
        <p:spPr>
          <a:xfrm>
            <a:off x="8436670" y="3515263"/>
            <a:ext cx="2723" cy="24409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17" name="Gerade Verbindung mit Pfeil 216">
            <a:extLst>
              <a:ext uri="{FF2B5EF4-FFF2-40B4-BE49-F238E27FC236}">
                <a16:creationId xmlns:a16="http://schemas.microsoft.com/office/drawing/2014/main" id="{8E3CD4AF-8411-796F-9A1B-DF60EDE57DAB}"/>
              </a:ext>
            </a:extLst>
          </p:cNvPr>
          <p:cNvCxnSpPr>
            <a:cxnSpLocks/>
            <a:stCxn id="117" idx="2"/>
          </p:cNvCxnSpPr>
          <p:nvPr/>
        </p:nvCxnSpPr>
        <p:spPr>
          <a:xfrm>
            <a:off x="7442771" y="3521874"/>
            <a:ext cx="0" cy="23748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22" name="Verbinder: gewinkelt 221">
            <a:extLst>
              <a:ext uri="{FF2B5EF4-FFF2-40B4-BE49-F238E27FC236}">
                <a16:creationId xmlns:a16="http://schemas.microsoft.com/office/drawing/2014/main" id="{1FD9E557-EB3A-650D-9DA3-1911932E1771}"/>
              </a:ext>
            </a:extLst>
          </p:cNvPr>
          <p:cNvCxnSpPr>
            <a:cxnSpLocks/>
            <a:endCxn id="120" idx="1"/>
          </p:cNvCxnSpPr>
          <p:nvPr/>
        </p:nvCxnSpPr>
        <p:spPr>
          <a:xfrm rot="16200000" flipH="1">
            <a:off x="6256478" y="3202787"/>
            <a:ext cx="1093306" cy="452471"/>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227" name="Gerade Verbindung mit Pfeil 226">
            <a:extLst>
              <a:ext uri="{FF2B5EF4-FFF2-40B4-BE49-F238E27FC236}">
                <a16:creationId xmlns:a16="http://schemas.microsoft.com/office/drawing/2014/main" id="{85C5EBA1-4864-C66A-C28C-2C0E8A94F6F6}"/>
              </a:ext>
            </a:extLst>
          </p:cNvPr>
          <p:cNvCxnSpPr>
            <a:cxnSpLocks/>
            <a:stCxn id="102" idx="3"/>
            <a:endCxn id="174" idx="1"/>
          </p:cNvCxnSpPr>
          <p:nvPr/>
        </p:nvCxnSpPr>
        <p:spPr>
          <a:xfrm flipV="1">
            <a:off x="8850073" y="2444682"/>
            <a:ext cx="295487" cy="209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34" name="Verbinder: gewinkelt 233">
            <a:extLst>
              <a:ext uri="{FF2B5EF4-FFF2-40B4-BE49-F238E27FC236}">
                <a16:creationId xmlns:a16="http://schemas.microsoft.com/office/drawing/2014/main" id="{FA2F7E39-5CA0-BC07-5864-6CBB84D05E71}"/>
              </a:ext>
            </a:extLst>
          </p:cNvPr>
          <p:cNvCxnSpPr>
            <a:cxnSpLocks/>
            <a:stCxn id="115" idx="0"/>
            <a:endCxn id="174" idx="0"/>
          </p:cNvCxnSpPr>
          <p:nvPr/>
        </p:nvCxnSpPr>
        <p:spPr>
          <a:xfrm rot="16200000" flipH="1">
            <a:off x="7936686" y="606087"/>
            <a:ext cx="267579" cy="2976976"/>
          </a:xfrm>
          <a:prstGeom prst="bentConnector3">
            <a:avLst>
              <a:gd name="adj1" fmla="val -85433"/>
            </a:avLst>
          </a:prstGeom>
          <a:ln w="12700">
            <a:tailEnd type="triangle"/>
          </a:ln>
        </p:spPr>
        <p:style>
          <a:lnRef idx="1">
            <a:schemeClr val="dk1"/>
          </a:lnRef>
          <a:fillRef idx="0">
            <a:schemeClr val="dk1"/>
          </a:fillRef>
          <a:effectRef idx="0">
            <a:schemeClr val="dk1"/>
          </a:effectRef>
          <a:fontRef idx="minor">
            <a:schemeClr val="tx1"/>
          </a:fontRef>
        </p:style>
      </p:cxnSp>
      <p:cxnSp>
        <p:nvCxnSpPr>
          <p:cNvPr id="237" name="Gerade Verbindung mit Pfeil 236">
            <a:extLst>
              <a:ext uri="{FF2B5EF4-FFF2-40B4-BE49-F238E27FC236}">
                <a16:creationId xmlns:a16="http://schemas.microsoft.com/office/drawing/2014/main" id="{664C3807-B7DD-7ED3-6E16-2C5914C05052}"/>
              </a:ext>
            </a:extLst>
          </p:cNvPr>
          <p:cNvCxnSpPr>
            <a:cxnSpLocks/>
            <a:stCxn id="174" idx="2"/>
            <a:endCxn id="176" idx="0"/>
          </p:cNvCxnSpPr>
          <p:nvPr/>
        </p:nvCxnSpPr>
        <p:spPr>
          <a:xfrm flipH="1">
            <a:off x="9557404" y="2660998"/>
            <a:ext cx="1560" cy="41520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41" name="Verbinder: gewinkelt 240">
            <a:extLst>
              <a:ext uri="{FF2B5EF4-FFF2-40B4-BE49-F238E27FC236}">
                <a16:creationId xmlns:a16="http://schemas.microsoft.com/office/drawing/2014/main" id="{5E25B47B-EA7C-47F4-7B60-6A83A65FE3CE}"/>
              </a:ext>
            </a:extLst>
          </p:cNvPr>
          <p:cNvCxnSpPr>
            <a:cxnSpLocks/>
            <a:stCxn id="122" idx="1"/>
          </p:cNvCxnSpPr>
          <p:nvPr/>
        </p:nvCxnSpPr>
        <p:spPr>
          <a:xfrm rot="10800000" flipV="1">
            <a:off x="9685615" y="1664533"/>
            <a:ext cx="553991" cy="557446"/>
          </a:xfrm>
          <a:prstGeom prst="bentConnector2">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244" name="Gerade Verbindung mit Pfeil 243">
            <a:extLst>
              <a:ext uri="{FF2B5EF4-FFF2-40B4-BE49-F238E27FC236}">
                <a16:creationId xmlns:a16="http://schemas.microsoft.com/office/drawing/2014/main" id="{5F6BBDD5-0E00-364E-C27A-5E4D79581CF3}"/>
              </a:ext>
            </a:extLst>
          </p:cNvPr>
          <p:cNvCxnSpPr>
            <a:cxnSpLocks/>
            <a:stCxn id="174" idx="3"/>
            <a:endCxn id="178" idx="1"/>
          </p:cNvCxnSpPr>
          <p:nvPr/>
        </p:nvCxnSpPr>
        <p:spPr>
          <a:xfrm>
            <a:off x="9972367" y="2444682"/>
            <a:ext cx="291233" cy="827"/>
          </a:xfrm>
          <a:prstGeom prst="straightConnector1">
            <a:avLst/>
          </a:prstGeom>
          <a:ln w="12700">
            <a:prstDash val="sysDash"/>
            <a:tailEnd type="triangle"/>
          </a:ln>
        </p:spPr>
        <p:style>
          <a:lnRef idx="1">
            <a:schemeClr val="dk1"/>
          </a:lnRef>
          <a:fillRef idx="0">
            <a:schemeClr val="dk1"/>
          </a:fillRef>
          <a:effectRef idx="0">
            <a:schemeClr val="dk1"/>
          </a:effectRef>
          <a:fontRef idx="minor">
            <a:schemeClr val="tx1"/>
          </a:fontRef>
        </p:style>
      </p:cxnSp>
      <p:grpSp>
        <p:nvGrpSpPr>
          <p:cNvPr id="247" name="Gruppieren 246">
            <a:extLst>
              <a:ext uri="{FF2B5EF4-FFF2-40B4-BE49-F238E27FC236}">
                <a16:creationId xmlns:a16="http://schemas.microsoft.com/office/drawing/2014/main" id="{0C26F2BA-08C4-1251-88BB-840197BA5731}"/>
              </a:ext>
            </a:extLst>
          </p:cNvPr>
          <p:cNvGrpSpPr>
            <a:grpSpLocks noChangeAspect="1"/>
          </p:cNvGrpSpPr>
          <p:nvPr/>
        </p:nvGrpSpPr>
        <p:grpSpPr>
          <a:xfrm>
            <a:off x="11073515" y="1183968"/>
            <a:ext cx="971976" cy="971976"/>
            <a:chOff x="6554558" y="2373204"/>
            <a:chExt cx="1367790" cy="1367790"/>
          </a:xfrm>
        </p:grpSpPr>
        <p:pic>
          <p:nvPicPr>
            <p:cNvPr id="248" name="Grafik 247" descr="Geschichte Silhouette">
              <a:extLst>
                <a:ext uri="{FF2B5EF4-FFF2-40B4-BE49-F238E27FC236}">
                  <a16:creationId xmlns:a16="http://schemas.microsoft.com/office/drawing/2014/main" id="{20829BD3-10AA-6EB4-24F7-D6D19DA99D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48265" y="2923734"/>
              <a:ext cx="580375" cy="580375"/>
            </a:xfrm>
            <a:prstGeom prst="rect">
              <a:avLst/>
            </a:prstGeom>
          </p:spPr>
        </p:pic>
        <p:pic>
          <p:nvPicPr>
            <p:cNvPr id="249" name="Grafik 248" descr="Papier Silhouette">
              <a:extLst>
                <a:ext uri="{FF2B5EF4-FFF2-40B4-BE49-F238E27FC236}">
                  <a16:creationId xmlns:a16="http://schemas.microsoft.com/office/drawing/2014/main" id="{25D34073-2E7A-4F3B-B298-20A12AE181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4558" y="2373204"/>
              <a:ext cx="1367790" cy="1367790"/>
            </a:xfrm>
            <a:prstGeom prst="rect">
              <a:avLst/>
            </a:prstGeom>
          </p:spPr>
        </p:pic>
      </p:grpSp>
      <p:cxnSp>
        <p:nvCxnSpPr>
          <p:cNvPr id="272" name="Verbinder: gewinkelt 271">
            <a:extLst>
              <a:ext uri="{FF2B5EF4-FFF2-40B4-BE49-F238E27FC236}">
                <a16:creationId xmlns:a16="http://schemas.microsoft.com/office/drawing/2014/main" id="{9AD85773-2F75-808B-A5A2-AD54E7B3003F}"/>
              </a:ext>
            </a:extLst>
          </p:cNvPr>
          <p:cNvCxnSpPr>
            <a:cxnSpLocks/>
          </p:cNvCxnSpPr>
          <p:nvPr/>
        </p:nvCxnSpPr>
        <p:spPr>
          <a:xfrm rot="10800000" flipV="1">
            <a:off x="9850767" y="2108192"/>
            <a:ext cx="1721490" cy="120496"/>
          </a:xfrm>
          <a:prstGeom prst="bentConnector3">
            <a:avLst>
              <a:gd name="adj1" fmla="val 100129"/>
            </a:avLst>
          </a:prstGeom>
          <a:ln w="12700">
            <a:prstDash val="sysDash"/>
            <a:tailEnd type="triangle"/>
          </a:ln>
        </p:spPr>
        <p:style>
          <a:lnRef idx="1">
            <a:schemeClr val="dk1"/>
          </a:lnRef>
          <a:fillRef idx="0">
            <a:schemeClr val="dk1"/>
          </a:fillRef>
          <a:effectRef idx="0">
            <a:schemeClr val="dk1"/>
          </a:effectRef>
          <a:fontRef idx="minor">
            <a:schemeClr val="tx1"/>
          </a:fontRef>
        </p:style>
      </p:cxnSp>
      <p:cxnSp>
        <p:nvCxnSpPr>
          <p:cNvPr id="283" name="Gerade Verbindung mit Pfeil 282">
            <a:extLst>
              <a:ext uri="{FF2B5EF4-FFF2-40B4-BE49-F238E27FC236}">
                <a16:creationId xmlns:a16="http://schemas.microsoft.com/office/drawing/2014/main" id="{7C0D9ECC-9A3F-72E9-B0E0-68410971CA6E}"/>
              </a:ext>
            </a:extLst>
          </p:cNvPr>
          <p:cNvCxnSpPr>
            <a:cxnSpLocks/>
            <a:stCxn id="176" idx="3"/>
            <a:endCxn id="180" idx="1"/>
          </p:cNvCxnSpPr>
          <p:nvPr/>
        </p:nvCxnSpPr>
        <p:spPr>
          <a:xfrm flipV="1">
            <a:off x="9970807" y="3291373"/>
            <a:ext cx="292793" cy="114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6" name="Gerade Verbindung mit Pfeil 285">
            <a:extLst>
              <a:ext uri="{FF2B5EF4-FFF2-40B4-BE49-F238E27FC236}">
                <a16:creationId xmlns:a16="http://schemas.microsoft.com/office/drawing/2014/main" id="{33BD10EB-BDEE-EB63-D267-2B2E8F12FBA2}"/>
              </a:ext>
            </a:extLst>
          </p:cNvPr>
          <p:cNvCxnSpPr>
            <a:cxnSpLocks/>
            <a:stCxn id="178" idx="2"/>
            <a:endCxn id="180" idx="0"/>
          </p:cNvCxnSpPr>
          <p:nvPr/>
        </p:nvCxnSpPr>
        <p:spPr>
          <a:xfrm>
            <a:off x="10677004" y="2661825"/>
            <a:ext cx="0" cy="41323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89" name="Gerade Verbindung mit Pfeil 288">
            <a:extLst>
              <a:ext uri="{FF2B5EF4-FFF2-40B4-BE49-F238E27FC236}">
                <a16:creationId xmlns:a16="http://schemas.microsoft.com/office/drawing/2014/main" id="{BFEA5059-5788-601B-753F-9D95D6B4E21A}"/>
              </a:ext>
            </a:extLst>
          </p:cNvPr>
          <p:cNvCxnSpPr>
            <a:cxnSpLocks/>
            <a:stCxn id="180" idx="3"/>
          </p:cNvCxnSpPr>
          <p:nvPr/>
        </p:nvCxnSpPr>
        <p:spPr>
          <a:xfrm>
            <a:off x="11090407" y="3291373"/>
            <a:ext cx="24790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5" name="Gerade Verbindung mit Pfeil 294">
            <a:extLst>
              <a:ext uri="{FF2B5EF4-FFF2-40B4-BE49-F238E27FC236}">
                <a16:creationId xmlns:a16="http://schemas.microsoft.com/office/drawing/2014/main" id="{D7454E54-ED6F-F087-E8A6-680D07AFB691}"/>
              </a:ext>
            </a:extLst>
          </p:cNvPr>
          <p:cNvCxnSpPr>
            <a:cxnSpLocks/>
          </p:cNvCxnSpPr>
          <p:nvPr/>
        </p:nvCxnSpPr>
        <p:spPr>
          <a:xfrm>
            <a:off x="7316294" y="4191992"/>
            <a:ext cx="0" cy="32839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0" name="Gerade Verbindung mit Pfeil 299">
            <a:extLst>
              <a:ext uri="{FF2B5EF4-FFF2-40B4-BE49-F238E27FC236}">
                <a16:creationId xmlns:a16="http://schemas.microsoft.com/office/drawing/2014/main" id="{C73D786F-F045-875E-AC4F-40EAB55B5296}"/>
              </a:ext>
            </a:extLst>
          </p:cNvPr>
          <p:cNvCxnSpPr>
            <a:cxnSpLocks/>
            <a:endCxn id="177" idx="1"/>
          </p:cNvCxnSpPr>
          <p:nvPr/>
        </p:nvCxnSpPr>
        <p:spPr>
          <a:xfrm>
            <a:off x="7603441" y="4734742"/>
            <a:ext cx="421230"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4" name="Gerade Verbindung mit Pfeil 303">
            <a:extLst>
              <a:ext uri="{FF2B5EF4-FFF2-40B4-BE49-F238E27FC236}">
                <a16:creationId xmlns:a16="http://schemas.microsoft.com/office/drawing/2014/main" id="{DB510A45-1DE5-B93A-0C47-E607F990923D}"/>
              </a:ext>
            </a:extLst>
          </p:cNvPr>
          <p:cNvCxnSpPr>
            <a:cxnSpLocks/>
            <a:stCxn id="177" idx="3"/>
            <a:endCxn id="194" idx="1"/>
          </p:cNvCxnSpPr>
          <p:nvPr/>
        </p:nvCxnSpPr>
        <p:spPr>
          <a:xfrm>
            <a:off x="8851478" y="4734742"/>
            <a:ext cx="292521"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07" name="Gerade Verbindung mit Pfeil 306">
            <a:extLst>
              <a:ext uri="{FF2B5EF4-FFF2-40B4-BE49-F238E27FC236}">
                <a16:creationId xmlns:a16="http://schemas.microsoft.com/office/drawing/2014/main" id="{F3415483-4904-1153-D8E9-A7BB6D353D6A}"/>
              </a:ext>
            </a:extLst>
          </p:cNvPr>
          <p:cNvCxnSpPr>
            <a:cxnSpLocks/>
            <a:stCxn id="177" idx="2"/>
            <a:endCxn id="206" idx="0"/>
          </p:cNvCxnSpPr>
          <p:nvPr/>
        </p:nvCxnSpPr>
        <p:spPr>
          <a:xfrm flipH="1">
            <a:off x="8436669" y="4951058"/>
            <a:ext cx="1406" cy="48519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11" name="Verbinder: gewinkelt 310">
            <a:extLst>
              <a:ext uri="{FF2B5EF4-FFF2-40B4-BE49-F238E27FC236}">
                <a16:creationId xmlns:a16="http://schemas.microsoft.com/office/drawing/2014/main" id="{ED6785DC-B90E-B25F-FB8F-286FBA417B86}"/>
              </a:ext>
            </a:extLst>
          </p:cNvPr>
          <p:cNvCxnSpPr>
            <a:cxnSpLocks/>
            <a:endCxn id="206" idx="2"/>
          </p:cNvCxnSpPr>
          <p:nvPr/>
        </p:nvCxnSpPr>
        <p:spPr>
          <a:xfrm rot="16200000" flipH="1">
            <a:off x="5864990" y="3321778"/>
            <a:ext cx="2819712" cy="1866446"/>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314" name="Verbinder: gewinkelt 313">
            <a:extLst>
              <a:ext uri="{FF2B5EF4-FFF2-40B4-BE49-F238E27FC236}">
                <a16:creationId xmlns:a16="http://schemas.microsoft.com/office/drawing/2014/main" id="{B6F7A519-1F47-318C-F08C-C30F94820913}"/>
              </a:ext>
            </a:extLst>
          </p:cNvPr>
          <p:cNvCxnSpPr>
            <a:cxnSpLocks/>
            <a:stCxn id="196" idx="2"/>
            <a:endCxn id="206" idx="7"/>
          </p:cNvCxnSpPr>
          <p:nvPr/>
        </p:nvCxnSpPr>
        <p:spPr>
          <a:xfrm rot="5400000">
            <a:off x="9360627" y="4188425"/>
            <a:ext cx="552474" cy="2077100"/>
          </a:xfrm>
          <a:prstGeom prst="bentConnector3">
            <a:avLst>
              <a:gd name="adj1" fmla="val 50000"/>
            </a:avLst>
          </a:prstGeom>
          <a:ln w="12700">
            <a:tailEnd type="triangle"/>
          </a:ln>
        </p:spPr>
        <p:style>
          <a:lnRef idx="1">
            <a:schemeClr val="dk1"/>
          </a:lnRef>
          <a:fillRef idx="0">
            <a:schemeClr val="dk1"/>
          </a:fillRef>
          <a:effectRef idx="0">
            <a:schemeClr val="dk1"/>
          </a:effectRef>
          <a:fontRef idx="minor">
            <a:schemeClr val="tx1"/>
          </a:fontRef>
        </p:style>
      </p:cxnSp>
      <p:cxnSp>
        <p:nvCxnSpPr>
          <p:cNvPr id="317" name="Gerade Verbindung mit Pfeil 316">
            <a:extLst>
              <a:ext uri="{FF2B5EF4-FFF2-40B4-BE49-F238E27FC236}">
                <a16:creationId xmlns:a16="http://schemas.microsoft.com/office/drawing/2014/main" id="{53B618FB-5B7B-2A2F-51A0-BE8CCEB762E0}"/>
              </a:ext>
            </a:extLst>
          </p:cNvPr>
          <p:cNvCxnSpPr>
            <a:cxnSpLocks/>
            <a:stCxn id="194" idx="3"/>
            <a:endCxn id="196" idx="1"/>
          </p:cNvCxnSpPr>
          <p:nvPr/>
        </p:nvCxnSpPr>
        <p:spPr>
          <a:xfrm flipV="1">
            <a:off x="9970806" y="4734422"/>
            <a:ext cx="291204" cy="32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20" name="Gerade Verbindung mit Pfeil 319">
            <a:extLst>
              <a:ext uri="{FF2B5EF4-FFF2-40B4-BE49-F238E27FC236}">
                <a16:creationId xmlns:a16="http://schemas.microsoft.com/office/drawing/2014/main" id="{7A622FE6-FF5D-EF05-E754-87591AC61010}"/>
              </a:ext>
            </a:extLst>
          </p:cNvPr>
          <p:cNvCxnSpPr>
            <a:cxnSpLocks/>
            <a:stCxn id="195" idx="2"/>
            <a:endCxn id="196" idx="0"/>
          </p:cNvCxnSpPr>
          <p:nvPr/>
        </p:nvCxnSpPr>
        <p:spPr>
          <a:xfrm>
            <a:off x="10675414" y="4191992"/>
            <a:ext cx="0" cy="32611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29" name="Gerade Verbindung mit Pfeil 328">
            <a:extLst>
              <a:ext uri="{FF2B5EF4-FFF2-40B4-BE49-F238E27FC236}">
                <a16:creationId xmlns:a16="http://schemas.microsoft.com/office/drawing/2014/main" id="{076EE673-08D4-A170-F832-C118C4C85F06}"/>
              </a:ext>
            </a:extLst>
          </p:cNvPr>
          <p:cNvCxnSpPr>
            <a:cxnSpLocks/>
            <a:stCxn id="391" idx="2"/>
            <a:endCxn id="194" idx="0"/>
          </p:cNvCxnSpPr>
          <p:nvPr/>
        </p:nvCxnSpPr>
        <p:spPr>
          <a:xfrm>
            <a:off x="9557402" y="4191992"/>
            <a:ext cx="1" cy="32643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41" name="Verbinder: gewinkelt 340">
            <a:extLst>
              <a:ext uri="{FF2B5EF4-FFF2-40B4-BE49-F238E27FC236}">
                <a16:creationId xmlns:a16="http://schemas.microsoft.com/office/drawing/2014/main" id="{550A4CC4-0D9E-0FCF-E42A-31CA19C88FD8}"/>
              </a:ext>
            </a:extLst>
          </p:cNvPr>
          <p:cNvCxnSpPr>
            <a:cxnSpLocks/>
            <a:stCxn id="190" idx="2"/>
            <a:endCxn id="195" idx="3"/>
          </p:cNvCxnSpPr>
          <p:nvPr/>
        </p:nvCxnSpPr>
        <p:spPr>
          <a:xfrm rot="5400000">
            <a:off x="11247371" y="3618229"/>
            <a:ext cx="198893" cy="516000"/>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344" name="Gerade Verbindung mit Pfeil 343">
            <a:extLst>
              <a:ext uri="{FF2B5EF4-FFF2-40B4-BE49-F238E27FC236}">
                <a16:creationId xmlns:a16="http://schemas.microsoft.com/office/drawing/2014/main" id="{A32676A5-59CA-F79B-639B-7917FBABCADB}"/>
              </a:ext>
            </a:extLst>
          </p:cNvPr>
          <p:cNvCxnSpPr>
            <a:cxnSpLocks/>
            <a:stCxn id="199" idx="3"/>
          </p:cNvCxnSpPr>
          <p:nvPr/>
        </p:nvCxnSpPr>
        <p:spPr>
          <a:xfrm>
            <a:off x="10957381" y="5664857"/>
            <a:ext cx="364034"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48" name="Gerade Verbindung mit Pfeil 347">
            <a:extLst>
              <a:ext uri="{FF2B5EF4-FFF2-40B4-BE49-F238E27FC236}">
                <a16:creationId xmlns:a16="http://schemas.microsoft.com/office/drawing/2014/main" id="{ED2A22D9-EED3-02E3-EFB8-E9F22B696EA9}"/>
              </a:ext>
            </a:extLst>
          </p:cNvPr>
          <p:cNvCxnSpPr>
            <a:cxnSpLocks/>
            <a:stCxn id="206" idx="6"/>
            <a:endCxn id="199" idx="1"/>
          </p:cNvCxnSpPr>
          <p:nvPr/>
        </p:nvCxnSpPr>
        <p:spPr>
          <a:xfrm>
            <a:off x="8665269" y="5664857"/>
            <a:ext cx="471406"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69" name="Verbinder: gewinkelt 368">
            <a:extLst>
              <a:ext uri="{FF2B5EF4-FFF2-40B4-BE49-F238E27FC236}">
                <a16:creationId xmlns:a16="http://schemas.microsoft.com/office/drawing/2014/main" id="{CD296579-1E9E-1EBC-2F8B-D35124ACE417}"/>
              </a:ext>
            </a:extLst>
          </p:cNvPr>
          <p:cNvCxnSpPr>
            <a:cxnSpLocks/>
            <a:stCxn id="74" idx="0"/>
            <a:endCxn id="199" idx="0"/>
          </p:cNvCxnSpPr>
          <p:nvPr/>
        </p:nvCxnSpPr>
        <p:spPr>
          <a:xfrm rot="16200000" flipH="1">
            <a:off x="7044831" y="2446344"/>
            <a:ext cx="3400136" cy="2604257"/>
          </a:xfrm>
          <a:prstGeom prst="bentConnector3">
            <a:avLst>
              <a:gd name="adj1" fmla="val -6723"/>
            </a:avLst>
          </a:prstGeom>
          <a:ln w="12700">
            <a:tailEnd type="triangle"/>
          </a:ln>
        </p:spPr>
        <p:style>
          <a:lnRef idx="1">
            <a:schemeClr val="dk1"/>
          </a:lnRef>
          <a:fillRef idx="0">
            <a:schemeClr val="dk1"/>
          </a:fillRef>
          <a:effectRef idx="0">
            <a:schemeClr val="dk1"/>
          </a:effectRef>
          <a:fontRef idx="minor">
            <a:schemeClr val="tx1"/>
          </a:fontRef>
        </p:style>
      </p:cxnSp>
      <p:cxnSp>
        <p:nvCxnSpPr>
          <p:cNvPr id="372" name="Verbinder: gewinkelt 371">
            <a:extLst>
              <a:ext uri="{FF2B5EF4-FFF2-40B4-BE49-F238E27FC236}">
                <a16:creationId xmlns:a16="http://schemas.microsoft.com/office/drawing/2014/main" id="{28C33D71-63A4-E7A5-8ECA-35A20F5AAE1F}"/>
              </a:ext>
            </a:extLst>
          </p:cNvPr>
          <p:cNvCxnSpPr>
            <a:cxnSpLocks/>
          </p:cNvCxnSpPr>
          <p:nvPr/>
        </p:nvCxnSpPr>
        <p:spPr>
          <a:xfrm rot="16200000" flipH="1">
            <a:off x="7012269" y="3433772"/>
            <a:ext cx="3548805" cy="700005"/>
          </a:xfrm>
          <a:prstGeom prst="bentConnector4">
            <a:avLst>
              <a:gd name="adj1" fmla="val -1790"/>
              <a:gd name="adj2" fmla="val 73623"/>
            </a:avLst>
          </a:prstGeom>
          <a:ln w="12700">
            <a:tailEnd type="triangle"/>
          </a:ln>
        </p:spPr>
        <p:style>
          <a:lnRef idx="1">
            <a:schemeClr val="dk1"/>
          </a:lnRef>
          <a:fillRef idx="0">
            <a:schemeClr val="dk1"/>
          </a:fillRef>
          <a:effectRef idx="0">
            <a:schemeClr val="dk1"/>
          </a:effectRef>
          <a:fontRef idx="minor">
            <a:schemeClr val="tx1"/>
          </a:fontRef>
        </p:style>
      </p:cxnSp>
      <p:cxnSp>
        <p:nvCxnSpPr>
          <p:cNvPr id="388" name="Gerader Verbinder 387">
            <a:extLst>
              <a:ext uri="{FF2B5EF4-FFF2-40B4-BE49-F238E27FC236}">
                <a16:creationId xmlns:a16="http://schemas.microsoft.com/office/drawing/2014/main" id="{61B91B14-B59F-07AE-3EA5-EC5039F0E1B5}"/>
              </a:ext>
            </a:extLst>
          </p:cNvPr>
          <p:cNvCxnSpPr>
            <a:stCxn id="102" idx="0"/>
          </p:cNvCxnSpPr>
          <p:nvPr/>
        </p:nvCxnSpPr>
        <p:spPr>
          <a:xfrm flipH="1" flipV="1">
            <a:off x="8436669" y="1985010"/>
            <a:ext cx="1" cy="63394"/>
          </a:xfrm>
          <a:prstGeom prst="line">
            <a:avLst/>
          </a:prstGeom>
          <a:ln w="12700"/>
        </p:spPr>
        <p:style>
          <a:lnRef idx="1">
            <a:schemeClr val="dk1"/>
          </a:lnRef>
          <a:fillRef idx="0">
            <a:schemeClr val="dk1"/>
          </a:fillRef>
          <a:effectRef idx="0">
            <a:schemeClr val="dk1"/>
          </a:effectRef>
          <a:fontRef idx="minor">
            <a:schemeClr val="tx1"/>
          </a:fontRef>
        </p:style>
      </p:cxnSp>
      <p:sp>
        <p:nvSpPr>
          <p:cNvPr id="389" name="Rechteck 388">
            <a:extLst>
              <a:ext uri="{FF2B5EF4-FFF2-40B4-BE49-F238E27FC236}">
                <a16:creationId xmlns:a16="http://schemas.microsoft.com/office/drawing/2014/main" id="{BF677D76-5484-9B05-CBE9-A13C61723EE0}"/>
              </a:ext>
            </a:extLst>
          </p:cNvPr>
          <p:cNvSpPr/>
          <p:nvPr/>
        </p:nvSpPr>
        <p:spPr>
          <a:xfrm>
            <a:off x="6147613" y="5719739"/>
            <a:ext cx="655518" cy="294697"/>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a:solidFill>
                  <a:schemeClr val="tx1"/>
                </a:solidFill>
              </a:rPr>
              <a:t>Embedding</a:t>
            </a:r>
          </a:p>
        </p:txBody>
      </p:sp>
      <p:sp>
        <p:nvSpPr>
          <p:cNvPr id="390" name="Rechteck 389">
            <a:extLst>
              <a:ext uri="{FF2B5EF4-FFF2-40B4-BE49-F238E27FC236}">
                <a16:creationId xmlns:a16="http://schemas.microsoft.com/office/drawing/2014/main" id="{0C5E00D6-3386-D7AE-D837-CD850A93BF48}"/>
              </a:ext>
            </a:extLst>
          </p:cNvPr>
          <p:cNvSpPr/>
          <p:nvPr/>
        </p:nvSpPr>
        <p:spPr>
          <a:xfrm>
            <a:off x="6875184" y="5720617"/>
            <a:ext cx="655518" cy="29469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700" dirty="0" err="1">
                <a:solidFill>
                  <a:schemeClr val="tx1"/>
                </a:solidFill>
              </a:rPr>
              <a:t>Similarity</a:t>
            </a:r>
            <a:endParaRPr lang="de-DE" sz="700" dirty="0">
              <a:solidFill>
                <a:schemeClr val="tx1"/>
              </a:solidFill>
            </a:endParaRPr>
          </a:p>
        </p:txBody>
      </p:sp>
      <p:sp>
        <p:nvSpPr>
          <p:cNvPr id="391" name="Rechteck 390">
            <a:extLst>
              <a:ext uri="{FF2B5EF4-FFF2-40B4-BE49-F238E27FC236}">
                <a16:creationId xmlns:a16="http://schemas.microsoft.com/office/drawing/2014/main" id="{39D4B0A4-4E3F-2B37-64E2-A6E0F21A79F7}"/>
              </a:ext>
            </a:extLst>
          </p:cNvPr>
          <p:cNvSpPr/>
          <p:nvPr/>
        </p:nvSpPr>
        <p:spPr>
          <a:xfrm>
            <a:off x="9143998" y="3759359"/>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O</a:t>
            </a:r>
            <a:r>
              <a:rPr lang="de-DE" sz="2000" baseline="-25000" dirty="0">
                <a:solidFill>
                  <a:schemeClr val="tx1"/>
                </a:solidFill>
              </a:rPr>
              <a:t>I</a:t>
            </a:r>
          </a:p>
        </p:txBody>
      </p:sp>
      <p:cxnSp>
        <p:nvCxnSpPr>
          <p:cNvPr id="395" name="Gerade Verbindung mit Pfeil 394">
            <a:extLst>
              <a:ext uri="{FF2B5EF4-FFF2-40B4-BE49-F238E27FC236}">
                <a16:creationId xmlns:a16="http://schemas.microsoft.com/office/drawing/2014/main" id="{568969F1-5FA6-8215-54CD-8A1FFA59688F}"/>
              </a:ext>
            </a:extLst>
          </p:cNvPr>
          <p:cNvCxnSpPr>
            <a:cxnSpLocks/>
            <a:stCxn id="176" idx="2"/>
            <a:endCxn id="391" idx="0"/>
          </p:cNvCxnSpPr>
          <p:nvPr/>
        </p:nvCxnSpPr>
        <p:spPr>
          <a:xfrm flipH="1">
            <a:off x="9557402" y="3508838"/>
            <a:ext cx="2" cy="2505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
        <p:nvSpPr>
          <p:cNvPr id="398" name="Textfeld 397">
            <a:extLst>
              <a:ext uri="{FF2B5EF4-FFF2-40B4-BE49-F238E27FC236}">
                <a16:creationId xmlns:a16="http://schemas.microsoft.com/office/drawing/2014/main" id="{3AA7BDC8-F426-7013-62D1-AC3BEF10E4DB}"/>
              </a:ext>
            </a:extLst>
          </p:cNvPr>
          <p:cNvSpPr txBox="1"/>
          <p:nvPr/>
        </p:nvSpPr>
        <p:spPr>
          <a:xfrm>
            <a:off x="6990297" y="1825183"/>
            <a:ext cx="466794" cy="261610"/>
          </a:xfrm>
          <a:prstGeom prst="rect">
            <a:avLst/>
          </a:prstGeom>
          <a:noFill/>
        </p:spPr>
        <p:txBody>
          <a:bodyPr wrap="none" rtlCol="0">
            <a:spAutoFit/>
          </a:bodyPr>
          <a:lstStyle/>
          <a:p>
            <a:r>
              <a:rPr lang="de-DE" sz="1100" dirty="0" err="1">
                <a:solidFill>
                  <a:schemeClr val="bg1">
                    <a:lumMod val="75000"/>
                  </a:schemeClr>
                </a:solidFill>
              </a:rPr>
              <a:t>prior</a:t>
            </a:r>
            <a:endParaRPr lang="de-DE" sz="1100" dirty="0">
              <a:solidFill>
                <a:schemeClr val="bg1">
                  <a:lumMod val="75000"/>
                </a:schemeClr>
              </a:solidFill>
            </a:endParaRPr>
          </a:p>
        </p:txBody>
      </p:sp>
      <p:sp>
        <p:nvSpPr>
          <p:cNvPr id="399" name="Textfeld 398">
            <a:extLst>
              <a:ext uri="{FF2B5EF4-FFF2-40B4-BE49-F238E27FC236}">
                <a16:creationId xmlns:a16="http://schemas.microsoft.com/office/drawing/2014/main" id="{686E7840-9CB9-A1E7-0010-1129DD8A567F}"/>
              </a:ext>
            </a:extLst>
          </p:cNvPr>
          <p:cNvSpPr txBox="1"/>
          <p:nvPr/>
        </p:nvSpPr>
        <p:spPr>
          <a:xfrm>
            <a:off x="7885741" y="1816804"/>
            <a:ext cx="622286" cy="261610"/>
          </a:xfrm>
          <a:prstGeom prst="rect">
            <a:avLst/>
          </a:prstGeom>
          <a:noFill/>
        </p:spPr>
        <p:txBody>
          <a:bodyPr wrap="none" rtlCol="0">
            <a:spAutoFit/>
          </a:bodyPr>
          <a:lstStyle/>
          <a:p>
            <a:r>
              <a:rPr lang="de-DE" sz="1100" dirty="0" err="1">
                <a:solidFill>
                  <a:schemeClr val="bg1">
                    <a:lumMod val="75000"/>
                  </a:schemeClr>
                </a:solidFill>
              </a:rPr>
              <a:t>current</a:t>
            </a:r>
            <a:endParaRPr lang="de-DE" sz="1100" dirty="0">
              <a:solidFill>
                <a:schemeClr val="bg1">
                  <a:lumMod val="75000"/>
                </a:schemeClr>
              </a:solidFill>
            </a:endParaRPr>
          </a:p>
        </p:txBody>
      </p:sp>
      <p:sp>
        <p:nvSpPr>
          <p:cNvPr id="400" name="Textfeld 399">
            <a:extLst>
              <a:ext uri="{FF2B5EF4-FFF2-40B4-BE49-F238E27FC236}">
                <a16:creationId xmlns:a16="http://schemas.microsoft.com/office/drawing/2014/main" id="{91E4B32A-6C24-6652-E98D-908E73F28367}"/>
              </a:ext>
            </a:extLst>
          </p:cNvPr>
          <p:cNvSpPr txBox="1"/>
          <p:nvPr/>
        </p:nvSpPr>
        <p:spPr>
          <a:xfrm>
            <a:off x="6154090" y="1854350"/>
            <a:ext cx="638316" cy="261610"/>
          </a:xfrm>
          <a:prstGeom prst="rect">
            <a:avLst/>
          </a:prstGeom>
          <a:noFill/>
        </p:spPr>
        <p:txBody>
          <a:bodyPr wrap="none" rtlCol="0">
            <a:spAutoFit/>
          </a:bodyPr>
          <a:lstStyle/>
          <a:p>
            <a:r>
              <a:rPr lang="de-DE" sz="1100" dirty="0" err="1">
                <a:solidFill>
                  <a:schemeClr val="bg1">
                    <a:lumMod val="75000"/>
                  </a:schemeClr>
                </a:solidFill>
              </a:rPr>
              <a:t>context</a:t>
            </a:r>
            <a:endParaRPr lang="de-DE" sz="1100" dirty="0">
              <a:solidFill>
                <a:schemeClr val="bg1">
                  <a:lumMod val="75000"/>
                </a:schemeClr>
              </a:solidFill>
            </a:endParaRPr>
          </a:p>
        </p:txBody>
      </p:sp>
      <p:sp>
        <p:nvSpPr>
          <p:cNvPr id="401" name="Textfeld 400">
            <a:extLst>
              <a:ext uri="{FF2B5EF4-FFF2-40B4-BE49-F238E27FC236}">
                <a16:creationId xmlns:a16="http://schemas.microsoft.com/office/drawing/2014/main" id="{5D3BFB51-E8A6-632D-40E5-34CCB205B12A}"/>
              </a:ext>
            </a:extLst>
          </p:cNvPr>
          <p:cNvSpPr txBox="1"/>
          <p:nvPr/>
        </p:nvSpPr>
        <p:spPr>
          <a:xfrm>
            <a:off x="9207433" y="1155974"/>
            <a:ext cx="1008609" cy="261610"/>
          </a:xfrm>
          <a:prstGeom prst="rect">
            <a:avLst/>
          </a:prstGeom>
          <a:noFill/>
        </p:spPr>
        <p:txBody>
          <a:bodyPr wrap="none" rtlCol="0">
            <a:spAutoFit/>
          </a:bodyPr>
          <a:lstStyle/>
          <a:p>
            <a:r>
              <a:rPr lang="de-DE" sz="1100" dirty="0">
                <a:solidFill>
                  <a:schemeClr val="bg1">
                    <a:lumMod val="75000"/>
                  </a:schemeClr>
                </a:solidFill>
              </a:rPr>
              <a:t>Training </a:t>
            </a:r>
            <a:r>
              <a:rPr lang="de-DE" sz="1100" dirty="0" err="1">
                <a:solidFill>
                  <a:schemeClr val="bg1">
                    <a:lumMod val="75000"/>
                  </a:schemeClr>
                </a:solidFill>
              </a:rPr>
              <a:t>data</a:t>
            </a:r>
            <a:endParaRPr lang="de-DE" sz="1100" dirty="0">
              <a:solidFill>
                <a:schemeClr val="bg1">
                  <a:lumMod val="75000"/>
                </a:schemeClr>
              </a:solidFill>
            </a:endParaRPr>
          </a:p>
        </p:txBody>
      </p:sp>
      <p:sp>
        <p:nvSpPr>
          <p:cNvPr id="402" name="Textfeld 401">
            <a:extLst>
              <a:ext uri="{FF2B5EF4-FFF2-40B4-BE49-F238E27FC236}">
                <a16:creationId xmlns:a16="http://schemas.microsoft.com/office/drawing/2014/main" id="{764DF432-4015-C8DF-3C50-B4F6D68332BB}"/>
              </a:ext>
            </a:extLst>
          </p:cNvPr>
          <p:cNvSpPr txBox="1"/>
          <p:nvPr/>
        </p:nvSpPr>
        <p:spPr>
          <a:xfrm>
            <a:off x="8250104" y="4277182"/>
            <a:ext cx="365806" cy="261610"/>
          </a:xfrm>
          <a:prstGeom prst="rect">
            <a:avLst/>
          </a:prstGeom>
          <a:noFill/>
        </p:spPr>
        <p:txBody>
          <a:bodyPr wrap="none" rtlCol="0">
            <a:spAutoFit/>
          </a:bodyPr>
          <a:lstStyle/>
          <a:p>
            <a:r>
              <a:rPr lang="de-DE" sz="1100" dirty="0">
                <a:solidFill>
                  <a:schemeClr val="bg1">
                    <a:lumMod val="75000"/>
                  </a:schemeClr>
                </a:solidFill>
              </a:rPr>
              <a:t>PF</a:t>
            </a:r>
          </a:p>
        </p:txBody>
      </p:sp>
      <p:sp>
        <p:nvSpPr>
          <p:cNvPr id="405" name="Textfeld 404">
            <a:extLst>
              <a:ext uri="{FF2B5EF4-FFF2-40B4-BE49-F238E27FC236}">
                <a16:creationId xmlns:a16="http://schemas.microsoft.com/office/drawing/2014/main" id="{C82FACC9-6045-BEE5-A576-55919C154CA6}"/>
              </a:ext>
            </a:extLst>
          </p:cNvPr>
          <p:cNvSpPr txBox="1"/>
          <p:nvPr/>
        </p:nvSpPr>
        <p:spPr>
          <a:xfrm>
            <a:off x="10675413" y="4286311"/>
            <a:ext cx="365806" cy="261610"/>
          </a:xfrm>
          <a:prstGeom prst="rect">
            <a:avLst/>
          </a:prstGeom>
          <a:noFill/>
        </p:spPr>
        <p:txBody>
          <a:bodyPr wrap="none" rtlCol="0">
            <a:spAutoFit/>
          </a:bodyPr>
          <a:lstStyle/>
          <a:p>
            <a:r>
              <a:rPr lang="de-DE" sz="1100" dirty="0">
                <a:solidFill>
                  <a:schemeClr val="bg1">
                    <a:lumMod val="75000"/>
                  </a:schemeClr>
                </a:solidFill>
              </a:rPr>
              <a:t>SF</a:t>
            </a:r>
          </a:p>
        </p:txBody>
      </p:sp>
    </p:spTree>
    <p:extLst>
      <p:ext uri="{BB962C8B-B14F-4D97-AF65-F5344CB8AC3E}">
        <p14:creationId xmlns:p14="http://schemas.microsoft.com/office/powerpoint/2010/main" val="2787857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04CF-9EA7-5B39-8B68-11DC009F7648}"/>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D979455A-C707-CA99-4665-DDB8EF813744}"/>
              </a:ext>
            </a:extLst>
          </p:cNvPr>
          <p:cNvSpPr>
            <a:spLocks noGrp="1"/>
          </p:cNvSpPr>
          <p:nvPr>
            <p:ph type="title"/>
          </p:nvPr>
        </p:nvSpPr>
        <p:spPr/>
        <p:txBody>
          <a:bodyPr/>
          <a:lstStyle/>
          <a:p>
            <a:r>
              <a:rPr lang="en-US" dirty="0"/>
              <a:t>R2GenKG: Hierarchical Multi-modal Knowledge Graph for LLM-based Radiology Report Generation (Wang et al., 2025) [5]</a:t>
            </a:r>
            <a:endParaRPr lang="de-DE" dirty="0"/>
          </a:p>
        </p:txBody>
      </p:sp>
      <p:sp>
        <p:nvSpPr>
          <p:cNvPr id="5" name="Textplatzhalter 1">
            <a:extLst>
              <a:ext uri="{FF2B5EF4-FFF2-40B4-BE49-F238E27FC236}">
                <a16:creationId xmlns:a16="http://schemas.microsoft.com/office/drawing/2014/main" id="{112C1DDD-3BD1-C486-B958-51A5C2DC345E}"/>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Limited scalability: Knowledge graphs are small compared to LLM training data.</a:t>
            </a:r>
          </a:p>
          <a:p>
            <a:pPr lvl="1" algn="just"/>
            <a:r>
              <a:rPr lang="en-US" sz="1200" dirty="0"/>
              <a:t>Lack of multi-modality: Existing KGs focus only on text, ignoring visual information.</a:t>
            </a:r>
          </a:p>
          <a:p>
            <a:pPr lvl="1" algn="just"/>
            <a:r>
              <a:rPr lang="en-US" sz="1200" dirty="0"/>
              <a:t>Static structure: Fixed graphs fail to adapt to cases needing different levels of detail.</a:t>
            </a:r>
          </a:p>
          <a:p>
            <a:pPr algn="just"/>
            <a:r>
              <a:rPr lang="en-US" sz="1400" b="1" dirty="0"/>
              <a:t>Approach</a:t>
            </a:r>
          </a:p>
          <a:p>
            <a:pPr lvl="1" algn="just"/>
            <a:r>
              <a:rPr lang="en-US" sz="1200" dirty="0"/>
              <a:t>The </a:t>
            </a:r>
            <a:r>
              <a:rPr lang="en-US" sz="1200" dirty="0" err="1"/>
              <a:t>autors</a:t>
            </a:r>
            <a:r>
              <a:rPr lang="en-US" sz="1200" dirty="0"/>
              <a:t> introduce a system, that constructs a multi-modal knowledge graph called M3KG, which is based on GPT-4o-annotated radiology reports.</a:t>
            </a:r>
          </a:p>
          <a:p>
            <a:pPr lvl="1" algn="just"/>
            <a:r>
              <a:rPr lang="en-US" sz="1200" dirty="0"/>
              <a:t>They also introduce a framework called </a:t>
            </a:r>
            <a:r>
              <a:rPr lang="en-US" sz="1200" b="1" dirty="0"/>
              <a:t>R2GenKG</a:t>
            </a:r>
            <a:r>
              <a:rPr lang="en-US" sz="1200" dirty="0"/>
              <a:t>, which encodes multi‑granularity semantic graphs with R‑GCN and fuse them with visual features via cross‑attention (KG2V / V2KG).</a:t>
            </a:r>
          </a:p>
          <a:p>
            <a:pPr lvl="1" algn="just"/>
            <a:r>
              <a:rPr lang="en-US" sz="1200" dirty="0"/>
              <a:t>Visual features are extracted with a Swin Transformer and disease‑aware vision tokens are retrieved via a Q‑Former.</a:t>
            </a:r>
          </a:p>
          <a:p>
            <a:pPr algn="just"/>
            <a:r>
              <a:rPr lang="en-US" sz="1400" b="1" dirty="0"/>
              <a:t>Results</a:t>
            </a:r>
          </a:p>
          <a:p>
            <a:pPr lvl="1" algn="just"/>
            <a:r>
              <a:rPr lang="en-US" sz="1200" dirty="0"/>
              <a:t>Improves NLG (BLUE-4 and </a:t>
            </a:r>
            <a:r>
              <a:rPr lang="en-US" sz="1200" dirty="0" err="1"/>
              <a:t>CIDEr</a:t>
            </a:r>
            <a:r>
              <a:rPr lang="en-US" sz="1200" dirty="0"/>
              <a:t>) and clinical performance on IU-Xray and </a:t>
            </a:r>
            <a:r>
              <a:rPr lang="en-US" sz="1200" dirty="0" err="1"/>
              <a:t>CheXpert</a:t>
            </a:r>
            <a:r>
              <a:rPr lang="en-US" sz="1200" dirty="0"/>
              <a:t> Plus datasets.</a:t>
            </a:r>
          </a:p>
          <a:p>
            <a:pPr lvl="1" algn="just"/>
            <a:r>
              <a:rPr lang="en-US" sz="1200" dirty="0"/>
              <a:t>Optimal performance was achieved with 300 entity nodes and 500 visual features.</a:t>
            </a:r>
          </a:p>
          <a:p>
            <a:pPr lvl="1" algn="just"/>
            <a:r>
              <a:rPr lang="en-US" sz="1200" dirty="0"/>
              <a:t>RGCN Encoder for encoding the knowledge graph resulted in the best performance compared to GCN and GAT.</a:t>
            </a:r>
          </a:p>
          <a:p>
            <a:pPr algn="just"/>
            <a:r>
              <a:rPr lang="en-US" sz="1400" b="1" dirty="0"/>
              <a:t>Key Takeaway</a:t>
            </a:r>
          </a:p>
          <a:p>
            <a:pPr lvl="1" algn="just"/>
            <a:r>
              <a:rPr lang="en-US" sz="1200" dirty="0"/>
              <a:t>Integrating a large‑scale, multi‑modal KG with hierarchical graph encoding improves clinical accuracy and reduces hallucination.</a:t>
            </a:r>
          </a:p>
        </p:txBody>
      </p:sp>
      <p:sp>
        <p:nvSpPr>
          <p:cNvPr id="6" name="Inhaltsplatzhalter 3">
            <a:extLst>
              <a:ext uri="{FF2B5EF4-FFF2-40B4-BE49-F238E27FC236}">
                <a16:creationId xmlns:a16="http://schemas.microsoft.com/office/drawing/2014/main" id="{CF2A3DC7-B318-9EE3-1C68-2942E074B26B}"/>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1600" dirty="0" err="1"/>
              <a:t>arXiv</a:t>
            </a:r>
            <a:r>
              <a:rPr lang="de-DE" sz="1600" dirty="0"/>
              <a:t> </a:t>
            </a:r>
            <a:r>
              <a:rPr lang="de-DE" sz="1600" dirty="0" err="1"/>
              <a:t>preprint</a:t>
            </a:r>
            <a:endParaRPr lang="de-DE" sz="1600" dirty="0"/>
          </a:p>
        </p:txBody>
      </p:sp>
      <p:grpSp>
        <p:nvGrpSpPr>
          <p:cNvPr id="2" name="Gruppieren 1">
            <a:extLst>
              <a:ext uri="{FF2B5EF4-FFF2-40B4-BE49-F238E27FC236}">
                <a16:creationId xmlns:a16="http://schemas.microsoft.com/office/drawing/2014/main" id="{B0ECFE3C-4F7F-3D38-0A84-D05512CD53B7}"/>
              </a:ext>
            </a:extLst>
          </p:cNvPr>
          <p:cNvGrpSpPr/>
          <p:nvPr/>
        </p:nvGrpSpPr>
        <p:grpSpPr>
          <a:xfrm>
            <a:off x="7169574" y="1080642"/>
            <a:ext cx="826807" cy="796741"/>
            <a:chOff x="6890327" y="1636222"/>
            <a:chExt cx="826807" cy="796741"/>
          </a:xfrm>
        </p:grpSpPr>
        <p:sp>
          <p:nvSpPr>
            <p:cNvPr id="4" name="Rechteck 3">
              <a:extLst>
                <a:ext uri="{FF2B5EF4-FFF2-40B4-BE49-F238E27FC236}">
                  <a16:creationId xmlns:a16="http://schemas.microsoft.com/office/drawing/2014/main" id="{80470D36-0398-48FC-79EC-2829E6120B82}"/>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7" name="Gerader Verbinder 6">
              <a:extLst>
                <a:ext uri="{FF2B5EF4-FFF2-40B4-BE49-F238E27FC236}">
                  <a16:creationId xmlns:a16="http://schemas.microsoft.com/office/drawing/2014/main" id="{6B3115C4-7576-E497-6D29-AA063A509BCF}"/>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8" name="Gerader Verbinder 7">
              <a:extLst>
                <a:ext uri="{FF2B5EF4-FFF2-40B4-BE49-F238E27FC236}">
                  <a16:creationId xmlns:a16="http://schemas.microsoft.com/office/drawing/2014/main" id="{7EA58F4C-A003-2A23-4D98-5F3A909F1D89}"/>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 name="Gerader Verbinder 8">
              <a:extLst>
                <a:ext uri="{FF2B5EF4-FFF2-40B4-BE49-F238E27FC236}">
                  <a16:creationId xmlns:a16="http://schemas.microsoft.com/office/drawing/2014/main" id="{0B129CDD-0A34-0864-7EBD-42A64BAFCF58}"/>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5BE75AF4-B2FE-C771-A0BD-DE416EC3250C}"/>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Gerader Verbinder 10">
              <a:extLst>
                <a:ext uri="{FF2B5EF4-FFF2-40B4-BE49-F238E27FC236}">
                  <a16:creationId xmlns:a16="http://schemas.microsoft.com/office/drawing/2014/main" id="{4AC5350D-CE38-731C-F54A-BA5CE97D30BA}"/>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2" name="Gerader Verbinder 11">
              <a:extLst>
                <a:ext uri="{FF2B5EF4-FFF2-40B4-BE49-F238E27FC236}">
                  <a16:creationId xmlns:a16="http://schemas.microsoft.com/office/drawing/2014/main" id="{D3EEDCA5-06A6-015A-C6C9-9C2443184373}"/>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 name="Gerader Verbinder 12">
              <a:extLst>
                <a:ext uri="{FF2B5EF4-FFF2-40B4-BE49-F238E27FC236}">
                  <a16:creationId xmlns:a16="http://schemas.microsoft.com/office/drawing/2014/main" id="{9B5C1406-AC92-DB20-4D93-87600B6410BE}"/>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4" name="Gerader Verbinder 13">
              <a:extLst>
                <a:ext uri="{FF2B5EF4-FFF2-40B4-BE49-F238E27FC236}">
                  <a16:creationId xmlns:a16="http://schemas.microsoft.com/office/drawing/2014/main" id="{64C089EE-FF1F-F33E-375B-C4383A54208B}"/>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5" name="Grafik 14" descr="Lungen mit einfarbiger Füllung">
              <a:extLst>
                <a:ext uri="{FF2B5EF4-FFF2-40B4-BE49-F238E27FC236}">
                  <a16:creationId xmlns:a16="http://schemas.microsoft.com/office/drawing/2014/main" id="{F5CA008C-72DC-9024-02FE-A39170B7F3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3008" y="1703870"/>
              <a:ext cx="661446" cy="661446"/>
            </a:xfrm>
            <a:prstGeom prst="rect">
              <a:avLst/>
            </a:prstGeom>
          </p:spPr>
        </p:pic>
      </p:grpSp>
      <p:sp>
        <p:nvSpPr>
          <p:cNvPr id="16" name="Rechteck 15">
            <a:extLst>
              <a:ext uri="{FF2B5EF4-FFF2-40B4-BE49-F238E27FC236}">
                <a16:creationId xmlns:a16="http://schemas.microsoft.com/office/drawing/2014/main" id="{1EA78E36-BD19-CC3C-7349-34DA82658D11}"/>
              </a:ext>
            </a:extLst>
          </p:cNvPr>
          <p:cNvSpPr/>
          <p:nvPr/>
        </p:nvSpPr>
        <p:spPr>
          <a:xfrm>
            <a:off x="7169573" y="2230102"/>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pic>
        <p:nvPicPr>
          <p:cNvPr id="17" name="Grafik 16" descr="Dokument Silhouette">
            <a:extLst>
              <a:ext uri="{FF2B5EF4-FFF2-40B4-BE49-F238E27FC236}">
                <a16:creationId xmlns:a16="http://schemas.microsoft.com/office/drawing/2014/main" id="{CFB5690E-693F-620A-A198-4652206027C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93920" y="5174023"/>
            <a:ext cx="914400" cy="914400"/>
          </a:xfrm>
          <a:prstGeom prst="rect">
            <a:avLst/>
          </a:prstGeom>
        </p:spPr>
      </p:pic>
      <p:grpSp>
        <p:nvGrpSpPr>
          <p:cNvPr id="29" name="Gruppieren 28">
            <a:extLst>
              <a:ext uri="{FF2B5EF4-FFF2-40B4-BE49-F238E27FC236}">
                <a16:creationId xmlns:a16="http://schemas.microsoft.com/office/drawing/2014/main" id="{EBA013CA-87A1-F0D1-DBD0-39FB0873AB85}"/>
              </a:ext>
            </a:extLst>
          </p:cNvPr>
          <p:cNvGrpSpPr/>
          <p:nvPr/>
        </p:nvGrpSpPr>
        <p:grpSpPr>
          <a:xfrm>
            <a:off x="9583924" y="1080642"/>
            <a:ext cx="1562194" cy="796740"/>
            <a:chOff x="9752606" y="1548951"/>
            <a:chExt cx="1562194" cy="796740"/>
          </a:xfrm>
        </p:grpSpPr>
        <p:sp>
          <p:nvSpPr>
            <p:cNvPr id="19" name="Rechteck 18">
              <a:extLst>
                <a:ext uri="{FF2B5EF4-FFF2-40B4-BE49-F238E27FC236}">
                  <a16:creationId xmlns:a16="http://schemas.microsoft.com/office/drawing/2014/main" id="{E08CF2D4-6052-97E9-5830-8A4B51ED1684}"/>
                </a:ext>
              </a:extLst>
            </p:cNvPr>
            <p:cNvSpPr/>
            <p:nvPr/>
          </p:nvSpPr>
          <p:spPr>
            <a:xfrm>
              <a:off x="9752606" y="1548951"/>
              <a:ext cx="1562194" cy="79674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de-DE" sz="1200" dirty="0">
                  <a:solidFill>
                    <a:schemeClr val="bg1">
                      <a:lumMod val="75000"/>
                    </a:schemeClr>
                  </a:solidFill>
                </a:rPr>
                <a:t>Multimodal Graph</a:t>
              </a:r>
            </a:p>
          </p:txBody>
        </p:sp>
        <p:sp>
          <p:nvSpPr>
            <p:cNvPr id="20" name="Flussdiagramm: Verbinder 19">
              <a:extLst>
                <a:ext uri="{FF2B5EF4-FFF2-40B4-BE49-F238E27FC236}">
                  <a16:creationId xmlns:a16="http://schemas.microsoft.com/office/drawing/2014/main" id="{6BA0B028-5630-3E07-F932-1FC67D826281}"/>
                </a:ext>
              </a:extLst>
            </p:cNvPr>
            <p:cNvSpPr/>
            <p:nvPr/>
          </p:nvSpPr>
          <p:spPr>
            <a:xfrm>
              <a:off x="10236042" y="2002560"/>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p>
          </p:txBody>
        </p:sp>
        <p:sp>
          <p:nvSpPr>
            <p:cNvPr id="21" name="Flussdiagramm: Verbinder 20">
              <a:extLst>
                <a:ext uri="{FF2B5EF4-FFF2-40B4-BE49-F238E27FC236}">
                  <a16:creationId xmlns:a16="http://schemas.microsoft.com/office/drawing/2014/main" id="{F4F787E1-B598-1FF3-CB6F-4E73B4A83CB8}"/>
                </a:ext>
              </a:extLst>
            </p:cNvPr>
            <p:cNvSpPr/>
            <p:nvPr/>
          </p:nvSpPr>
          <p:spPr>
            <a:xfrm>
              <a:off x="10472885" y="1877383"/>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p>
          </p:txBody>
        </p:sp>
        <p:sp>
          <p:nvSpPr>
            <p:cNvPr id="22" name="Flussdiagramm: Verbinder 21">
              <a:extLst>
                <a:ext uri="{FF2B5EF4-FFF2-40B4-BE49-F238E27FC236}">
                  <a16:creationId xmlns:a16="http://schemas.microsoft.com/office/drawing/2014/main" id="{5F00E19D-7A9D-05D2-913C-2F6044BE4EBD}"/>
                </a:ext>
              </a:extLst>
            </p:cNvPr>
            <p:cNvSpPr/>
            <p:nvPr/>
          </p:nvSpPr>
          <p:spPr>
            <a:xfrm>
              <a:off x="10472885" y="2125387"/>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p>
          </p:txBody>
        </p:sp>
        <p:sp>
          <p:nvSpPr>
            <p:cNvPr id="23" name="Flussdiagramm: Verbinder 22">
              <a:extLst>
                <a:ext uri="{FF2B5EF4-FFF2-40B4-BE49-F238E27FC236}">
                  <a16:creationId xmlns:a16="http://schemas.microsoft.com/office/drawing/2014/main" id="{42B6B6F2-5FF4-754E-BAD5-CFBC4FBA3C33}"/>
                </a:ext>
              </a:extLst>
            </p:cNvPr>
            <p:cNvSpPr/>
            <p:nvPr/>
          </p:nvSpPr>
          <p:spPr>
            <a:xfrm>
              <a:off x="10716915" y="2002560"/>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p>
          </p:txBody>
        </p:sp>
        <p:cxnSp>
          <p:nvCxnSpPr>
            <p:cNvPr id="24" name="Gerader Verbinder 23">
              <a:extLst>
                <a:ext uri="{FF2B5EF4-FFF2-40B4-BE49-F238E27FC236}">
                  <a16:creationId xmlns:a16="http://schemas.microsoft.com/office/drawing/2014/main" id="{8D179069-D1E2-2581-84D2-8C85915CE75C}"/>
                </a:ext>
              </a:extLst>
            </p:cNvPr>
            <p:cNvCxnSpPr>
              <a:cxnSpLocks/>
              <a:stCxn id="20" idx="7"/>
            </p:cNvCxnSpPr>
            <p:nvPr/>
          </p:nvCxnSpPr>
          <p:spPr>
            <a:xfrm flipV="1">
              <a:off x="10327234" y="1948593"/>
              <a:ext cx="145651" cy="70460"/>
            </a:xfrm>
            <a:prstGeom prst="line">
              <a:avLst/>
            </a:prstGeom>
            <a:ln w="12700"/>
          </p:spPr>
          <p:style>
            <a:lnRef idx="1">
              <a:schemeClr val="dk1"/>
            </a:lnRef>
            <a:fillRef idx="0">
              <a:schemeClr val="dk1"/>
            </a:fillRef>
            <a:effectRef idx="0">
              <a:schemeClr val="dk1"/>
            </a:effectRef>
            <a:fontRef idx="minor">
              <a:schemeClr val="tx1"/>
            </a:fontRef>
          </p:style>
        </p:cxnSp>
        <p:cxnSp>
          <p:nvCxnSpPr>
            <p:cNvPr id="25" name="Gerader Verbinder 24">
              <a:extLst>
                <a:ext uri="{FF2B5EF4-FFF2-40B4-BE49-F238E27FC236}">
                  <a16:creationId xmlns:a16="http://schemas.microsoft.com/office/drawing/2014/main" id="{D43B2CDC-872D-1B15-DD7F-361735795889}"/>
                </a:ext>
              </a:extLst>
            </p:cNvPr>
            <p:cNvCxnSpPr>
              <a:cxnSpLocks/>
            </p:cNvCxnSpPr>
            <p:nvPr/>
          </p:nvCxnSpPr>
          <p:spPr>
            <a:xfrm flipV="1">
              <a:off x="10579722" y="2089186"/>
              <a:ext cx="145651" cy="70460"/>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Gerader Verbinder 25">
              <a:extLst>
                <a:ext uri="{FF2B5EF4-FFF2-40B4-BE49-F238E27FC236}">
                  <a16:creationId xmlns:a16="http://schemas.microsoft.com/office/drawing/2014/main" id="{4F1B24C4-FB35-0F74-84A7-29F4B01DC8EA}"/>
                </a:ext>
              </a:extLst>
            </p:cNvPr>
            <p:cNvCxnSpPr>
              <a:cxnSpLocks/>
            </p:cNvCxnSpPr>
            <p:nvPr/>
          </p:nvCxnSpPr>
          <p:spPr>
            <a:xfrm>
              <a:off x="10579722" y="1958097"/>
              <a:ext cx="145651"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Gerader Verbinder 26">
              <a:extLst>
                <a:ext uri="{FF2B5EF4-FFF2-40B4-BE49-F238E27FC236}">
                  <a16:creationId xmlns:a16="http://schemas.microsoft.com/office/drawing/2014/main" id="{6C187BC7-4207-E301-DE88-5937C2E34A87}"/>
                </a:ext>
              </a:extLst>
            </p:cNvPr>
            <p:cNvCxnSpPr>
              <a:cxnSpLocks/>
            </p:cNvCxnSpPr>
            <p:nvPr/>
          </p:nvCxnSpPr>
          <p:spPr>
            <a:xfrm>
              <a:off x="10330520" y="2102341"/>
              <a:ext cx="145651"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28" name="Gerader Verbinder 27">
              <a:extLst>
                <a:ext uri="{FF2B5EF4-FFF2-40B4-BE49-F238E27FC236}">
                  <a16:creationId xmlns:a16="http://schemas.microsoft.com/office/drawing/2014/main" id="{01688C9D-F8FC-A0F9-FFE2-B20C5653E47C}"/>
                </a:ext>
              </a:extLst>
            </p:cNvPr>
            <p:cNvCxnSpPr>
              <a:cxnSpLocks/>
              <a:stCxn id="21" idx="4"/>
              <a:endCxn id="22" idx="0"/>
            </p:cNvCxnSpPr>
            <p:nvPr/>
          </p:nvCxnSpPr>
          <p:spPr>
            <a:xfrm>
              <a:off x="10526303" y="1990006"/>
              <a:ext cx="0" cy="135381"/>
            </a:xfrm>
            <a:prstGeom prst="line">
              <a:avLst/>
            </a:prstGeom>
            <a:ln w="12700"/>
          </p:spPr>
          <p:style>
            <a:lnRef idx="1">
              <a:schemeClr val="dk1"/>
            </a:lnRef>
            <a:fillRef idx="0">
              <a:schemeClr val="dk1"/>
            </a:fillRef>
            <a:effectRef idx="0">
              <a:schemeClr val="dk1"/>
            </a:effectRef>
            <a:fontRef idx="minor">
              <a:schemeClr val="tx1"/>
            </a:fontRef>
          </p:style>
        </p:cxnSp>
      </p:grpSp>
      <p:grpSp>
        <p:nvGrpSpPr>
          <p:cNvPr id="73" name="Gruppieren 72">
            <a:extLst>
              <a:ext uri="{FF2B5EF4-FFF2-40B4-BE49-F238E27FC236}">
                <a16:creationId xmlns:a16="http://schemas.microsoft.com/office/drawing/2014/main" id="{C6F756CA-0951-1033-81CB-182E1696FC6D}"/>
              </a:ext>
            </a:extLst>
          </p:cNvPr>
          <p:cNvGrpSpPr/>
          <p:nvPr/>
        </p:nvGrpSpPr>
        <p:grpSpPr>
          <a:xfrm>
            <a:off x="8798158" y="2232000"/>
            <a:ext cx="828000" cy="432000"/>
            <a:chOff x="8798158" y="2341485"/>
            <a:chExt cx="828000" cy="432000"/>
          </a:xfrm>
        </p:grpSpPr>
        <p:sp>
          <p:nvSpPr>
            <p:cNvPr id="42" name="Rechteck 41">
              <a:extLst>
                <a:ext uri="{FF2B5EF4-FFF2-40B4-BE49-F238E27FC236}">
                  <a16:creationId xmlns:a16="http://schemas.microsoft.com/office/drawing/2014/main" id="{FC2CBE14-A5EC-C140-CAE6-B4F3C6E48DBA}"/>
                </a:ext>
              </a:extLst>
            </p:cNvPr>
            <p:cNvSpPr/>
            <p:nvPr/>
          </p:nvSpPr>
          <p:spPr>
            <a:xfrm>
              <a:off x="8798158" y="2341485"/>
              <a:ext cx="828000" cy="432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de-DE" sz="1400" dirty="0">
                <a:solidFill>
                  <a:schemeClr val="bg1">
                    <a:lumMod val="75000"/>
                  </a:schemeClr>
                </a:solidFill>
              </a:endParaRPr>
            </a:p>
          </p:txBody>
        </p:sp>
        <p:sp>
          <p:nvSpPr>
            <p:cNvPr id="43" name="Flussdiagramm: Verbinder 42">
              <a:extLst>
                <a:ext uri="{FF2B5EF4-FFF2-40B4-BE49-F238E27FC236}">
                  <a16:creationId xmlns:a16="http://schemas.microsoft.com/office/drawing/2014/main" id="{4DD26725-8965-EA91-A272-83643C6A491A}"/>
                </a:ext>
              </a:extLst>
            </p:cNvPr>
            <p:cNvSpPr/>
            <p:nvPr/>
          </p:nvSpPr>
          <p:spPr>
            <a:xfrm>
              <a:off x="8920596" y="2486751"/>
              <a:ext cx="10688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Flussdiagramm: Verbinder 44">
              <a:extLst>
                <a:ext uri="{FF2B5EF4-FFF2-40B4-BE49-F238E27FC236}">
                  <a16:creationId xmlns:a16="http://schemas.microsoft.com/office/drawing/2014/main" id="{9DCDFF22-4C9F-D122-A4B4-1D824A6F2C4F}"/>
                </a:ext>
              </a:extLst>
            </p:cNvPr>
            <p:cNvSpPr/>
            <p:nvPr/>
          </p:nvSpPr>
          <p:spPr>
            <a:xfrm>
              <a:off x="9157548" y="2609578"/>
              <a:ext cx="106886"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0" name="Gerader Verbinder 49">
              <a:extLst>
                <a:ext uri="{FF2B5EF4-FFF2-40B4-BE49-F238E27FC236}">
                  <a16:creationId xmlns:a16="http://schemas.microsoft.com/office/drawing/2014/main" id="{B5962153-7731-AB1F-B4D9-2D57DA6DA591}"/>
                </a:ext>
              </a:extLst>
            </p:cNvPr>
            <p:cNvCxnSpPr>
              <a:cxnSpLocks/>
            </p:cNvCxnSpPr>
            <p:nvPr/>
          </p:nvCxnSpPr>
          <p:spPr>
            <a:xfrm>
              <a:off x="9015117" y="2586532"/>
              <a:ext cx="145718" cy="60956"/>
            </a:xfrm>
            <a:prstGeom prst="line">
              <a:avLst/>
            </a:prstGeom>
            <a:ln w="12700"/>
          </p:spPr>
          <p:style>
            <a:lnRef idx="1">
              <a:schemeClr val="dk1"/>
            </a:lnRef>
            <a:fillRef idx="0">
              <a:schemeClr val="dk1"/>
            </a:fillRef>
            <a:effectRef idx="0">
              <a:schemeClr val="dk1"/>
            </a:effectRef>
            <a:fontRef idx="minor">
              <a:schemeClr val="tx1"/>
            </a:fontRef>
          </p:style>
        </p:cxnSp>
      </p:grpSp>
      <p:grpSp>
        <p:nvGrpSpPr>
          <p:cNvPr id="75" name="Gruppieren 74">
            <a:extLst>
              <a:ext uri="{FF2B5EF4-FFF2-40B4-BE49-F238E27FC236}">
                <a16:creationId xmlns:a16="http://schemas.microsoft.com/office/drawing/2014/main" id="{CD29F544-8AA0-6719-33A4-A83DE6EBBF45}"/>
              </a:ext>
            </a:extLst>
          </p:cNvPr>
          <p:cNvGrpSpPr/>
          <p:nvPr/>
        </p:nvGrpSpPr>
        <p:grpSpPr>
          <a:xfrm>
            <a:off x="11257898" y="2232000"/>
            <a:ext cx="828000" cy="432000"/>
            <a:chOff x="11257898" y="2296840"/>
            <a:chExt cx="828000" cy="432000"/>
          </a:xfrm>
        </p:grpSpPr>
        <p:sp>
          <p:nvSpPr>
            <p:cNvPr id="52" name="Rechteck 51">
              <a:extLst>
                <a:ext uri="{FF2B5EF4-FFF2-40B4-BE49-F238E27FC236}">
                  <a16:creationId xmlns:a16="http://schemas.microsoft.com/office/drawing/2014/main" id="{B77E8C26-999B-657F-6A9B-ECB0DFE0964E}"/>
                </a:ext>
              </a:extLst>
            </p:cNvPr>
            <p:cNvSpPr/>
            <p:nvPr/>
          </p:nvSpPr>
          <p:spPr>
            <a:xfrm>
              <a:off x="11257898" y="2296840"/>
              <a:ext cx="828000" cy="432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de-DE" sz="1400" dirty="0">
                <a:solidFill>
                  <a:schemeClr val="bg1">
                    <a:lumMod val="75000"/>
                  </a:schemeClr>
                </a:solidFill>
              </a:endParaRPr>
            </a:p>
          </p:txBody>
        </p:sp>
        <p:sp>
          <p:nvSpPr>
            <p:cNvPr id="53" name="Flussdiagramm: Verbinder 52">
              <a:extLst>
                <a:ext uri="{FF2B5EF4-FFF2-40B4-BE49-F238E27FC236}">
                  <a16:creationId xmlns:a16="http://schemas.microsoft.com/office/drawing/2014/main" id="{C3E0A5B6-80F4-E9B7-08FC-0431465D8848}"/>
                </a:ext>
              </a:extLst>
            </p:cNvPr>
            <p:cNvSpPr/>
            <p:nvPr/>
          </p:nvSpPr>
          <p:spPr>
            <a:xfrm>
              <a:off x="11381637" y="2457704"/>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Flussdiagramm: Verbinder 53">
              <a:extLst>
                <a:ext uri="{FF2B5EF4-FFF2-40B4-BE49-F238E27FC236}">
                  <a16:creationId xmlns:a16="http://schemas.microsoft.com/office/drawing/2014/main" id="{CA531A66-6ED6-BF81-CADB-A623209440F8}"/>
                </a:ext>
              </a:extLst>
            </p:cNvPr>
            <p:cNvSpPr/>
            <p:nvPr/>
          </p:nvSpPr>
          <p:spPr>
            <a:xfrm>
              <a:off x="11618480" y="2332527"/>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Flussdiagramm: Verbinder 54">
              <a:extLst>
                <a:ext uri="{FF2B5EF4-FFF2-40B4-BE49-F238E27FC236}">
                  <a16:creationId xmlns:a16="http://schemas.microsoft.com/office/drawing/2014/main" id="{CA011D27-B34F-4B6D-6BF0-8A4CC9299E2D}"/>
                </a:ext>
              </a:extLst>
            </p:cNvPr>
            <p:cNvSpPr/>
            <p:nvPr/>
          </p:nvSpPr>
          <p:spPr>
            <a:xfrm>
              <a:off x="11618480" y="2580531"/>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Flussdiagramm: Verbinder 55">
              <a:extLst>
                <a:ext uri="{FF2B5EF4-FFF2-40B4-BE49-F238E27FC236}">
                  <a16:creationId xmlns:a16="http://schemas.microsoft.com/office/drawing/2014/main" id="{D23B4BD1-72DD-5018-3EED-E2A085F70386}"/>
                </a:ext>
              </a:extLst>
            </p:cNvPr>
            <p:cNvSpPr/>
            <p:nvPr/>
          </p:nvSpPr>
          <p:spPr>
            <a:xfrm>
              <a:off x="11862510" y="2457704"/>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7" name="Gerader Verbinder 56">
              <a:extLst>
                <a:ext uri="{FF2B5EF4-FFF2-40B4-BE49-F238E27FC236}">
                  <a16:creationId xmlns:a16="http://schemas.microsoft.com/office/drawing/2014/main" id="{D7B0B34E-678C-B242-06D0-3AC02B907DBB}"/>
                </a:ext>
              </a:extLst>
            </p:cNvPr>
            <p:cNvCxnSpPr>
              <a:cxnSpLocks/>
            </p:cNvCxnSpPr>
            <p:nvPr/>
          </p:nvCxnSpPr>
          <p:spPr>
            <a:xfrm>
              <a:off x="11725317" y="2413241"/>
              <a:ext cx="145651"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58" name="Gerader Verbinder 57">
              <a:extLst>
                <a:ext uri="{FF2B5EF4-FFF2-40B4-BE49-F238E27FC236}">
                  <a16:creationId xmlns:a16="http://schemas.microsoft.com/office/drawing/2014/main" id="{D9E3AA12-8646-A0EB-4D0D-482DA2020A16}"/>
                </a:ext>
              </a:extLst>
            </p:cNvPr>
            <p:cNvCxnSpPr>
              <a:cxnSpLocks/>
            </p:cNvCxnSpPr>
            <p:nvPr/>
          </p:nvCxnSpPr>
          <p:spPr>
            <a:xfrm>
              <a:off x="11476115" y="2557485"/>
              <a:ext cx="145651"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Gerader Verbinder 58">
              <a:extLst>
                <a:ext uri="{FF2B5EF4-FFF2-40B4-BE49-F238E27FC236}">
                  <a16:creationId xmlns:a16="http://schemas.microsoft.com/office/drawing/2014/main" id="{C5568CB1-7BEC-6D14-2551-88F909521FE5}"/>
                </a:ext>
              </a:extLst>
            </p:cNvPr>
            <p:cNvCxnSpPr>
              <a:cxnSpLocks/>
              <a:stCxn id="54" idx="4"/>
              <a:endCxn id="55" idx="0"/>
            </p:cNvCxnSpPr>
            <p:nvPr/>
          </p:nvCxnSpPr>
          <p:spPr>
            <a:xfrm>
              <a:off x="11671898" y="2445150"/>
              <a:ext cx="0" cy="135381"/>
            </a:xfrm>
            <a:prstGeom prst="line">
              <a:avLst/>
            </a:prstGeom>
            <a:ln w="12700"/>
          </p:spPr>
          <p:style>
            <a:lnRef idx="1">
              <a:schemeClr val="dk1"/>
            </a:lnRef>
            <a:fillRef idx="0">
              <a:schemeClr val="dk1"/>
            </a:fillRef>
            <a:effectRef idx="0">
              <a:schemeClr val="dk1"/>
            </a:effectRef>
            <a:fontRef idx="minor">
              <a:schemeClr val="tx1"/>
            </a:fontRef>
          </p:style>
        </p:cxnSp>
      </p:grpSp>
      <p:grpSp>
        <p:nvGrpSpPr>
          <p:cNvPr id="74" name="Gruppieren 73">
            <a:extLst>
              <a:ext uri="{FF2B5EF4-FFF2-40B4-BE49-F238E27FC236}">
                <a16:creationId xmlns:a16="http://schemas.microsoft.com/office/drawing/2014/main" id="{8B660E27-B1D8-3158-E748-7A386320CCDE}"/>
              </a:ext>
            </a:extLst>
          </p:cNvPr>
          <p:cNvGrpSpPr/>
          <p:nvPr/>
        </p:nvGrpSpPr>
        <p:grpSpPr>
          <a:xfrm>
            <a:off x="9793751" y="2232000"/>
            <a:ext cx="828000" cy="432000"/>
            <a:chOff x="9793751" y="2315329"/>
            <a:chExt cx="828000" cy="432000"/>
          </a:xfrm>
        </p:grpSpPr>
        <p:sp>
          <p:nvSpPr>
            <p:cNvPr id="60" name="Rechteck 59">
              <a:extLst>
                <a:ext uri="{FF2B5EF4-FFF2-40B4-BE49-F238E27FC236}">
                  <a16:creationId xmlns:a16="http://schemas.microsoft.com/office/drawing/2014/main" id="{91DEFBBE-ED9E-C663-5846-CBBD158DE97F}"/>
                </a:ext>
              </a:extLst>
            </p:cNvPr>
            <p:cNvSpPr/>
            <p:nvPr/>
          </p:nvSpPr>
          <p:spPr>
            <a:xfrm>
              <a:off x="9793751" y="2315329"/>
              <a:ext cx="828000" cy="432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de-DE" sz="1400" dirty="0">
                <a:solidFill>
                  <a:schemeClr val="bg1">
                    <a:lumMod val="75000"/>
                  </a:schemeClr>
                </a:solidFill>
              </a:endParaRPr>
            </a:p>
          </p:txBody>
        </p:sp>
        <p:sp>
          <p:nvSpPr>
            <p:cNvPr id="62" name="Flussdiagramm: Verbinder 61">
              <a:extLst>
                <a:ext uri="{FF2B5EF4-FFF2-40B4-BE49-F238E27FC236}">
                  <a16:creationId xmlns:a16="http://schemas.microsoft.com/office/drawing/2014/main" id="{544CC9FC-A79C-F04C-9997-B27725499D27}"/>
                </a:ext>
              </a:extLst>
            </p:cNvPr>
            <p:cNvSpPr/>
            <p:nvPr/>
          </p:nvSpPr>
          <p:spPr>
            <a:xfrm>
              <a:off x="10154333" y="2351016"/>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Flussdiagramm: Verbinder 62">
              <a:extLst>
                <a:ext uri="{FF2B5EF4-FFF2-40B4-BE49-F238E27FC236}">
                  <a16:creationId xmlns:a16="http://schemas.microsoft.com/office/drawing/2014/main" id="{92BD59E5-956F-0B0B-3D40-8E07FBFFC5C9}"/>
                </a:ext>
              </a:extLst>
            </p:cNvPr>
            <p:cNvSpPr/>
            <p:nvPr/>
          </p:nvSpPr>
          <p:spPr>
            <a:xfrm>
              <a:off x="10154333" y="2599020"/>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4" name="Flussdiagramm: Verbinder 63">
              <a:extLst>
                <a:ext uri="{FF2B5EF4-FFF2-40B4-BE49-F238E27FC236}">
                  <a16:creationId xmlns:a16="http://schemas.microsoft.com/office/drawing/2014/main" id="{62EF9F3F-D5B5-5708-9827-52EB1A1684B2}"/>
                </a:ext>
              </a:extLst>
            </p:cNvPr>
            <p:cNvSpPr/>
            <p:nvPr/>
          </p:nvSpPr>
          <p:spPr>
            <a:xfrm>
              <a:off x="10398363" y="2476193"/>
              <a:ext cx="106837" cy="112623"/>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5" name="Gerader Verbinder 64">
              <a:extLst>
                <a:ext uri="{FF2B5EF4-FFF2-40B4-BE49-F238E27FC236}">
                  <a16:creationId xmlns:a16="http://schemas.microsoft.com/office/drawing/2014/main" id="{1FA646E6-9EA7-3E94-E670-3956E1C0B928}"/>
                </a:ext>
              </a:extLst>
            </p:cNvPr>
            <p:cNvCxnSpPr>
              <a:cxnSpLocks/>
            </p:cNvCxnSpPr>
            <p:nvPr/>
          </p:nvCxnSpPr>
          <p:spPr>
            <a:xfrm>
              <a:off x="10261170" y="2431730"/>
              <a:ext cx="145651" cy="60956"/>
            </a:xfrm>
            <a:prstGeom prst="line">
              <a:avLst/>
            </a:prstGeom>
            <a:ln w="12700"/>
          </p:spPr>
          <p:style>
            <a:lnRef idx="1">
              <a:schemeClr val="dk1"/>
            </a:lnRef>
            <a:fillRef idx="0">
              <a:schemeClr val="dk1"/>
            </a:fillRef>
            <a:effectRef idx="0">
              <a:schemeClr val="dk1"/>
            </a:effectRef>
            <a:fontRef idx="minor">
              <a:schemeClr val="tx1"/>
            </a:fontRef>
          </p:style>
        </p:cxnSp>
        <p:cxnSp>
          <p:nvCxnSpPr>
            <p:cNvPr id="67" name="Gerader Verbinder 66">
              <a:extLst>
                <a:ext uri="{FF2B5EF4-FFF2-40B4-BE49-F238E27FC236}">
                  <a16:creationId xmlns:a16="http://schemas.microsoft.com/office/drawing/2014/main" id="{0892F802-75B6-C3A2-8758-E17E8892A72D}"/>
                </a:ext>
              </a:extLst>
            </p:cNvPr>
            <p:cNvCxnSpPr>
              <a:cxnSpLocks/>
              <a:stCxn id="62" idx="4"/>
              <a:endCxn id="63" idx="0"/>
            </p:cNvCxnSpPr>
            <p:nvPr/>
          </p:nvCxnSpPr>
          <p:spPr>
            <a:xfrm>
              <a:off x="10207751" y="2463639"/>
              <a:ext cx="0" cy="135381"/>
            </a:xfrm>
            <a:prstGeom prst="line">
              <a:avLst/>
            </a:prstGeom>
            <a:ln w="12700"/>
          </p:spPr>
          <p:style>
            <a:lnRef idx="1">
              <a:schemeClr val="dk1"/>
            </a:lnRef>
            <a:fillRef idx="0">
              <a:schemeClr val="dk1"/>
            </a:fillRef>
            <a:effectRef idx="0">
              <a:schemeClr val="dk1"/>
            </a:effectRef>
            <a:fontRef idx="minor">
              <a:schemeClr val="tx1"/>
            </a:fontRef>
          </p:style>
        </p:cxnSp>
      </p:grpSp>
      <p:sp>
        <p:nvSpPr>
          <p:cNvPr id="71" name="Textfeld 70">
            <a:extLst>
              <a:ext uri="{FF2B5EF4-FFF2-40B4-BE49-F238E27FC236}">
                <a16:creationId xmlns:a16="http://schemas.microsoft.com/office/drawing/2014/main" id="{DF077C23-BC0A-8010-F031-02D41DB8A9AF}"/>
              </a:ext>
            </a:extLst>
          </p:cNvPr>
          <p:cNvSpPr txBox="1"/>
          <p:nvPr/>
        </p:nvSpPr>
        <p:spPr>
          <a:xfrm>
            <a:off x="10597432" y="2216017"/>
            <a:ext cx="674527" cy="369332"/>
          </a:xfrm>
          <a:prstGeom prst="rect">
            <a:avLst/>
          </a:prstGeom>
          <a:noFill/>
        </p:spPr>
        <p:txBody>
          <a:bodyPr wrap="square" rtlCol="0" anchor="ctr">
            <a:spAutoFit/>
          </a:bodyPr>
          <a:lstStyle/>
          <a:p>
            <a:pPr algn="ctr"/>
            <a:r>
              <a:rPr lang="de-DE" dirty="0"/>
              <a:t>…</a:t>
            </a:r>
          </a:p>
        </p:txBody>
      </p:sp>
      <p:sp>
        <p:nvSpPr>
          <p:cNvPr id="72" name="Rechteck 71">
            <a:extLst>
              <a:ext uri="{FF2B5EF4-FFF2-40B4-BE49-F238E27FC236}">
                <a16:creationId xmlns:a16="http://schemas.microsoft.com/office/drawing/2014/main" id="{58EF3CBC-EF63-390C-B2EC-915A5220D508}"/>
              </a:ext>
            </a:extLst>
          </p:cNvPr>
          <p:cNvSpPr/>
          <p:nvPr/>
        </p:nvSpPr>
        <p:spPr>
          <a:xfrm>
            <a:off x="8797587" y="295789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76" name="Rechteck 75">
            <a:extLst>
              <a:ext uri="{FF2B5EF4-FFF2-40B4-BE49-F238E27FC236}">
                <a16:creationId xmlns:a16="http://schemas.microsoft.com/office/drawing/2014/main" id="{9E341BF6-C26E-D98F-C44A-45D1D6BF84BC}"/>
              </a:ext>
            </a:extLst>
          </p:cNvPr>
          <p:cNvSpPr/>
          <p:nvPr/>
        </p:nvSpPr>
        <p:spPr>
          <a:xfrm>
            <a:off x="9794944" y="2957897"/>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77" name="Rechteck 76">
            <a:extLst>
              <a:ext uri="{FF2B5EF4-FFF2-40B4-BE49-F238E27FC236}">
                <a16:creationId xmlns:a16="http://schemas.microsoft.com/office/drawing/2014/main" id="{7478FC0A-8243-3E22-A5DF-582444FE9A79}"/>
              </a:ext>
            </a:extLst>
          </p:cNvPr>
          <p:cNvSpPr/>
          <p:nvPr/>
        </p:nvSpPr>
        <p:spPr>
          <a:xfrm>
            <a:off x="11257312" y="2957896"/>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78" name="Rechteck 77">
            <a:extLst>
              <a:ext uri="{FF2B5EF4-FFF2-40B4-BE49-F238E27FC236}">
                <a16:creationId xmlns:a16="http://schemas.microsoft.com/office/drawing/2014/main" id="{2DE12934-0562-2BEE-3F22-16AF6557F622}"/>
              </a:ext>
            </a:extLst>
          </p:cNvPr>
          <p:cNvSpPr/>
          <p:nvPr/>
        </p:nvSpPr>
        <p:spPr>
          <a:xfrm>
            <a:off x="7169572" y="2957897"/>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Q-Former</a:t>
            </a:r>
          </a:p>
        </p:txBody>
      </p:sp>
      <p:sp>
        <p:nvSpPr>
          <p:cNvPr id="79" name="Rechteck 78">
            <a:extLst>
              <a:ext uri="{FF2B5EF4-FFF2-40B4-BE49-F238E27FC236}">
                <a16:creationId xmlns:a16="http://schemas.microsoft.com/office/drawing/2014/main" id="{81C1F4F1-ADD2-23E2-83CF-DFA71E13C24E}"/>
              </a:ext>
            </a:extLst>
          </p:cNvPr>
          <p:cNvSpPr/>
          <p:nvPr/>
        </p:nvSpPr>
        <p:spPr>
          <a:xfrm>
            <a:off x="7196913" y="3972522"/>
            <a:ext cx="826807" cy="432633"/>
          </a:xfrm>
          <a:custGeom>
            <a:avLst/>
            <a:gdLst>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6807"/>
              <a:gd name="connsiteY0" fmla="*/ 0 h 432633"/>
              <a:gd name="connsiteX1" fmla="*/ 648639 w 826807"/>
              <a:gd name="connsiteY1" fmla="*/ 2070 h 432633"/>
              <a:gd name="connsiteX2" fmla="*/ 826807 w 826807"/>
              <a:gd name="connsiteY2" fmla="*/ 0 h 432633"/>
              <a:gd name="connsiteX3" fmla="*/ 826807 w 826807"/>
              <a:gd name="connsiteY3" fmla="*/ 432633 h 432633"/>
              <a:gd name="connsiteX4" fmla="*/ 0 w 826807"/>
              <a:gd name="connsiteY4" fmla="*/ 432633 h 432633"/>
              <a:gd name="connsiteX5" fmla="*/ 0 w 826807"/>
              <a:gd name="connsiteY5" fmla="*/ 0 h 432633"/>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807" h="432633">
                <a:moveTo>
                  <a:pt x="0" y="0"/>
                </a:moveTo>
                <a:lnTo>
                  <a:pt x="826807" y="0"/>
                </a:lnTo>
                <a:lnTo>
                  <a:pt x="826807" y="432633"/>
                </a:lnTo>
                <a:lnTo>
                  <a:pt x="0" y="432633"/>
                </a:lnTo>
                <a:lnTo>
                  <a:pt x="0" y="0"/>
                </a:lnTo>
                <a:close/>
              </a:path>
            </a:pathLst>
          </a:cu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80" name="Rechteck 79">
            <a:extLst>
              <a:ext uri="{FF2B5EF4-FFF2-40B4-BE49-F238E27FC236}">
                <a16:creationId xmlns:a16="http://schemas.microsoft.com/office/drawing/2014/main" id="{A06619A4-0BEA-65CD-4866-17F8833C19AB}"/>
              </a:ext>
            </a:extLst>
          </p:cNvPr>
          <p:cNvSpPr/>
          <p:nvPr/>
        </p:nvSpPr>
        <p:spPr>
          <a:xfrm>
            <a:off x="6092446" y="826663"/>
            <a:ext cx="597600" cy="237600"/>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600" dirty="0">
                <a:solidFill>
                  <a:schemeClr val="tx1"/>
                </a:solidFill>
              </a:rPr>
              <a:t>Embedding</a:t>
            </a:r>
          </a:p>
        </p:txBody>
      </p:sp>
      <p:sp>
        <p:nvSpPr>
          <p:cNvPr id="81" name="Rechteck 80">
            <a:extLst>
              <a:ext uri="{FF2B5EF4-FFF2-40B4-BE49-F238E27FC236}">
                <a16:creationId xmlns:a16="http://schemas.microsoft.com/office/drawing/2014/main" id="{4AAC0812-586A-A0BF-C5CD-4FA77D3ACBA6}"/>
              </a:ext>
            </a:extLst>
          </p:cNvPr>
          <p:cNvSpPr/>
          <p:nvPr/>
        </p:nvSpPr>
        <p:spPr>
          <a:xfrm>
            <a:off x="6097841" y="1101329"/>
            <a:ext cx="596822" cy="23836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600" dirty="0">
                <a:solidFill>
                  <a:schemeClr val="tx1"/>
                </a:solidFill>
              </a:rPr>
              <a:t>Attention</a:t>
            </a:r>
          </a:p>
        </p:txBody>
      </p:sp>
      <p:sp>
        <p:nvSpPr>
          <p:cNvPr id="82" name="Rechteck 81">
            <a:extLst>
              <a:ext uri="{FF2B5EF4-FFF2-40B4-BE49-F238E27FC236}">
                <a16:creationId xmlns:a16="http://schemas.microsoft.com/office/drawing/2014/main" id="{FD2D958E-CDDB-5192-725A-769743FED9DD}"/>
              </a:ext>
            </a:extLst>
          </p:cNvPr>
          <p:cNvSpPr/>
          <p:nvPr/>
        </p:nvSpPr>
        <p:spPr>
          <a:xfrm>
            <a:off x="10024185" y="3954392"/>
            <a:ext cx="826807" cy="43263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83" name="Rechteck 82">
            <a:extLst>
              <a:ext uri="{FF2B5EF4-FFF2-40B4-BE49-F238E27FC236}">
                <a16:creationId xmlns:a16="http://schemas.microsoft.com/office/drawing/2014/main" id="{A6A2C15F-FA1C-9913-E47A-107B214187C0}"/>
              </a:ext>
            </a:extLst>
          </p:cNvPr>
          <p:cNvSpPr/>
          <p:nvPr/>
        </p:nvSpPr>
        <p:spPr>
          <a:xfrm>
            <a:off x="9240553" y="5120683"/>
            <a:ext cx="826807" cy="432633"/>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84" name="Rechteck 83">
            <a:extLst>
              <a:ext uri="{FF2B5EF4-FFF2-40B4-BE49-F238E27FC236}">
                <a16:creationId xmlns:a16="http://schemas.microsoft.com/office/drawing/2014/main" id="{F3FAF034-0703-8E21-EE1C-9D47A92765D5}"/>
              </a:ext>
            </a:extLst>
          </p:cNvPr>
          <p:cNvSpPr/>
          <p:nvPr/>
        </p:nvSpPr>
        <p:spPr>
          <a:xfrm>
            <a:off x="8791060" y="3556167"/>
            <a:ext cx="3293059" cy="1902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Concatenate</a:t>
            </a:r>
            <a:endParaRPr lang="de-DE" sz="1000" dirty="0">
              <a:solidFill>
                <a:schemeClr val="tx1"/>
              </a:solidFill>
            </a:endParaRPr>
          </a:p>
        </p:txBody>
      </p:sp>
      <p:sp>
        <p:nvSpPr>
          <p:cNvPr id="85" name="Rechteck 84">
            <a:extLst>
              <a:ext uri="{FF2B5EF4-FFF2-40B4-BE49-F238E27FC236}">
                <a16:creationId xmlns:a16="http://schemas.microsoft.com/office/drawing/2014/main" id="{13E55CA7-185C-E2A3-3751-F0AF01CC5AF2}"/>
              </a:ext>
            </a:extLst>
          </p:cNvPr>
          <p:cNvSpPr/>
          <p:nvPr/>
        </p:nvSpPr>
        <p:spPr>
          <a:xfrm>
            <a:off x="8791060" y="4595005"/>
            <a:ext cx="3293059" cy="1902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Split</a:t>
            </a:r>
          </a:p>
        </p:txBody>
      </p:sp>
      <p:sp>
        <p:nvSpPr>
          <p:cNvPr id="86" name="Rechteck 85">
            <a:extLst>
              <a:ext uri="{FF2B5EF4-FFF2-40B4-BE49-F238E27FC236}">
                <a16:creationId xmlns:a16="http://schemas.microsoft.com/office/drawing/2014/main" id="{F6C6F268-AE2A-113A-896E-128D4C990E3F}"/>
              </a:ext>
            </a:extLst>
          </p:cNvPr>
          <p:cNvSpPr/>
          <p:nvPr/>
        </p:nvSpPr>
        <p:spPr>
          <a:xfrm>
            <a:off x="10732714" y="5118735"/>
            <a:ext cx="826807" cy="434581"/>
          </a:xfrm>
          <a:custGeom>
            <a:avLst/>
            <a:gdLst>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6807"/>
              <a:gd name="connsiteY0" fmla="*/ 1948 h 434581"/>
              <a:gd name="connsiteX1" fmla="*/ 626801 w 826807"/>
              <a:gd name="connsiteY1" fmla="*/ 0 h 434581"/>
              <a:gd name="connsiteX2" fmla="*/ 826807 w 826807"/>
              <a:gd name="connsiteY2" fmla="*/ 1948 h 434581"/>
              <a:gd name="connsiteX3" fmla="*/ 826807 w 826807"/>
              <a:gd name="connsiteY3" fmla="*/ 434581 h 434581"/>
              <a:gd name="connsiteX4" fmla="*/ 0 w 826807"/>
              <a:gd name="connsiteY4" fmla="*/ 434581 h 434581"/>
              <a:gd name="connsiteX5" fmla="*/ 0 w 826807"/>
              <a:gd name="connsiteY5" fmla="*/ 1948 h 434581"/>
              <a:gd name="connsiteX0" fmla="*/ 0 w 826807"/>
              <a:gd name="connsiteY0" fmla="*/ 1948 h 434581"/>
              <a:gd name="connsiteX1" fmla="*/ 291521 w 826807"/>
              <a:gd name="connsiteY1" fmla="*/ 1905 h 434581"/>
              <a:gd name="connsiteX2" fmla="*/ 626801 w 826807"/>
              <a:gd name="connsiteY2" fmla="*/ 0 h 434581"/>
              <a:gd name="connsiteX3" fmla="*/ 826807 w 826807"/>
              <a:gd name="connsiteY3" fmla="*/ 1948 h 434581"/>
              <a:gd name="connsiteX4" fmla="*/ 826807 w 826807"/>
              <a:gd name="connsiteY4" fmla="*/ 434581 h 434581"/>
              <a:gd name="connsiteX5" fmla="*/ 0 w 826807"/>
              <a:gd name="connsiteY5" fmla="*/ 434581 h 434581"/>
              <a:gd name="connsiteX6" fmla="*/ 0 w 826807"/>
              <a:gd name="connsiteY6" fmla="*/ 1948 h 434581"/>
              <a:gd name="connsiteX0" fmla="*/ 0 w 826807"/>
              <a:gd name="connsiteY0" fmla="*/ 1948 h 434581"/>
              <a:gd name="connsiteX1" fmla="*/ 198176 w 826807"/>
              <a:gd name="connsiteY1" fmla="*/ 0 h 434581"/>
              <a:gd name="connsiteX2" fmla="*/ 626801 w 826807"/>
              <a:gd name="connsiteY2" fmla="*/ 0 h 434581"/>
              <a:gd name="connsiteX3" fmla="*/ 826807 w 826807"/>
              <a:gd name="connsiteY3" fmla="*/ 1948 h 434581"/>
              <a:gd name="connsiteX4" fmla="*/ 826807 w 826807"/>
              <a:gd name="connsiteY4" fmla="*/ 434581 h 434581"/>
              <a:gd name="connsiteX5" fmla="*/ 0 w 826807"/>
              <a:gd name="connsiteY5" fmla="*/ 434581 h 434581"/>
              <a:gd name="connsiteX6" fmla="*/ 0 w 826807"/>
              <a:gd name="connsiteY6" fmla="*/ 1948 h 43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6807" h="434581">
                <a:moveTo>
                  <a:pt x="0" y="1948"/>
                </a:moveTo>
                <a:lnTo>
                  <a:pt x="198176" y="0"/>
                </a:lnTo>
                <a:lnTo>
                  <a:pt x="626801" y="0"/>
                </a:lnTo>
                <a:lnTo>
                  <a:pt x="826807" y="1948"/>
                </a:lnTo>
                <a:lnTo>
                  <a:pt x="826807" y="434581"/>
                </a:lnTo>
                <a:lnTo>
                  <a:pt x="0" y="434581"/>
                </a:lnTo>
                <a:lnTo>
                  <a:pt x="0" y="1948"/>
                </a:lnTo>
                <a:close/>
              </a:path>
            </a:pathLst>
          </a:cu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87" name="Rechteck 86">
            <a:extLst>
              <a:ext uri="{FF2B5EF4-FFF2-40B4-BE49-F238E27FC236}">
                <a16:creationId xmlns:a16="http://schemas.microsoft.com/office/drawing/2014/main" id="{C6FCEC7D-255C-A643-ED5A-9AC938E4EC72}"/>
              </a:ext>
            </a:extLst>
          </p:cNvPr>
          <p:cNvSpPr/>
          <p:nvPr/>
        </p:nvSpPr>
        <p:spPr>
          <a:xfrm>
            <a:off x="7196401" y="5553316"/>
            <a:ext cx="827460" cy="432633"/>
          </a:xfrm>
          <a:custGeom>
            <a:avLst/>
            <a:gdLst>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7460"/>
              <a:gd name="connsiteY0" fmla="*/ 0 h 432633"/>
              <a:gd name="connsiteX1" fmla="*/ 826807 w 827460"/>
              <a:gd name="connsiteY1" fmla="*/ 0 h 432633"/>
              <a:gd name="connsiteX2" fmla="*/ 827460 w 827460"/>
              <a:gd name="connsiteY2" fmla="*/ 138824 h 432633"/>
              <a:gd name="connsiteX3" fmla="*/ 826807 w 827460"/>
              <a:gd name="connsiteY3" fmla="*/ 432633 h 432633"/>
              <a:gd name="connsiteX4" fmla="*/ 0 w 827460"/>
              <a:gd name="connsiteY4" fmla="*/ 432633 h 432633"/>
              <a:gd name="connsiteX5" fmla="*/ 0 w 827460"/>
              <a:gd name="connsiteY5" fmla="*/ 0 h 432633"/>
              <a:gd name="connsiteX0" fmla="*/ 0 w 827460"/>
              <a:gd name="connsiteY0" fmla="*/ 0 h 432633"/>
              <a:gd name="connsiteX1" fmla="*/ 438839 w 827460"/>
              <a:gd name="connsiteY1" fmla="*/ 1664 h 432633"/>
              <a:gd name="connsiteX2" fmla="*/ 826807 w 827460"/>
              <a:gd name="connsiteY2" fmla="*/ 0 h 432633"/>
              <a:gd name="connsiteX3" fmla="*/ 827460 w 827460"/>
              <a:gd name="connsiteY3" fmla="*/ 138824 h 432633"/>
              <a:gd name="connsiteX4" fmla="*/ 826807 w 827460"/>
              <a:gd name="connsiteY4" fmla="*/ 432633 h 432633"/>
              <a:gd name="connsiteX5" fmla="*/ 0 w 827460"/>
              <a:gd name="connsiteY5" fmla="*/ 432633 h 432633"/>
              <a:gd name="connsiteX6" fmla="*/ 0 w 827460"/>
              <a:gd name="connsiteY6" fmla="*/ 0 h 432633"/>
              <a:gd name="connsiteX0" fmla="*/ 0 w 827460"/>
              <a:gd name="connsiteY0" fmla="*/ 0 h 432633"/>
              <a:gd name="connsiteX1" fmla="*/ 412169 w 827460"/>
              <a:gd name="connsiteY1" fmla="*/ 1664 h 432633"/>
              <a:gd name="connsiteX2" fmla="*/ 826807 w 827460"/>
              <a:gd name="connsiteY2" fmla="*/ 0 h 432633"/>
              <a:gd name="connsiteX3" fmla="*/ 827460 w 827460"/>
              <a:gd name="connsiteY3" fmla="*/ 138824 h 432633"/>
              <a:gd name="connsiteX4" fmla="*/ 826807 w 827460"/>
              <a:gd name="connsiteY4" fmla="*/ 432633 h 432633"/>
              <a:gd name="connsiteX5" fmla="*/ 0 w 827460"/>
              <a:gd name="connsiteY5" fmla="*/ 432633 h 432633"/>
              <a:gd name="connsiteX6" fmla="*/ 0 w 827460"/>
              <a:gd name="connsiteY6" fmla="*/ 0 h 4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7460" h="432633">
                <a:moveTo>
                  <a:pt x="0" y="0"/>
                </a:moveTo>
                <a:lnTo>
                  <a:pt x="412169" y="1664"/>
                </a:lnTo>
                <a:lnTo>
                  <a:pt x="826807" y="0"/>
                </a:lnTo>
                <a:cubicBezTo>
                  <a:pt x="827025" y="46275"/>
                  <a:pt x="827242" y="92549"/>
                  <a:pt x="827460" y="138824"/>
                </a:cubicBezTo>
                <a:cubicBezTo>
                  <a:pt x="827242" y="236760"/>
                  <a:pt x="827025" y="334697"/>
                  <a:pt x="826807" y="432633"/>
                </a:cubicBezTo>
                <a:lnTo>
                  <a:pt x="0" y="432633"/>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LLM</a:t>
            </a:r>
          </a:p>
        </p:txBody>
      </p:sp>
      <p:sp>
        <p:nvSpPr>
          <p:cNvPr id="88" name="Rechteck 87">
            <a:extLst>
              <a:ext uri="{FF2B5EF4-FFF2-40B4-BE49-F238E27FC236}">
                <a16:creationId xmlns:a16="http://schemas.microsoft.com/office/drawing/2014/main" id="{1C896328-1820-0F09-36B0-FA0B762350EF}"/>
              </a:ext>
            </a:extLst>
          </p:cNvPr>
          <p:cNvSpPr/>
          <p:nvPr/>
        </p:nvSpPr>
        <p:spPr>
          <a:xfrm>
            <a:off x="6124294" y="2957896"/>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900" dirty="0">
                <a:solidFill>
                  <a:schemeClr val="tx1"/>
                </a:solidFill>
              </a:rPr>
              <a:t>Disease Query</a:t>
            </a:r>
          </a:p>
        </p:txBody>
      </p:sp>
      <p:cxnSp>
        <p:nvCxnSpPr>
          <p:cNvPr id="90" name="Gerade Verbindung mit Pfeil 89">
            <a:extLst>
              <a:ext uri="{FF2B5EF4-FFF2-40B4-BE49-F238E27FC236}">
                <a16:creationId xmlns:a16="http://schemas.microsoft.com/office/drawing/2014/main" id="{88D13AEB-BF32-506A-A369-4A2CAE4E362C}"/>
              </a:ext>
            </a:extLst>
          </p:cNvPr>
          <p:cNvCxnSpPr>
            <a:stCxn id="4" idx="2"/>
            <a:endCxn id="16" idx="0"/>
          </p:cNvCxnSpPr>
          <p:nvPr/>
        </p:nvCxnSpPr>
        <p:spPr>
          <a:xfrm flipH="1">
            <a:off x="7582977" y="1877383"/>
            <a:ext cx="1" cy="352719"/>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1" name="Gerade Verbindung mit Pfeil 90">
            <a:extLst>
              <a:ext uri="{FF2B5EF4-FFF2-40B4-BE49-F238E27FC236}">
                <a16:creationId xmlns:a16="http://schemas.microsoft.com/office/drawing/2014/main" id="{68C4B277-9F80-E20F-03B0-2108D9CB968E}"/>
              </a:ext>
            </a:extLst>
          </p:cNvPr>
          <p:cNvCxnSpPr>
            <a:cxnSpLocks/>
            <a:stCxn id="16" idx="2"/>
            <a:endCxn id="78" idx="0"/>
          </p:cNvCxnSpPr>
          <p:nvPr/>
        </p:nvCxnSpPr>
        <p:spPr>
          <a:xfrm flipH="1">
            <a:off x="7582976" y="2662735"/>
            <a:ext cx="1" cy="295162"/>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4" name="Gerade Verbindung mit Pfeil 93">
            <a:extLst>
              <a:ext uri="{FF2B5EF4-FFF2-40B4-BE49-F238E27FC236}">
                <a16:creationId xmlns:a16="http://schemas.microsoft.com/office/drawing/2014/main" id="{7C233B3F-DA62-45B3-1AFD-0417ED61B18A}"/>
              </a:ext>
            </a:extLst>
          </p:cNvPr>
          <p:cNvCxnSpPr>
            <a:cxnSpLocks/>
            <a:stCxn id="88" idx="3"/>
            <a:endCxn id="78" idx="1"/>
          </p:cNvCxnSpPr>
          <p:nvPr/>
        </p:nvCxnSpPr>
        <p:spPr>
          <a:xfrm>
            <a:off x="6951101" y="3174213"/>
            <a:ext cx="218471" cy="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98" name="Gerade Verbindung mit Pfeil 97">
            <a:extLst>
              <a:ext uri="{FF2B5EF4-FFF2-40B4-BE49-F238E27FC236}">
                <a16:creationId xmlns:a16="http://schemas.microsoft.com/office/drawing/2014/main" id="{E01BF707-A8BE-C29A-5CED-E80973D69232}"/>
              </a:ext>
            </a:extLst>
          </p:cNvPr>
          <p:cNvCxnSpPr>
            <a:cxnSpLocks/>
          </p:cNvCxnSpPr>
          <p:nvPr/>
        </p:nvCxnSpPr>
        <p:spPr>
          <a:xfrm>
            <a:off x="7329417" y="3386364"/>
            <a:ext cx="0" cy="586158"/>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2" name="Verbinder: gewinkelt 101">
            <a:extLst>
              <a:ext uri="{FF2B5EF4-FFF2-40B4-BE49-F238E27FC236}">
                <a16:creationId xmlns:a16="http://schemas.microsoft.com/office/drawing/2014/main" id="{B2237542-7DF9-5D60-A2D5-8EDC3EABD4B7}"/>
              </a:ext>
            </a:extLst>
          </p:cNvPr>
          <p:cNvCxnSpPr>
            <a:cxnSpLocks/>
          </p:cNvCxnSpPr>
          <p:nvPr/>
        </p:nvCxnSpPr>
        <p:spPr>
          <a:xfrm rot="5400000">
            <a:off x="6750009" y="2318970"/>
            <a:ext cx="2487085" cy="807174"/>
          </a:xfrm>
          <a:prstGeom prst="bentConnector3">
            <a:avLst>
              <a:gd name="adj1" fmla="val 88400"/>
            </a:avLst>
          </a:prstGeom>
          <a:ln w="12700">
            <a:tailEnd type="triangle"/>
          </a:ln>
        </p:spPr>
        <p:style>
          <a:lnRef idx="1">
            <a:schemeClr val="dk1"/>
          </a:lnRef>
          <a:fillRef idx="0">
            <a:schemeClr val="dk1"/>
          </a:fillRef>
          <a:effectRef idx="0">
            <a:schemeClr val="dk1"/>
          </a:effectRef>
          <a:fontRef idx="minor">
            <a:schemeClr val="tx1"/>
          </a:fontRef>
        </p:style>
      </p:cxnSp>
      <p:cxnSp>
        <p:nvCxnSpPr>
          <p:cNvPr id="119" name="Gerader Verbinder 118">
            <a:extLst>
              <a:ext uri="{FF2B5EF4-FFF2-40B4-BE49-F238E27FC236}">
                <a16:creationId xmlns:a16="http://schemas.microsoft.com/office/drawing/2014/main" id="{22DD79B9-4E9B-AF9F-9CC9-8BE87ACA8154}"/>
              </a:ext>
            </a:extLst>
          </p:cNvPr>
          <p:cNvCxnSpPr>
            <a:cxnSpLocks/>
            <a:stCxn id="19" idx="1"/>
          </p:cNvCxnSpPr>
          <p:nvPr/>
        </p:nvCxnSpPr>
        <p:spPr>
          <a:xfrm flipH="1">
            <a:off x="8397138" y="1479012"/>
            <a:ext cx="1186786"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23" name="Gerade Verbindung mit Pfeil 122">
            <a:extLst>
              <a:ext uri="{FF2B5EF4-FFF2-40B4-BE49-F238E27FC236}">
                <a16:creationId xmlns:a16="http://schemas.microsoft.com/office/drawing/2014/main" id="{2E9F3A10-C817-DD20-F11B-C78203E820B9}"/>
              </a:ext>
            </a:extLst>
          </p:cNvPr>
          <p:cNvCxnSpPr>
            <a:cxnSpLocks/>
          </p:cNvCxnSpPr>
          <p:nvPr/>
        </p:nvCxnSpPr>
        <p:spPr>
          <a:xfrm>
            <a:off x="7863668" y="3679443"/>
            <a:ext cx="0" cy="286655"/>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29" name="Gerade Verbindung mit Pfeil 128">
            <a:extLst>
              <a:ext uri="{FF2B5EF4-FFF2-40B4-BE49-F238E27FC236}">
                <a16:creationId xmlns:a16="http://schemas.microsoft.com/office/drawing/2014/main" id="{0B1C3347-C7F2-8BE5-442C-0099C9E17244}"/>
              </a:ext>
            </a:extLst>
          </p:cNvPr>
          <p:cNvCxnSpPr>
            <a:cxnSpLocks/>
            <a:endCxn id="60" idx="0"/>
          </p:cNvCxnSpPr>
          <p:nvPr/>
        </p:nvCxnSpPr>
        <p:spPr>
          <a:xfrm>
            <a:off x="10207751" y="1892299"/>
            <a:ext cx="0" cy="339701"/>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8" name="Verbinder: gewinkelt 137">
            <a:extLst>
              <a:ext uri="{FF2B5EF4-FFF2-40B4-BE49-F238E27FC236}">
                <a16:creationId xmlns:a16="http://schemas.microsoft.com/office/drawing/2014/main" id="{E8C27B88-A5B2-899C-08D1-DB4388059362}"/>
              </a:ext>
            </a:extLst>
          </p:cNvPr>
          <p:cNvCxnSpPr>
            <a:cxnSpLocks/>
            <a:endCxn id="52" idx="0"/>
          </p:cNvCxnSpPr>
          <p:nvPr/>
        </p:nvCxnSpPr>
        <p:spPr>
          <a:xfrm>
            <a:off x="11149903" y="1757371"/>
            <a:ext cx="521995" cy="474629"/>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141" name="Verbinder: gewinkelt 140">
            <a:extLst>
              <a:ext uri="{FF2B5EF4-FFF2-40B4-BE49-F238E27FC236}">
                <a16:creationId xmlns:a16="http://schemas.microsoft.com/office/drawing/2014/main" id="{5B8E6DEE-717B-A52E-D536-9C25E8F9D2D9}"/>
              </a:ext>
            </a:extLst>
          </p:cNvPr>
          <p:cNvCxnSpPr>
            <a:cxnSpLocks/>
            <a:endCxn id="42" idx="0"/>
          </p:cNvCxnSpPr>
          <p:nvPr/>
        </p:nvCxnSpPr>
        <p:spPr>
          <a:xfrm rot="5400000">
            <a:off x="9158835" y="1810695"/>
            <a:ext cx="474629" cy="367981"/>
          </a:xfrm>
          <a:prstGeom prst="bentConnector3">
            <a:avLst>
              <a:gd name="adj1" fmla="val 1301"/>
            </a:avLst>
          </a:prstGeom>
          <a:ln w="12700">
            <a:tailEnd type="triangle"/>
          </a:ln>
        </p:spPr>
        <p:style>
          <a:lnRef idx="1">
            <a:schemeClr val="dk1"/>
          </a:lnRef>
          <a:fillRef idx="0">
            <a:schemeClr val="dk1"/>
          </a:fillRef>
          <a:effectRef idx="0">
            <a:schemeClr val="dk1"/>
          </a:effectRef>
          <a:fontRef idx="minor">
            <a:schemeClr val="tx1"/>
          </a:fontRef>
        </p:style>
      </p:cxnSp>
      <p:cxnSp>
        <p:nvCxnSpPr>
          <p:cNvPr id="150" name="Gerade Verbindung mit Pfeil 149">
            <a:extLst>
              <a:ext uri="{FF2B5EF4-FFF2-40B4-BE49-F238E27FC236}">
                <a16:creationId xmlns:a16="http://schemas.microsoft.com/office/drawing/2014/main" id="{FE769E2C-D911-F20E-856F-1CAD1695E8AF}"/>
              </a:ext>
            </a:extLst>
          </p:cNvPr>
          <p:cNvCxnSpPr>
            <a:cxnSpLocks/>
            <a:stCxn id="60" idx="2"/>
            <a:endCxn id="76" idx="0"/>
          </p:cNvCxnSpPr>
          <p:nvPr/>
        </p:nvCxnSpPr>
        <p:spPr>
          <a:xfrm>
            <a:off x="10207751" y="2664000"/>
            <a:ext cx="597" cy="293897"/>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3" name="Gerade Verbindung mit Pfeil 152">
            <a:extLst>
              <a:ext uri="{FF2B5EF4-FFF2-40B4-BE49-F238E27FC236}">
                <a16:creationId xmlns:a16="http://schemas.microsoft.com/office/drawing/2014/main" id="{EBF4C4F4-BEC1-AB2E-DB01-896BE587AB24}"/>
              </a:ext>
            </a:extLst>
          </p:cNvPr>
          <p:cNvCxnSpPr>
            <a:cxnSpLocks/>
            <a:stCxn id="52" idx="2"/>
            <a:endCxn id="77" idx="0"/>
          </p:cNvCxnSpPr>
          <p:nvPr/>
        </p:nvCxnSpPr>
        <p:spPr>
          <a:xfrm flipH="1">
            <a:off x="11670716" y="2664000"/>
            <a:ext cx="1182" cy="293896"/>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6" name="Gerade Verbindung mit Pfeil 155">
            <a:extLst>
              <a:ext uri="{FF2B5EF4-FFF2-40B4-BE49-F238E27FC236}">
                <a16:creationId xmlns:a16="http://schemas.microsoft.com/office/drawing/2014/main" id="{A51047E9-001E-D320-8C0C-725A6249F93F}"/>
              </a:ext>
            </a:extLst>
          </p:cNvPr>
          <p:cNvCxnSpPr>
            <a:cxnSpLocks/>
            <a:stCxn id="42" idx="2"/>
            <a:endCxn id="72" idx="0"/>
          </p:cNvCxnSpPr>
          <p:nvPr/>
        </p:nvCxnSpPr>
        <p:spPr>
          <a:xfrm flipH="1">
            <a:off x="9210991" y="2664000"/>
            <a:ext cx="1167" cy="293898"/>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59" name="Gerade Verbindung mit Pfeil 158">
            <a:extLst>
              <a:ext uri="{FF2B5EF4-FFF2-40B4-BE49-F238E27FC236}">
                <a16:creationId xmlns:a16="http://schemas.microsoft.com/office/drawing/2014/main" id="{018AA2BA-DFAF-223E-7026-CC0C75DE0C74}"/>
              </a:ext>
            </a:extLst>
          </p:cNvPr>
          <p:cNvCxnSpPr>
            <a:cxnSpLocks/>
            <a:stCxn id="72" idx="2"/>
          </p:cNvCxnSpPr>
          <p:nvPr/>
        </p:nvCxnSpPr>
        <p:spPr>
          <a:xfrm>
            <a:off x="9210991" y="3390531"/>
            <a:ext cx="0" cy="165636"/>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2" name="Gerade Verbindung mit Pfeil 161">
            <a:extLst>
              <a:ext uri="{FF2B5EF4-FFF2-40B4-BE49-F238E27FC236}">
                <a16:creationId xmlns:a16="http://schemas.microsoft.com/office/drawing/2014/main" id="{B9BAF60F-F459-1867-D455-38DB50210700}"/>
              </a:ext>
            </a:extLst>
          </p:cNvPr>
          <p:cNvCxnSpPr>
            <a:cxnSpLocks/>
            <a:stCxn id="76" idx="2"/>
          </p:cNvCxnSpPr>
          <p:nvPr/>
        </p:nvCxnSpPr>
        <p:spPr>
          <a:xfrm>
            <a:off x="10208348" y="3390530"/>
            <a:ext cx="0" cy="165637"/>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5" name="Gerade Verbindung mit Pfeil 164">
            <a:extLst>
              <a:ext uri="{FF2B5EF4-FFF2-40B4-BE49-F238E27FC236}">
                <a16:creationId xmlns:a16="http://schemas.microsoft.com/office/drawing/2014/main" id="{5DF84F7E-8714-6BC6-AC7C-EF4CF9B21A17}"/>
              </a:ext>
            </a:extLst>
          </p:cNvPr>
          <p:cNvCxnSpPr>
            <a:cxnSpLocks/>
            <a:stCxn id="77" idx="2"/>
          </p:cNvCxnSpPr>
          <p:nvPr/>
        </p:nvCxnSpPr>
        <p:spPr>
          <a:xfrm>
            <a:off x="11670716" y="3390529"/>
            <a:ext cx="0" cy="165638"/>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9" name="Gerade Verbindung mit Pfeil 168">
            <a:extLst>
              <a:ext uri="{FF2B5EF4-FFF2-40B4-BE49-F238E27FC236}">
                <a16:creationId xmlns:a16="http://schemas.microsoft.com/office/drawing/2014/main" id="{ECA42CA5-5DDC-991E-E723-722D701FF0BE}"/>
              </a:ext>
            </a:extLst>
          </p:cNvPr>
          <p:cNvCxnSpPr>
            <a:cxnSpLocks/>
            <a:stCxn id="84" idx="2"/>
            <a:endCxn id="82" idx="0"/>
          </p:cNvCxnSpPr>
          <p:nvPr/>
        </p:nvCxnSpPr>
        <p:spPr>
          <a:xfrm flipH="1">
            <a:off x="10437589" y="3746413"/>
            <a:ext cx="1" cy="207979"/>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3" name="Verbinder: gewinkelt 172">
            <a:extLst>
              <a:ext uri="{FF2B5EF4-FFF2-40B4-BE49-F238E27FC236}">
                <a16:creationId xmlns:a16="http://schemas.microsoft.com/office/drawing/2014/main" id="{957CDC66-F63E-DF85-4D0F-78D934CB127F}"/>
              </a:ext>
            </a:extLst>
          </p:cNvPr>
          <p:cNvCxnSpPr>
            <a:cxnSpLocks/>
          </p:cNvCxnSpPr>
          <p:nvPr/>
        </p:nvCxnSpPr>
        <p:spPr>
          <a:xfrm>
            <a:off x="10437588" y="3822770"/>
            <a:ext cx="217481" cy="131621"/>
          </a:xfrm>
          <a:prstGeom prst="bentConnector3">
            <a:avLst>
              <a:gd name="adj1" fmla="val 100805"/>
            </a:avLst>
          </a:prstGeom>
          <a:ln w="12700">
            <a:tailEnd type="triangle"/>
          </a:ln>
        </p:spPr>
        <p:style>
          <a:lnRef idx="1">
            <a:schemeClr val="dk1"/>
          </a:lnRef>
          <a:fillRef idx="0">
            <a:schemeClr val="dk1"/>
          </a:fillRef>
          <a:effectRef idx="0">
            <a:schemeClr val="dk1"/>
          </a:effectRef>
          <a:fontRef idx="minor">
            <a:schemeClr val="tx1"/>
          </a:fontRef>
        </p:style>
      </p:cxnSp>
      <p:cxnSp>
        <p:nvCxnSpPr>
          <p:cNvPr id="177" name="Verbinder: gewinkelt 176">
            <a:extLst>
              <a:ext uri="{FF2B5EF4-FFF2-40B4-BE49-F238E27FC236}">
                <a16:creationId xmlns:a16="http://schemas.microsoft.com/office/drawing/2014/main" id="{54384F21-E750-E247-FFD6-ED24725A564D}"/>
              </a:ext>
            </a:extLst>
          </p:cNvPr>
          <p:cNvCxnSpPr>
            <a:cxnSpLocks/>
          </p:cNvCxnSpPr>
          <p:nvPr/>
        </p:nvCxnSpPr>
        <p:spPr>
          <a:xfrm rot="10800000" flipV="1">
            <a:off x="10226041" y="3822769"/>
            <a:ext cx="206691" cy="131624"/>
          </a:xfrm>
          <a:prstGeom prst="bentConnector3">
            <a:avLst>
              <a:gd name="adj1" fmla="val 99770"/>
            </a:avLst>
          </a:prstGeom>
          <a:ln w="12700">
            <a:tailEnd type="triangle"/>
          </a:ln>
        </p:spPr>
        <p:style>
          <a:lnRef idx="1">
            <a:schemeClr val="dk1"/>
          </a:lnRef>
          <a:fillRef idx="0">
            <a:schemeClr val="dk1"/>
          </a:fillRef>
          <a:effectRef idx="0">
            <a:schemeClr val="dk1"/>
          </a:effectRef>
          <a:fontRef idx="minor">
            <a:schemeClr val="tx1"/>
          </a:fontRef>
        </p:style>
      </p:cxnSp>
      <p:cxnSp>
        <p:nvCxnSpPr>
          <p:cNvPr id="181" name="Gerade Verbindung mit Pfeil 180">
            <a:extLst>
              <a:ext uri="{FF2B5EF4-FFF2-40B4-BE49-F238E27FC236}">
                <a16:creationId xmlns:a16="http://schemas.microsoft.com/office/drawing/2014/main" id="{EA849190-F61E-4BA3-E6E7-5DFC105D2901}"/>
              </a:ext>
            </a:extLst>
          </p:cNvPr>
          <p:cNvCxnSpPr>
            <a:cxnSpLocks/>
            <a:stCxn id="82" idx="2"/>
            <a:endCxn id="85" idx="0"/>
          </p:cNvCxnSpPr>
          <p:nvPr/>
        </p:nvCxnSpPr>
        <p:spPr>
          <a:xfrm>
            <a:off x="10437589" y="4387025"/>
            <a:ext cx="1" cy="20798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4" name="Verbinder: gewinkelt 183">
            <a:extLst>
              <a:ext uri="{FF2B5EF4-FFF2-40B4-BE49-F238E27FC236}">
                <a16:creationId xmlns:a16="http://schemas.microsoft.com/office/drawing/2014/main" id="{3D0671F3-0F7E-D019-C9BE-455461975C59}"/>
              </a:ext>
            </a:extLst>
          </p:cNvPr>
          <p:cNvCxnSpPr>
            <a:cxnSpLocks/>
            <a:stCxn id="85" idx="2"/>
            <a:endCxn id="86" idx="1"/>
          </p:cNvCxnSpPr>
          <p:nvPr/>
        </p:nvCxnSpPr>
        <p:spPr>
          <a:xfrm rot="16200000" flipH="1">
            <a:off x="10517498" y="4705343"/>
            <a:ext cx="333484" cy="493300"/>
          </a:xfrm>
          <a:prstGeom prst="bentConnector4">
            <a:avLst>
              <a:gd name="adj1" fmla="val 50000"/>
              <a:gd name="adj2" fmla="val 100014"/>
            </a:avLst>
          </a:prstGeom>
          <a:ln w="12700">
            <a:tailEnd type="triangle"/>
          </a:ln>
        </p:spPr>
        <p:style>
          <a:lnRef idx="1">
            <a:schemeClr val="dk1"/>
          </a:lnRef>
          <a:fillRef idx="0">
            <a:schemeClr val="dk1"/>
          </a:fillRef>
          <a:effectRef idx="0">
            <a:schemeClr val="dk1"/>
          </a:effectRef>
          <a:fontRef idx="minor">
            <a:schemeClr val="tx1"/>
          </a:fontRef>
        </p:style>
      </p:cxnSp>
      <p:cxnSp>
        <p:nvCxnSpPr>
          <p:cNvPr id="192" name="Verbinder: gewinkelt 191">
            <a:extLst>
              <a:ext uri="{FF2B5EF4-FFF2-40B4-BE49-F238E27FC236}">
                <a16:creationId xmlns:a16="http://schemas.microsoft.com/office/drawing/2014/main" id="{14868E95-299F-4D33-BD48-005C90FB3C79}"/>
              </a:ext>
            </a:extLst>
          </p:cNvPr>
          <p:cNvCxnSpPr>
            <a:cxnSpLocks/>
            <a:endCxn id="83" idx="0"/>
          </p:cNvCxnSpPr>
          <p:nvPr/>
        </p:nvCxnSpPr>
        <p:spPr>
          <a:xfrm rot="10800000" flipV="1">
            <a:off x="9653958" y="4951987"/>
            <a:ext cx="778779" cy="168695"/>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197" name="Gerade Verbindung mit Pfeil 196">
            <a:extLst>
              <a:ext uri="{FF2B5EF4-FFF2-40B4-BE49-F238E27FC236}">
                <a16:creationId xmlns:a16="http://schemas.microsoft.com/office/drawing/2014/main" id="{5EE5B3DB-0DF2-D835-8B6D-A94C75A5949E}"/>
              </a:ext>
            </a:extLst>
          </p:cNvPr>
          <p:cNvCxnSpPr>
            <a:cxnSpLocks/>
          </p:cNvCxnSpPr>
          <p:nvPr/>
        </p:nvCxnSpPr>
        <p:spPr>
          <a:xfrm>
            <a:off x="9873710" y="4951987"/>
            <a:ext cx="0" cy="166748"/>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9" name="Gerader Verbinder 208">
            <a:extLst>
              <a:ext uri="{FF2B5EF4-FFF2-40B4-BE49-F238E27FC236}">
                <a16:creationId xmlns:a16="http://schemas.microsoft.com/office/drawing/2014/main" id="{B2A01198-1D9A-4BDB-2262-F536F4B1BA8C}"/>
              </a:ext>
            </a:extLst>
          </p:cNvPr>
          <p:cNvCxnSpPr>
            <a:cxnSpLocks/>
            <a:endCxn id="16" idx="3"/>
          </p:cNvCxnSpPr>
          <p:nvPr/>
        </p:nvCxnSpPr>
        <p:spPr>
          <a:xfrm flipH="1">
            <a:off x="7996380" y="2446419"/>
            <a:ext cx="573109"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12" name="Gerader Verbinder 211">
            <a:extLst>
              <a:ext uri="{FF2B5EF4-FFF2-40B4-BE49-F238E27FC236}">
                <a16:creationId xmlns:a16="http://schemas.microsoft.com/office/drawing/2014/main" id="{B0945C6E-BF97-D8ED-D96C-8CA5CDE94016}"/>
              </a:ext>
            </a:extLst>
          </p:cNvPr>
          <p:cNvCxnSpPr>
            <a:cxnSpLocks/>
          </p:cNvCxnSpPr>
          <p:nvPr/>
        </p:nvCxnSpPr>
        <p:spPr>
          <a:xfrm flipV="1">
            <a:off x="8569489" y="2446418"/>
            <a:ext cx="0" cy="2422762"/>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216" name="Verbinder: gewinkelt 215">
            <a:extLst>
              <a:ext uri="{FF2B5EF4-FFF2-40B4-BE49-F238E27FC236}">
                <a16:creationId xmlns:a16="http://schemas.microsoft.com/office/drawing/2014/main" id="{98395B3E-1CA5-63E5-1D2D-18BFECBF5C3A}"/>
              </a:ext>
            </a:extLst>
          </p:cNvPr>
          <p:cNvCxnSpPr>
            <a:cxnSpLocks/>
            <a:endCxn id="86" idx="2"/>
          </p:cNvCxnSpPr>
          <p:nvPr/>
        </p:nvCxnSpPr>
        <p:spPr>
          <a:xfrm>
            <a:off x="8569489" y="4869180"/>
            <a:ext cx="2790026" cy="249555"/>
          </a:xfrm>
          <a:prstGeom prst="bentConnector3">
            <a:avLst>
              <a:gd name="adj1" fmla="val 100068"/>
            </a:avLst>
          </a:prstGeom>
          <a:ln w="12700">
            <a:tailEnd type="triangle"/>
          </a:ln>
        </p:spPr>
        <p:style>
          <a:lnRef idx="1">
            <a:schemeClr val="dk1"/>
          </a:lnRef>
          <a:fillRef idx="0">
            <a:schemeClr val="dk1"/>
          </a:fillRef>
          <a:effectRef idx="0">
            <a:schemeClr val="dk1"/>
          </a:effectRef>
          <a:fontRef idx="minor">
            <a:schemeClr val="tx1"/>
          </a:fontRef>
        </p:style>
      </p:cxnSp>
      <p:cxnSp>
        <p:nvCxnSpPr>
          <p:cNvPr id="220" name="Gerade Verbindung mit Pfeil 219">
            <a:extLst>
              <a:ext uri="{FF2B5EF4-FFF2-40B4-BE49-F238E27FC236}">
                <a16:creationId xmlns:a16="http://schemas.microsoft.com/office/drawing/2014/main" id="{BB715838-3383-559E-3440-1403AE7205BD}"/>
              </a:ext>
            </a:extLst>
          </p:cNvPr>
          <p:cNvCxnSpPr>
            <a:cxnSpLocks/>
          </p:cNvCxnSpPr>
          <p:nvPr/>
        </p:nvCxnSpPr>
        <p:spPr>
          <a:xfrm>
            <a:off x="11146117" y="4869180"/>
            <a:ext cx="0" cy="249555"/>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2" name="Gerade Verbindung mit Pfeil 221">
            <a:extLst>
              <a:ext uri="{FF2B5EF4-FFF2-40B4-BE49-F238E27FC236}">
                <a16:creationId xmlns:a16="http://schemas.microsoft.com/office/drawing/2014/main" id="{B5381952-5D86-096B-1520-C1A884CDE60E}"/>
              </a:ext>
            </a:extLst>
          </p:cNvPr>
          <p:cNvCxnSpPr>
            <a:cxnSpLocks/>
          </p:cNvCxnSpPr>
          <p:nvPr/>
        </p:nvCxnSpPr>
        <p:spPr>
          <a:xfrm>
            <a:off x="9457017" y="4869180"/>
            <a:ext cx="0" cy="249555"/>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4" name="Gerade Verbindung mit Pfeil 223">
            <a:extLst>
              <a:ext uri="{FF2B5EF4-FFF2-40B4-BE49-F238E27FC236}">
                <a16:creationId xmlns:a16="http://schemas.microsoft.com/office/drawing/2014/main" id="{E8A3BB8A-F122-26A2-0923-31C3C4DADD3E}"/>
              </a:ext>
            </a:extLst>
          </p:cNvPr>
          <p:cNvCxnSpPr>
            <a:cxnSpLocks/>
            <a:endCxn id="87" idx="1"/>
          </p:cNvCxnSpPr>
          <p:nvPr/>
        </p:nvCxnSpPr>
        <p:spPr>
          <a:xfrm flipH="1">
            <a:off x="7608570" y="4405155"/>
            <a:ext cx="1234" cy="1149825"/>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0" name="Verbinder: gewinkelt 229">
            <a:extLst>
              <a:ext uri="{FF2B5EF4-FFF2-40B4-BE49-F238E27FC236}">
                <a16:creationId xmlns:a16="http://schemas.microsoft.com/office/drawing/2014/main" id="{9B089CFB-5359-58EA-2298-14601728E551}"/>
              </a:ext>
            </a:extLst>
          </p:cNvPr>
          <p:cNvCxnSpPr>
            <a:cxnSpLocks/>
          </p:cNvCxnSpPr>
          <p:nvPr/>
        </p:nvCxnSpPr>
        <p:spPr>
          <a:xfrm rot="10800000" flipV="1">
            <a:off x="7815074" y="4869887"/>
            <a:ext cx="754414" cy="677714"/>
          </a:xfrm>
          <a:prstGeom prst="bentConnector3">
            <a:avLst>
              <a:gd name="adj1" fmla="val 99745"/>
            </a:avLst>
          </a:prstGeom>
          <a:ln w="12700">
            <a:tailEnd type="triangle"/>
          </a:ln>
        </p:spPr>
        <p:style>
          <a:lnRef idx="1">
            <a:schemeClr val="dk1"/>
          </a:lnRef>
          <a:fillRef idx="0">
            <a:schemeClr val="dk1"/>
          </a:fillRef>
          <a:effectRef idx="0">
            <a:schemeClr val="dk1"/>
          </a:effectRef>
          <a:fontRef idx="minor">
            <a:schemeClr val="tx1"/>
          </a:fontRef>
        </p:style>
      </p:cxnSp>
      <p:cxnSp>
        <p:nvCxnSpPr>
          <p:cNvPr id="234" name="Verbinder: gewinkelt 233">
            <a:extLst>
              <a:ext uri="{FF2B5EF4-FFF2-40B4-BE49-F238E27FC236}">
                <a16:creationId xmlns:a16="http://schemas.microsoft.com/office/drawing/2014/main" id="{5295F01A-891E-3C56-7902-D329A034E582}"/>
              </a:ext>
            </a:extLst>
          </p:cNvPr>
          <p:cNvCxnSpPr>
            <a:cxnSpLocks/>
            <a:stCxn id="83" idx="2"/>
            <a:endCxn id="87" idx="3"/>
          </p:cNvCxnSpPr>
          <p:nvPr/>
        </p:nvCxnSpPr>
        <p:spPr>
          <a:xfrm rot="5400000">
            <a:off x="8769497" y="4807680"/>
            <a:ext cx="138824" cy="1630096"/>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238" name="Verbinder: gewinkelt 237">
            <a:extLst>
              <a:ext uri="{FF2B5EF4-FFF2-40B4-BE49-F238E27FC236}">
                <a16:creationId xmlns:a16="http://schemas.microsoft.com/office/drawing/2014/main" id="{79EE846F-865A-3159-58D1-66BF0419BF26}"/>
              </a:ext>
            </a:extLst>
          </p:cNvPr>
          <p:cNvCxnSpPr>
            <a:cxnSpLocks/>
          </p:cNvCxnSpPr>
          <p:nvPr/>
        </p:nvCxnSpPr>
        <p:spPr>
          <a:xfrm rot="10800000" flipV="1">
            <a:off x="8023725" y="5554980"/>
            <a:ext cx="3122393" cy="311542"/>
          </a:xfrm>
          <a:prstGeom prst="bentConnector3">
            <a:avLst>
              <a:gd name="adj1" fmla="val -212"/>
            </a:avLst>
          </a:prstGeom>
          <a:ln w="12700">
            <a:tailEnd type="triangle"/>
          </a:ln>
        </p:spPr>
        <p:style>
          <a:lnRef idx="1">
            <a:schemeClr val="dk1"/>
          </a:lnRef>
          <a:fillRef idx="0">
            <a:schemeClr val="dk1"/>
          </a:fillRef>
          <a:effectRef idx="0">
            <a:schemeClr val="dk1"/>
          </a:effectRef>
          <a:fontRef idx="minor">
            <a:schemeClr val="tx1"/>
          </a:fontRef>
        </p:style>
      </p:cxnSp>
      <p:cxnSp>
        <p:nvCxnSpPr>
          <p:cNvPr id="246" name="Gerade Verbindung mit Pfeil 245">
            <a:extLst>
              <a:ext uri="{FF2B5EF4-FFF2-40B4-BE49-F238E27FC236}">
                <a16:creationId xmlns:a16="http://schemas.microsoft.com/office/drawing/2014/main" id="{9E300F23-9605-4311-9195-1F70E1888EC7}"/>
              </a:ext>
            </a:extLst>
          </p:cNvPr>
          <p:cNvCxnSpPr>
            <a:cxnSpLocks/>
          </p:cNvCxnSpPr>
          <p:nvPr/>
        </p:nvCxnSpPr>
        <p:spPr>
          <a:xfrm flipH="1">
            <a:off x="6765613" y="5769632"/>
            <a:ext cx="430788"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81909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882B6-E0C1-D3B3-2DD3-339B4F851CA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F3A2912-34D0-2812-E18D-3D159C9FB0B7}"/>
              </a:ext>
            </a:extLst>
          </p:cNvPr>
          <p:cNvSpPr>
            <a:spLocks noGrp="1"/>
          </p:cNvSpPr>
          <p:nvPr>
            <p:ph type="ctrTitle"/>
          </p:nvPr>
        </p:nvSpPr>
        <p:spPr/>
        <p:txBody>
          <a:bodyPr/>
          <a:lstStyle/>
          <a:p>
            <a:r>
              <a:rPr lang="de-DE" dirty="0"/>
              <a:t>Preference </a:t>
            </a:r>
            <a:r>
              <a:rPr lang="de-DE" dirty="0" err="1"/>
              <a:t>Optimization</a:t>
            </a:r>
            <a:r>
              <a:rPr lang="de-DE" dirty="0"/>
              <a:t> in </a:t>
            </a:r>
            <a:r>
              <a:rPr lang="de-DE" dirty="0" err="1"/>
              <a:t>Radiology</a:t>
            </a:r>
            <a:r>
              <a:rPr lang="de-DE" dirty="0"/>
              <a:t> Report Generation</a:t>
            </a:r>
          </a:p>
        </p:txBody>
      </p:sp>
      <p:sp>
        <p:nvSpPr>
          <p:cNvPr id="3" name="Untertitel 2">
            <a:extLst>
              <a:ext uri="{FF2B5EF4-FFF2-40B4-BE49-F238E27FC236}">
                <a16:creationId xmlns:a16="http://schemas.microsoft.com/office/drawing/2014/main" id="{FB91FC3C-31E8-29E0-D024-9E091357DD25}"/>
              </a:ext>
            </a:extLst>
          </p:cNvPr>
          <p:cNvSpPr>
            <a:spLocks noGrp="1"/>
          </p:cNvSpPr>
          <p:nvPr>
            <p:ph type="subTitle" idx="1"/>
          </p:nvPr>
        </p:nvSpPr>
        <p:spPr/>
        <p:txBody>
          <a:bodyPr/>
          <a:lstStyle/>
          <a:p>
            <a:endParaRPr lang="de-DE"/>
          </a:p>
        </p:txBody>
      </p:sp>
    </p:spTree>
    <p:extLst>
      <p:ext uri="{BB962C8B-B14F-4D97-AF65-F5344CB8AC3E}">
        <p14:creationId xmlns:p14="http://schemas.microsoft.com/office/powerpoint/2010/main" val="607590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472C9-7218-D643-0B4B-4B0934F9F34F}"/>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4115E40-1B21-3BAC-501C-00512FB4FA12}"/>
              </a:ext>
            </a:extLst>
          </p:cNvPr>
          <p:cNvSpPr>
            <a:spLocks noGrp="1"/>
          </p:cNvSpPr>
          <p:nvPr>
            <p:ph type="title"/>
          </p:nvPr>
        </p:nvSpPr>
        <p:spPr/>
        <p:txBody>
          <a:bodyPr/>
          <a:lstStyle/>
          <a:p>
            <a:r>
              <a:rPr lang="en-US" dirty="0"/>
              <a:t>Direct Preference Optimization for Suppressing Hallucinated Prior Exams in Radiology Report Generation (</a:t>
            </a:r>
            <a:r>
              <a:rPr lang="de-DE" dirty="0"/>
              <a:t>Banerjee</a:t>
            </a:r>
            <a:r>
              <a:rPr lang="en-US" dirty="0"/>
              <a:t> et al., 2024) [6]</a:t>
            </a:r>
            <a:endParaRPr lang="de-DE" dirty="0"/>
          </a:p>
        </p:txBody>
      </p:sp>
      <p:sp>
        <p:nvSpPr>
          <p:cNvPr id="5" name="Textplatzhalter 1">
            <a:extLst>
              <a:ext uri="{FF2B5EF4-FFF2-40B4-BE49-F238E27FC236}">
                <a16:creationId xmlns:a16="http://schemas.microsoft.com/office/drawing/2014/main" id="{E88B168E-386A-6A26-2B10-0303149AF247}"/>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Hallucinations can occur in generated radiology reports, especially hallucinated references to prior exams that do not exist. These require radiologists to spend extra time verifying the accuracy of the report.</a:t>
            </a:r>
          </a:p>
          <a:p>
            <a:pPr lvl="1" algn="just"/>
            <a:r>
              <a:rPr lang="en-US" sz="1200" dirty="0"/>
              <a:t>Preprocessing large datasets to remove unwanted behavior is time-consuming, and once a model has been pretrained on such data, additional dataset clean-up cannot be incorporated into the model’s internal representations.</a:t>
            </a:r>
          </a:p>
          <a:p>
            <a:pPr algn="just"/>
            <a:r>
              <a:rPr lang="en-US" sz="1400" b="1" dirty="0"/>
              <a:t>Approach</a:t>
            </a:r>
          </a:p>
          <a:p>
            <a:pPr lvl="1" algn="just"/>
            <a:r>
              <a:rPr lang="en-US" sz="1200" dirty="0"/>
              <a:t>The authors construct a preference dataset consisting of “preferred” reports (versions edited to remove prior-exam references) and “dispreferred” reports (original MIMIC-CXR reports).</a:t>
            </a:r>
          </a:p>
          <a:p>
            <a:pPr lvl="1" algn="just"/>
            <a:r>
              <a:rPr lang="en-US" sz="1200" dirty="0"/>
              <a:t>The reports for the preference dataset are edited by GPT-4.</a:t>
            </a:r>
          </a:p>
          <a:p>
            <a:pPr lvl="1" algn="just"/>
            <a:r>
              <a:rPr lang="en-US" sz="1200" dirty="0"/>
              <a:t>They fine-tune a radiology-report model using </a:t>
            </a:r>
            <a:r>
              <a:rPr lang="en-US" sz="1200" b="1" dirty="0"/>
              <a:t>Direct Preference Optimization (DPO)</a:t>
            </a:r>
            <a:r>
              <a:rPr lang="en-US" sz="1200" dirty="0"/>
              <a:t> so the model learns to prefer the edited (non-hallucinating) outputs.</a:t>
            </a:r>
          </a:p>
          <a:p>
            <a:pPr algn="just"/>
            <a:r>
              <a:rPr lang="en-US" sz="1400" b="1" dirty="0"/>
              <a:t>Results</a:t>
            </a:r>
          </a:p>
          <a:p>
            <a:pPr lvl="1" algn="just"/>
            <a:r>
              <a:rPr lang="en-US" sz="1200" dirty="0"/>
              <a:t>DPO models create reports with less lines referring to prior exams.</a:t>
            </a:r>
          </a:p>
          <a:p>
            <a:pPr lvl="1" algn="just"/>
            <a:r>
              <a:rPr lang="en-US" sz="1200" dirty="0"/>
              <a:t>While there are slight differences between the original model and the DPO models, the scores remain high, indicating that factuality and clinical alignment are preserved</a:t>
            </a:r>
          </a:p>
          <a:p>
            <a:pPr algn="just"/>
            <a:r>
              <a:rPr lang="en-US" sz="1400" b="1" dirty="0"/>
              <a:t>Key Takeaway</a:t>
            </a:r>
          </a:p>
          <a:p>
            <a:pPr lvl="1" algn="just"/>
            <a:r>
              <a:rPr lang="en-US" sz="1200" dirty="0"/>
              <a:t>DPO effectively suppresses hallucinated references to prior exams in radiology report generation without sacrificing clinical accuracy and does this more efficiently and reliably than dataset preprocessing alone.</a:t>
            </a:r>
          </a:p>
        </p:txBody>
      </p:sp>
      <p:sp>
        <p:nvSpPr>
          <p:cNvPr id="6" name="Inhaltsplatzhalter 3">
            <a:extLst>
              <a:ext uri="{FF2B5EF4-FFF2-40B4-BE49-F238E27FC236}">
                <a16:creationId xmlns:a16="http://schemas.microsoft.com/office/drawing/2014/main" id="{CF85D50A-0436-2713-3361-1F44CA632FE2}"/>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Proceedings of the 9th Machine Learning for Healthcare Conference, PMLR 252, 2024</a:t>
            </a:r>
            <a:endParaRPr lang="de-DE" sz="1600" dirty="0"/>
          </a:p>
        </p:txBody>
      </p:sp>
    </p:spTree>
    <p:extLst>
      <p:ext uri="{BB962C8B-B14F-4D97-AF65-F5344CB8AC3E}">
        <p14:creationId xmlns:p14="http://schemas.microsoft.com/office/powerpoint/2010/main" val="2336816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0EF7A-DBC9-05C0-992F-3598BFE7EE1B}"/>
            </a:ext>
          </a:extLst>
        </p:cNvPr>
        <p:cNvGrpSpPr/>
        <p:nvPr/>
      </p:nvGrpSpPr>
      <p:grpSpPr>
        <a:xfrm>
          <a:off x="0" y="0"/>
          <a:ext cx="0" cy="0"/>
          <a:chOff x="0" y="0"/>
          <a:chExt cx="0" cy="0"/>
        </a:xfrm>
      </p:grpSpPr>
      <p:sp>
        <p:nvSpPr>
          <p:cNvPr id="86" name="Rechteck: abgerundete Ecken 85">
            <a:extLst>
              <a:ext uri="{FF2B5EF4-FFF2-40B4-BE49-F238E27FC236}">
                <a16:creationId xmlns:a16="http://schemas.microsoft.com/office/drawing/2014/main" id="{63E7ED11-3579-4B9F-689F-34FAD1B6C694}"/>
              </a:ext>
            </a:extLst>
          </p:cNvPr>
          <p:cNvSpPr/>
          <p:nvPr/>
        </p:nvSpPr>
        <p:spPr>
          <a:xfrm>
            <a:off x="9314296" y="2214880"/>
            <a:ext cx="2715144" cy="29565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5" name="Rechteck: abgerundete Ecken 84">
            <a:extLst>
              <a:ext uri="{FF2B5EF4-FFF2-40B4-BE49-F238E27FC236}">
                <a16:creationId xmlns:a16="http://schemas.microsoft.com/office/drawing/2014/main" id="{C8FFC820-8BEB-6C82-EC36-D707E965DE50}"/>
              </a:ext>
            </a:extLst>
          </p:cNvPr>
          <p:cNvSpPr/>
          <p:nvPr/>
        </p:nvSpPr>
        <p:spPr>
          <a:xfrm>
            <a:off x="7791416" y="2214880"/>
            <a:ext cx="1261616" cy="2005909"/>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itel 2">
            <a:extLst>
              <a:ext uri="{FF2B5EF4-FFF2-40B4-BE49-F238E27FC236}">
                <a16:creationId xmlns:a16="http://schemas.microsoft.com/office/drawing/2014/main" id="{4D364253-D919-8CB8-58F6-C551061C1F68}"/>
              </a:ext>
            </a:extLst>
          </p:cNvPr>
          <p:cNvSpPr>
            <a:spLocks noGrp="1"/>
          </p:cNvSpPr>
          <p:nvPr>
            <p:ph type="title"/>
          </p:nvPr>
        </p:nvSpPr>
        <p:spPr/>
        <p:txBody>
          <a:bodyPr/>
          <a:lstStyle/>
          <a:p>
            <a:r>
              <a:rPr lang="en-US" dirty="0"/>
              <a:t>Radiology Report Generation via Multi-objective Preference Optimization</a:t>
            </a:r>
            <a:br>
              <a:rPr lang="en-US" dirty="0"/>
            </a:br>
            <a:r>
              <a:rPr lang="en-US" dirty="0"/>
              <a:t>(Xiao et al., 2025) [7]</a:t>
            </a:r>
            <a:endParaRPr lang="de-DE" dirty="0"/>
          </a:p>
        </p:txBody>
      </p:sp>
      <p:sp>
        <p:nvSpPr>
          <p:cNvPr id="5" name="Textplatzhalter 1">
            <a:extLst>
              <a:ext uri="{FF2B5EF4-FFF2-40B4-BE49-F238E27FC236}">
                <a16:creationId xmlns:a16="http://schemas.microsoft.com/office/drawing/2014/main" id="{44A17D71-30FA-3C89-791B-98BCD68EA777}"/>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Prior RRG models optimize a single metric or a fixed weighted sum, which cannot reflect the diverse, multi-dimensional preferences of radiologists.</a:t>
            </a:r>
          </a:p>
          <a:p>
            <a:pPr lvl="1" algn="just"/>
            <a:r>
              <a:rPr lang="en-US" sz="1200" dirty="0"/>
              <a:t>Because the reward is fixed, models must be retrained to match new preference profiles.</a:t>
            </a:r>
          </a:p>
          <a:p>
            <a:pPr algn="just"/>
            <a:r>
              <a:rPr lang="en-US" sz="1400" b="1" dirty="0"/>
              <a:t>Approach</a:t>
            </a:r>
          </a:p>
          <a:p>
            <a:pPr lvl="1" algn="just"/>
            <a:r>
              <a:rPr lang="en-US" sz="1200" dirty="0"/>
              <a:t>The authors introduce Multi-objective Preference Optimization (</a:t>
            </a:r>
            <a:r>
              <a:rPr lang="en-US" sz="1200" b="1" dirty="0"/>
              <a:t>MPO</a:t>
            </a:r>
            <a:r>
              <a:rPr lang="en-US" sz="1200" dirty="0"/>
              <a:t>) which consists of two modules:</a:t>
            </a:r>
          </a:p>
          <a:p>
            <a:pPr lvl="2" algn="just"/>
            <a:r>
              <a:rPr lang="en-US" sz="1200" b="1" dirty="0"/>
              <a:t>Preference vector fusion (PVF): </a:t>
            </a:r>
            <a:r>
              <a:rPr lang="en-US" sz="1200" dirty="0"/>
              <a:t>fuses the preference vector with visual features so the model can generate reports aligned to a chosen preference profile.</a:t>
            </a:r>
          </a:p>
          <a:p>
            <a:pPr lvl="2" algn="just"/>
            <a:r>
              <a:rPr lang="en-US" sz="1200" b="1" dirty="0"/>
              <a:t>Multi-objective optimization (MOO): </a:t>
            </a:r>
            <a:r>
              <a:rPr lang="en-US" sz="1200" dirty="0"/>
              <a:t>uses reinforcement learning to optimize a weighted combination of metric-based rewards, where the weights come from the preference vector. </a:t>
            </a:r>
          </a:p>
          <a:p>
            <a:pPr lvl="1" algn="just"/>
            <a:r>
              <a:rPr lang="en-US" sz="1200" dirty="0"/>
              <a:t>Training uses supervised learning followed by multi-objective RL on diverse preference vectors; at inference, users can input any preference vector without retraining. </a:t>
            </a:r>
          </a:p>
          <a:p>
            <a:pPr algn="just"/>
            <a:r>
              <a:rPr lang="en-US" sz="1400" b="1" dirty="0"/>
              <a:t>Results</a:t>
            </a:r>
          </a:p>
          <a:p>
            <a:pPr lvl="1" algn="just"/>
            <a:r>
              <a:rPr lang="en-US" sz="1200" dirty="0"/>
              <a:t>MPO improves most NLG metrics (BLEU-1–4, ROUGE-L, METEOR except IU-Xray) on IU-Xray and MIMIC-CXR by 0.6–13% compared to SOTA models.</a:t>
            </a:r>
          </a:p>
          <a:p>
            <a:pPr lvl="1" algn="just"/>
            <a:r>
              <a:rPr lang="en-US" sz="1200" dirty="0"/>
              <a:t>Ablations show PVF + MOO together yield the best performance.</a:t>
            </a:r>
          </a:p>
          <a:p>
            <a:pPr algn="just"/>
            <a:r>
              <a:rPr lang="en-US" sz="1400" b="1" dirty="0"/>
              <a:t>Key Takeaway</a:t>
            </a:r>
          </a:p>
          <a:p>
            <a:pPr lvl="1" algn="just"/>
            <a:r>
              <a:rPr lang="en-US" sz="1200" dirty="0"/>
              <a:t>Conditioning on a preference vector enables flexible, multi-objective optimization for personalized radiology report generation</a:t>
            </a:r>
          </a:p>
        </p:txBody>
      </p:sp>
      <p:sp>
        <p:nvSpPr>
          <p:cNvPr id="6" name="Inhaltsplatzhalter 3">
            <a:extLst>
              <a:ext uri="{FF2B5EF4-FFF2-40B4-BE49-F238E27FC236}">
                <a16:creationId xmlns:a16="http://schemas.microsoft.com/office/drawing/2014/main" id="{897D5C57-FDE9-9578-1F0A-1E6FFEA9EF8F}"/>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Proceedings of the AAAI Conference on Artificial Intelligence</a:t>
            </a:r>
            <a:endParaRPr lang="de-DE" sz="1600" dirty="0"/>
          </a:p>
        </p:txBody>
      </p:sp>
      <p:grpSp>
        <p:nvGrpSpPr>
          <p:cNvPr id="2" name="Gruppieren 1">
            <a:extLst>
              <a:ext uri="{FF2B5EF4-FFF2-40B4-BE49-F238E27FC236}">
                <a16:creationId xmlns:a16="http://schemas.microsoft.com/office/drawing/2014/main" id="{3C76DF33-D2F5-FF0B-7FBD-5A884089C16D}"/>
              </a:ext>
            </a:extLst>
          </p:cNvPr>
          <p:cNvGrpSpPr/>
          <p:nvPr/>
        </p:nvGrpSpPr>
        <p:grpSpPr>
          <a:xfrm>
            <a:off x="6405645" y="1262513"/>
            <a:ext cx="826807" cy="796741"/>
            <a:chOff x="6890327" y="1636222"/>
            <a:chExt cx="826807" cy="796741"/>
          </a:xfrm>
        </p:grpSpPr>
        <p:sp>
          <p:nvSpPr>
            <p:cNvPr id="4" name="Rechteck 3">
              <a:extLst>
                <a:ext uri="{FF2B5EF4-FFF2-40B4-BE49-F238E27FC236}">
                  <a16:creationId xmlns:a16="http://schemas.microsoft.com/office/drawing/2014/main" id="{276518DC-5CC3-125B-30D0-0513AB02BF86}"/>
                </a:ext>
              </a:extLst>
            </p:cNvPr>
            <p:cNvSpPr/>
            <p:nvPr/>
          </p:nvSpPr>
          <p:spPr>
            <a:xfrm>
              <a:off x="6890327" y="1636222"/>
              <a:ext cx="826807" cy="79674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7" name="Gerader Verbinder 6">
              <a:extLst>
                <a:ext uri="{FF2B5EF4-FFF2-40B4-BE49-F238E27FC236}">
                  <a16:creationId xmlns:a16="http://schemas.microsoft.com/office/drawing/2014/main" id="{5FAF5AE4-6A70-90CA-6729-AA0F162349CA}"/>
                </a:ext>
              </a:extLst>
            </p:cNvPr>
            <p:cNvCxnSpPr/>
            <p:nvPr/>
          </p:nvCxnSpPr>
          <p:spPr>
            <a:xfrm>
              <a:off x="6933946" y="1679066"/>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8" name="Gerader Verbinder 7">
              <a:extLst>
                <a:ext uri="{FF2B5EF4-FFF2-40B4-BE49-F238E27FC236}">
                  <a16:creationId xmlns:a16="http://schemas.microsoft.com/office/drawing/2014/main" id="{75E2B341-8E7E-9841-202C-EFF98BD2F978}"/>
                </a:ext>
              </a:extLst>
            </p:cNvPr>
            <p:cNvCxnSpPr>
              <a:cxnSpLocks/>
            </p:cNvCxnSpPr>
            <p:nvPr/>
          </p:nvCxnSpPr>
          <p:spPr>
            <a:xfrm>
              <a:off x="6933946" y="1679066"/>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9" name="Gerader Verbinder 8">
              <a:extLst>
                <a:ext uri="{FF2B5EF4-FFF2-40B4-BE49-F238E27FC236}">
                  <a16:creationId xmlns:a16="http://schemas.microsoft.com/office/drawing/2014/main" id="{67540901-DB59-1D19-1FE2-C0DA8862FE99}"/>
                </a:ext>
              </a:extLst>
            </p:cNvPr>
            <p:cNvCxnSpPr/>
            <p:nvPr/>
          </p:nvCxnSpPr>
          <p:spPr>
            <a:xfrm>
              <a:off x="7678526" y="1677687"/>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18C9FE5-A7ED-ED0D-0652-EAFDCD882348}"/>
                </a:ext>
              </a:extLst>
            </p:cNvPr>
            <p:cNvCxnSpPr>
              <a:cxnSpLocks/>
            </p:cNvCxnSpPr>
            <p:nvPr/>
          </p:nvCxnSpPr>
          <p:spPr>
            <a:xfrm>
              <a:off x="7600402" y="1677687"/>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1" name="Gerader Verbinder 10">
              <a:extLst>
                <a:ext uri="{FF2B5EF4-FFF2-40B4-BE49-F238E27FC236}">
                  <a16:creationId xmlns:a16="http://schemas.microsoft.com/office/drawing/2014/main" id="{2A2B6490-2811-7E5D-950B-D7FA4F13EEEE}"/>
                </a:ext>
              </a:extLst>
            </p:cNvPr>
            <p:cNvCxnSpPr/>
            <p:nvPr/>
          </p:nvCxnSpPr>
          <p:spPr>
            <a:xfrm>
              <a:off x="7675245"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2" name="Gerader Verbinder 11">
              <a:extLst>
                <a:ext uri="{FF2B5EF4-FFF2-40B4-BE49-F238E27FC236}">
                  <a16:creationId xmlns:a16="http://schemas.microsoft.com/office/drawing/2014/main" id="{89AF1E34-5B71-58CB-4EBE-752CD10B6375}"/>
                </a:ext>
              </a:extLst>
            </p:cNvPr>
            <p:cNvCxnSpPr>
              <a:cxnSpLocks/>
            </p:cNvCxnSpPr>
            <p:nvPr/>
          </p:nvCxnSpPr>
          <p:spPr>
            <a:xfrm>
              <a:off x="7597121" y="2391074"/>
              <a:ext cx="78123" cy="0"/>
            </a:xfrm>
            <a:prstGeom prst="line">
              <a:avLst/>
            </a:prstGeom>
            <a:ln w="9525"/>
          </p:spPr>
          <p:style>
            <a:lnRef idx="1">
              <a:schemeClr val="dk1"/>
            </a:lnRef>
            <a:fillRef idx="0">
              <a:schemeClr val="dk1"/>
            </a:fillRef>
            <a:effectRef idx="0">
              <a:schemeClr val="dk1"/>
            </a:effectRef>
            <a:fontRef idx="minor">
              <a:schemeClr val="tx1"/>
            </a:fontRef>
          </p:style>
        </p:cxnSp>
        <p:cxnSp>
          <p:nvCxnSpPr>
            <p:cNvPr id="13" name="Gerader Verbinder 12">
              <a:extLst>
                <a:ext uri="{FF2B5EF4-FFF2-40B4-BE49-F238E27FC236}">
                  <a16:creationId xmlns:a16="http://schemas.microsoft.com/office/drawing/2014/main" id="{87B4232F-AC84-CE7F-EB2B-5DC46CF7B3CD}"/>
                </a:ext>
              </a:extLst>
            </p:cNvPr>
            <p:cNvCxnSpPr/>
            <p:nvPr/>
          </p:nvCxnSpPr>
          <p:spPr>
            <a:xfrm>
              <a:off x="6935300" y="2312951"/>
              <a:ext cx="0" cy="78123"/>
            </a:xfrm>
            <a:prstGeom prst="line">
              <a:avLst/>
            </a:prstGeom>
            <a:ln w="9525"/>
          </p:spPr>
          <p:style>
            <a:lnRef idx="1">
              <a:schemeClr val="dk1"/>
            </a:lnRef>
            <a:fillRef idx="0">
              <a:schemeClr val="dk1"/>
            </a:fillRef>
            <a:effectRef idx="0">
              <a:schemeClr val="dk1"/>
            </a:effectRef>
            <a:fontRef idx="minor">
              <a:schemeClr val="tx1"/>
            </a:fontRef>
          </p:style>
        </p:cxnSp>
        <p:cxnSp>
          <p:nvCxnSpPr>
            <p:cNvPr id="14" name="Gerader Verbinder 13">
              <a:extLst>
                <a:ext uri="{FF2B5EF4-FFF2-40B4-BE49-F238E27FC236}">
                  <a16:creationId xmlns:a16="http://schemas.microsoft.com/office/drawing/2014/main" id="{862A615D-1F22-5AC1-B847-E90621D53F45}"/>
                </a:ext>
              </a:extLst>
            </p:cNvPr>
            <p:cNvCxnSpPr>
              <a:cxnSpLocks/>
            </p:cNvCxnSpPr>
            <p:nvPr/>
          </p:nvCxnSpPr>
          <p:spPr>
            <a:xfrm>
              <a:off x="6933946" y="2391074"/>
              <a:ext cx="78123" cy="0"/>
            </a:xfrm>
            <a:prstGeom prst="line">
              <a:avLst/>
            </a:prstGeom>
            <a:ln w="9525"/>
          </p:spPr>
          <p:style>
            <a:lnRef idx="1">
              <a:schemeClr val="dk1"/>
            </a:lnRef>
            <a:fillRef idx="0">
              <a:schemeClr val="dk1"/>
            </a:fillRef>
            <a:effectRef idx="0">
              <a:schemeClr val="dk1"/>
            </a:effectRef>
            <a:fontRef idx="minor">
              <a:schemeClr val="tx1"/>
            </a:fontRef>
          </p:style>
        </p:cxnSp>
        <p:pic>
          <p:nvPicPr>
            <p:cNvPr id="15" name="Grafik 14" descr="Lungen mit einfarbiger Füllung">
              <a:extLst>
                <a:ext uri="{FF2B5EF4-FFF2-40B4-BE49-F238E27FC236}">
                  <a16:creationId xmlns:a16="http://schemas.microsoft.com/office/drawing/2014/main" id="{352E5EB0-354C-6995-AA2A-B0AC8F9BF5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73008" y="1703870"/>
              <a:ext cx="661446" cy="661446"/>
            </a:xfrm>
            <a:prstGeom prst="rect">
              <a:avLst/>
            </a:prstGeom>
          </p:spPr>
        </p:pic>
      </p:grpSp>
      <p:sp>
        <p:nvSpPr>
          <p:cNvPr id="16" name="Rechteck 15">
            <a:extLst>
              <a:ext uri="{FF2B5EF4-FFF2-40B4-BE49-F238E27FC236}">
                <a16:creationId xmlns:a16="http://schemas.microsoft.com/office/drawing/2014/main" id="{3B1DC1EF-D5D0-889C-F6C7-3C135A224211}"/>
              </a:ext>
            </a:extLst>
          </p:cNvPr>
          <p:cNvSpPr/>
          <p:nvPr/>
        </p:nvSpPr>
        <p:spPr>
          <a:xfrm>
            <a:off x="6405644" y="2411973"/>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pic>
        <p:nvPicPr>
          <p:cNvPr id="17" name="Grafik 16" descr="Dokument Silhouette">
            <a:extLst>
              <a:ext uri="{FF2B5EF4-FFF2-40B4-BE49-F238E27FC236}">
                <a16:creationId xmlns:a16="http://schemas.microsoft.com/office/drawing/2014/main" id="{50214426-37C0-752C-3575-0465549752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6492" y="5046012"/>
            <a:ext cx="914400" cy="914400"/>
          </a:xfrm>
          <a:prstGeom prst="rect">
            <a:avLst/>
          </a:prstGeom>
        </p:spPr>
      </p:pic>
      <p:sp>
        <p:nvSpPr>
          <p:cNvPr id="18" name="Rechteck 78">
            <a:extLst>
              <a:ext uri="{FF2B5EF4-FFF2-40B4-BE49-F238E27FC236}">
                <a16:creationId xmlns:a16="http://schemas.microsoft.com/office/drawing/2014/main" id="{0096AB4B-4E86-1C12-A65D-EFB7FC5DBEA7}"/>
              </a:ext>
            </a:extLst>
          </p:cNvPr>
          <p:cNvSpPr/>
          <p:nvPr/>
        </p:nvSpPr>
        <p:spPr>
          <a:xfrm>
            <a:off x="8030290" y="3185013"/>
            <a:ext cx="826807" cy="432633"/>
          </a:xfrm>
          <a:custGeom>
            <a:avLst/>
            <a:gdLst>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6807"/>
              <a:gd name="connsiteY0" fmla="*/ 0 h 432633"/>
              <a:gd name="connsiteX1" fmla="*/ 648639 w 826807"/>
              <a:gd name="connsiteY1" fmla="*/ 2070 h 432633"/>
              <a:gd name="connsiteX2" fmla="*/ 826807 w 826807"/>
              <a:gd name="connsiteY2" fmla="*/ 0 h 432633"/>
              <a:gd name="connsiteX3" fmla="*/ 826807 w 826807"/>
              <a:gd name="connsiteY3" fmla="*/ 432633 h 432633"/>
              <a:gd name="connsiteX4" fmla="*/ 0 w 826807"/>
              <a:gd name="connsiteY4" fmla="*/ 432633 h 432633"/>
              <a:gd name="connsiteX5" fmla="*/ 0 w 826807"/>
              <a:gd name="connsiteY5" fmla="*/ 0 h 432633"/>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6807" h="432633">
                <a:moveTo>
                  <a:pt x="0" y="0"/>
                </a:moveTo>
                <a:lnTo>
                  <a:pt x="826807" y="0"/>
                </a:lnTo>
                <a:lnTo>
                  <a:pt x="826807" y="432633"/>
                </a:lnTo>
                <a:lnTo>
                  <a:pt x="0" y="432633"/>
                </a:lnTo>
                <a:lnTo>
                  <a:pt x="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2000" dirty="0">
                <a:solidFill>
                  <a:schemeClr val="tx1"/>
                </a:solidFill>
              </a:rPr>
              <a:t>MHA</a:t>
            </a:r>
          </a:p>
        </p:txBody>
      </p:sp>
      <p:sp>
        <p:nvSpPr>
          <p:cNvPr id="19" name="Rechteck 78">
            <a:extLst>
              <a:ext uri="{FF2B5EF4-FFF2-40B4-BE49-F238E27FC236}">
                <a16:creationId xmlns:a16="http://schemas.microsoft.com/office/drawing/2014/main" id="{6B8C9CE8-2444-D0DE-B6CE-0A1F6422662A}"/>
              </a:ext>
            </a:extLst>
          </p:cNvPr>
          <p:cNvSpPr/>
          <p:nvPr/>
        </p:nvSpPr>
        <p:spPr>
          <a:xfrm>
            <a:off x="9652634" y="2411972"/>
            <a:ext cx="1982181" cy="432633"/>
          </a:xfrm>
          <a:custGeom>
            <a:avLst/>
            <a:gdLst>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6807"/>
              <a:gd name="connsiteY0" fmla="*/ 0 h 432633"/>
              <a:gd name="connsiteX1" fmla="*/ 648639 w 826807"/>
              <a:gd name="connsiteY1" fmla="*/ 2070 h 432633"/>
              <a:gd name="connsiteX2" fmla="*/ 826807 w 826807"/>
              <a:gd name="connsiteY2" fmla="*/ 0 h 432633"/>
              <a:gd name="connsiteX3" fmla="*/ 826807 w 826807"/>
              <a:gd name="connsiteY3" fmla="*/ 432633 h 432633"/>
              <a:gd name="connsiteX4" fmla="*/ 0 w 826807"/>
              <a:gd name="connsiteY4" fmla="*/ 432633 h 432633"/>
              <a:gd name="connsiteX5" fmla="*/ 0 w 826807"/>
              <a:gd name="connsiteY5" fmla="*/ 0 h 432633"/>
              <a:gd name="connsiteX0" fmla="*/ 0 w 826807"/>
              <a:gd name="connsiteY0" fmla="*/ 0 h 432633"/>
              <a:gd name="connsiteX1" fmla="*/ 826807 w 826807"/>
              <a:gd name="connsiteY1" fmla="*/ 0 h 432633"/>
              <a:gd name="connsiteX2" fmla="*/ 826807 w 826807"/>
              <a:gd name="connsiteY2" fmla="*/ 432633 h 432633"/>
              <a:gd name="connsiteX3" fmla="*/ 0 w 826807"/>
              <a:gd name="connsiteY3" fmla="*/ 432633 h 432633"/>
              <a:gd name="connsiteX4" fmla="*/ 0 w 826807"/>
              <a:gd name="connsiteY4" fmla="*/ 0 h 432633"/>
              <a:gd name="connsiteX0" fmla="*/ 0 w 826807"/>
              <a:gd name="connsiteY0" fmla="*/ 0 h 432633"/>
              <a:gd name="connsiteX1" fmla="*/ 826807 w 826807"/>
              <a:gd name="connsiteY1" fmla="*/ 0 h 432633"/>
              <a:gd name="connsiteX2" fmla="*/ 826397 w 826807"/>
              <a:gd name="connsiteY2" fmla="*/ 209308 h 432633"/>
              <a:gd name="connsiteX3" fmla="*/ 826807 w 826807"/>
              <a:gd name="connsiteY3" fmla="*/ 432633 h 432633"/>
              <a:gd name="connsiteX4" fmla="*/ 0 w 826807"/>
              <a:gd name="connsiteY4" fmla="*/ 432633 h 432633"/>
              <a:gd name="connsiteX5" fmla="*/ 0 w 826807"/>
              <a:gd name="connsiteY5" fmla="*/ 0 h 432633"/>
              <a:gd name="connsiteX0" fmla="*/ 960 w 827767"/>
              <a:gd name="connsiteY0" fmla="*/ 0 h 432633"/>
              <a:gd name="connsiteX1" fmla="*/ 827767 w 827767"/>
              <a:gd name="connsiteY1" fmla="*/ 0 h 432633"/>
              <a:gd name="connsiteX2" fmla="*/ 827357 w 827767"/>
              <a:gd name="connsiteY2" fmla="*/ 209308 h 432633"/>
              <a:gd name="connsiteX3" fmla="*/ 827767 w 827767"/>
              <a:gd name="connsiteY3" fmla="*/ 432633 h 432633"/>
              <a:gd name="connsiteX4" fmla="*/ 960 w 827767"/>
              <a:gd name="connsiteY4" fmla="*/ 432633 h 432633"/>
              <a:gd name="connsiteX5" fmla="*/ 0 w 827767"/>
              <a:gd name="connsiteY5" fmla="*/ 220738 h 432633"/>
              <a:gd name="connsiteX6" fmla="*/ 960 w 827767"/>
              <a:gd name="connsiteY6" fmla="*/ 0 h 432633"/>
              <a:gd name="connsiteX0" fmla="*/ 960 w 827767"/>
              <a:gd name="connsiteY0" fmla="*/ 0 h 432633"/>
              <a:gd name="connsiteX1" fmla="*/ 827767 w 827767"/>
              <a:gd name="connsiteY1" fmla="*/ 0 h 432633"/>
              <a:gd name="connsiteX2" fmla="*/ 827357 w 827767"/>
              <a:gd name="connsiteY2" fmla="*/ 211213 h 432633"/>
              <a:gd name="connsiteX3" fmla="*/ 827767 w 827767"/>
              <a:gd name="connsiteY3" fmla="*/ 432633 h 432633"/>
              <a:gd name="connsiteX4" fmla="*/ 960 w 827767"/>
              <a:gd name="connsiteY4" fmla="*/ 432633 h 432633"/>
              <a:gd name="connsiteX5" fmla="*/ 0 w 827767"/>
              <a:gd name="connsiteY5" fmla="*/ 220738 h 432633"/>
              <a:gd name="connsiteX6" fmla="*/ 960 w 827767"/>
              <a:gd name="connsiteY6" fmla="*/ 0 h 43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7767" h="432633">
                <a:moveTo>
                  <a:pt x="960" y="0"/>
                </a:moveTo>
                <a:lnTo>
                  <a:pt x="827767" y="0"/>
                </a:lnTo>
                <a:cubicBezTo>
                  <a:pt x="827630" y="69769"/>
                  <a:pt x="827494" y="141444"/>
                  <a:pt x="827357" y="211213"/>
                </a:cubicBezTo>
                <a:cubicBezTo>
                  <a:pt x="827494" y="285655"/>
                  <a:pt x="827630" y="358191"/>
                  <a:pt x="827767" y="432633"/>
                </a:cubicBezTo>
                <a:lnTo>
                  <a:pt x="960" y="432633"/>
                </a:lnTo>
                <a:lnTo>
                  <a:pt x="0" y="220738"/>
                </a:lnTo>
                <a:lnTo>
                  <a:pt x="960" y="0"/>
                </a:lnTo>
                <a:close/>
              </a:path>
            </a:pathLst>
          </a:cu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400" dirty="0">
                <a:solidFill>
                  <a:schemeClr val="tx1"/>
                </a:solidFill>
              </a:rPr>
              <a:t>Preference </a:t>
            </a:r>
            <a:r>
              <a:rPr lang="de-DE" sz="1400" dirty="0" err="1">
                <a:solidFill>
                  <a:schemeClr val="tx1"/>
                </a:solidFill>
              </a:rPr>
              <a:t>vector</a:t>
            </a:r>
            <a:endParaRPr lang="de-DE" sz="1400" dirty="0">
              <a:solidFill>
                <a:schemeClr val="tx1"/>
              </a:solidFill>
            </a:endParaRPr>
          </a:p>
        </p:txBody>
      </p:sp>
      <p:sp>
        <p:nvSpPr>
          <p:cNvPr id="21" name="Rechteck 20">
            <a:extLst>
              <a:ext uri="{FF2B5EF4-FFF2-40B4-BE49-F238E27FC236}">
                <a16:creationId xmlns:a16="http://schemas.microsoft.com/office/drawing/2014/main" id="{1DCD1BA4-4E9E-1A90-9544-88FFE393BBA5}"/>
              </a:ext>
            </a:extLst>
          </p:cNvPr>
          <p:cNvSpPr/>
          <p:nvPr/>
        </p:nvSpPr>
        <p:spPr>
          <a:xfrm>
            <a:off x="8030289" y="2411972"/>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Linear + </a:t>
            </a:r>
            <a:r>
              <a:rPr lang="de-DE" sz="1000" dirty="0" err="1">
                <a:solidFill>
                  <a:schemeClr val="tx1"/>
                </a:solidFill>
              </a:rPr>
              <a:t>expand</a:t>
            </a:r>
            <a:endParaRPr lang="de-DE" sz="1000" dirty="0">
              <a:solidFill>
                <a:schemeClr val="tx1"/>
              </a:solidFill>
            </a:endParaRPr>
          </a:p>
        </p:txBody>
      </p:sp>
      <p:sp>
        <p:nvSpPr>
          <p:cNvPr id="22" name="Rechteck 21">
            <a:extLst>
              <a:ext uri="{FF2B5EF4-FFF2-40B4-BE49-F238E27FC236}">
                <a16:creationId xmlns:a16="http://schemas.microsoft.com/office/drawing/2014/main" id="{9585C2B8-BF8C-C2D0-65DF-668226FA6E56}"/>
              </a:ext>
            </a:extLst>
          </p:cNvPr>
          <p:cNvSpPr/>
          <p:nvPr/>
        </p:nvSpPr>
        <p:spPr>
          <a:xfrm>
            <a:off x="8030289" y="4417084"/>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Decode</a:t>
            </a:r>
            <a:endParaRPr lang="de-DE" sz="1000" dirty="0">
              <a:solidFill>
                <a:schemeClr val="tx1"/>
              </a:solidFill>
            </a:endParaRPr>
          </a:p>
        </p:txBody>
      </p:sp>
      <p:sp>
        <p:nvSpPr>
          <p:cNvPr id="23" name="Flussdiagramm: Verbinder 22">
            <a:extLst>
              <a:ext uri="{FF2B5EF4-FFF2-40B4-BE49-F238E27FC236}">
                <a16:creationId xmlns:a16="http://schemas.microsoft.com/office/drawing/2014/main" id="{572D8F20-DA6E-84C9-C296-2E2D9266AB15}"/>
              </a:ext>
            </a:extLst>
          </p:cNvPr>
          <p:cNvSpPr>
            <a:spLocks noChangeAspect="1"/>
          </p:cNvSpPr>
          <p:nvPr/>
        </p:nvSpPr>
        <p:spPr>
          <a:xfrm>
            <a:off x="8280289" y="3853961"/>
            <a:ext cx="326808" cy="326808"/>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solidFill>
                  <a:sysClr val="windowText" lastClr="000000"/>
                </a:solidFill>
              </a:rPr>
              <a:t>+</a:t>
            </a:r>
          </a:p>
        </p:txBody>
      </p:sp>
      <p:sp>
        <p:nvSpPr>
          <p:cNvPr id="24" name="Rechteck 23">
            <a:extLst>
              <a:ext uri="{FF2B5EF4-FFF2-40B4-BE49-F238E27FC236}">
                <a16:creationId xmlns:a16="http://schemas.microsoft.com/office/drawing/2014/main" id="{1DBCE40B-4194-BB5A-F984-29C44DC48813}"/>
              </a:ext>
            </a:extLst>
          </p:cNvPr>
          <p:cNvSpPr/>
          <p:nvPr/>
        </p:nvSpPr>
        <p:spPr>
          <a:xfrm>
            <a:off x="10226121" y="3153594"/>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Compute</a:t>
            </a:r>
            <a:r>
              <a:rPr lang="de-DE" sz="1000" dirty="0">
                <a:solidFill>
                  <a:schemeClr val="tx1"/>
                </a:solidFill>
              </a:rPr>
              <a:t> </a:t>
            </a:r>
            <a:r>
              <a:rPr lang="de-DE" sz="1000" dirty="0" err="1">
                <a:solidFill>
                  <a:schemeClr val="tx1"/>
                </a:solidFill>
              </a:rPr>
              <a:t>metrics</a:t>
            </a:r>
            <a:endParaRPr lang="de-DE" sz="1000" dirty="0">
              <a:solidFill>
                <a:schemeClr val="tx1"/>
              </a:solidFill>
            </a:endParaRPr>
          </a:p>
        </p:txBody>
      </p:sp>
      <p:sp>
        <p:nvSpPr>
          <p:cNvPr id="25" name="Rechteck 24">
            <a:extLst>
              <a:ext uri="{FF2B5EF4-FFF2-40B4-BE49-F238E27FC236}">
                <a16:creationId xmlns:a16="http://schemas.microsoft.com/office/drawing/2014/main" id="{6D9845B9-3011-B6CF-4FF9-E0B54ED7F08A}"/>
              </a:ext>
            </a:extLst>
          </p:cNvPr>
          <p:cNvSpPr/>
          <p:nvPr/>
        </p:nvSpPr>
        <p:spPr>
          <a:xfrm>
            <a:off x="10226121" y="3890672"/>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Weight</a:t>
            </a:r>
            <a:r>
              <a:rPr lang="de-DE" sz="1000" dirty="0">
                <a:solidFill>
                  <a:schemeClr val="tx1"/>
                </a:solidFill>
              </a:rPr>
              <a:t> </a:t>
            </a:r>
            <a:r>
              <a:rPr lang="de-DE" sz="1000" dirty="0" err="1">
                <a:solidFill>
                  <a:schemeClr val="tx1"/>
                </a:solidFill>
              </a:rPr>
              <a:t>reward</a:t>
            </a:r>
            <a:endParaRPr lang="de-DE" sz="1000" dirty="0">
              <a:solidFill>
                <a:schemeClr val="tx1"/>
              </a:solidFill>
            </a:endParaRPr>
          </a:p>
        </p:txBody>
      </p:sp>
      <p:sp>
        <p:nvSpPr>
          <p:cNvPr id="26" name="Rechteck 25">
            <a:extLst>
              <a:ext uri="{FF2B5EF4-FFF2-40B4-BE49-F238E27FC236}">
                <a16:creationId xmlns:a16="http://schemas.microsoft.com/office/drawing/2014/main" id="{8C1709B4-D5F4-1853-764D-056B4955F85B}"/>
              </a:ext>
            </a:extLst>
          </p:cNvPr>
          <p:cNvSpPr/>
          <p:nvPr/>
        </p:nvSpPr>
        <p:spPr>
          <a:xfrm>
            <a:off x="10226121" y="4627440"/>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800" dirty="0">
                <a:solidFill>
                  <a:schemeClr val="tx1"/>
                </a:solidFill>
              </a:rPr>
              <a:t>REINFORCE</a:t>
            </a:r>
          </a:p>
        </p:txBody>
      </p:sp>
      <p:cxnSp>
        <p:nvCxnSpPr>
          <p:cNvPr id="28" name="Gerade Verbindung mit Pfeil 27">
            <a:extLst>
              <a:ext uri="{FF2B5EF4-FFF2-40B4-BE49-F238E27FC236}">
                <a16:creationId xmlns:a16="http://schemas.microsoft.com/office/drawing/2014/main" id="{397D6764-6387-015F-C40E-A8F503C36722}"/>
              </a:ext>
            </a:extLst>
          </p:cNvPr>
          <p:cNvCxnSpPr>
            <a:stCxn id="4" idx="2"/>
            <a:endCxn id="16" idx="0"/>
          </p:cNvCxnSpPr>
          <p:nvPr/>
        </p:nvCxnSpPr>
        <p:spPr>
          <a:xfrm flipH="1">
            <a:off x="6819048" y="2059254"/>
            <a:ext cx="1" cy="352719"/>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29" name="Gerade Verbindung mit Pfeil 28">
            <a:extLst>
              <a:ext uri="{FF2B5EF4-FFF2-40B4-BE49-F238E27FC236}">
                <a16:creationId xmlns:a16="http://schemas.microsoft.com/office/drawing/2014/main" id="{0D4FB359-FF13-4384-A870-B3F848C9F94F}"/>
              </a:ext>
            </a:extLst>
          </p:cNvPr>
          <p:cNvCxnSpPr>
            <a:cxnSpLocks/>
            <a:endCxn id="23" idx="0"/>
          </p:cNvCxnSpPr>
          <p:nvPr/>
        </p:nvCxnSpPr>
        <p:spPr>
          <a:xfrm>
            <a:off x="8443693" y="3617646"/>
            <a:ext cx="0" cy="23631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3" name="Gerade Verbindung mit Pfeil 32">
            <a:extLst>
              <a:ext uri="{FF2B5EF4-FFF2-40B4-BE49-F238E27FC236}">
                <a16:creationId xmlns:a16="http://schemas.microsoft.com/office/drawing/2014/main" id="{4132D81E-A904-7AE2-9324-38B3D5A53165}"/>
              </a:ext>
            </a:extLst>
          </p:cNvPr>
          <p:cNvCxnSpPr>
            <a:cxnSpLocks/>
            <a:stCxn id="23" idx="4"/>
            <a:endCxn id="22" idx="0"/>
          </p:cNvCxnSpPr>
          <p:nvPr/>
        </p:nvCxnSpPr>
        <p:spPr>
          <a:xfrm>
            <a:off x="8443693" y="4180769"/>
            <a:ext cx="0" cy="23631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8" name="Gerade Verbindung mit Pfeil 37">
            <a:extLst>
              <a:ext uri="{FF2B5EF4-FFF2-40B4-BE49-F238E27FC236}">
                <a16:creationId xmlns:a16="http://schemas.microsoft.com/office/drawing/2014/main" id="{B09DA255-2FE3-3B23-D037-98361CD62FE4}"/>
              </a:ext>
            </a:extLst>
          </p:cNvPr>
          <p:cNvCxnSpPr>
            <a:cxnSpLocks/>
            <a:stCxn id="22" idx="2"/>
          </p:cNvCxnSpPr>
          <p:nvPr/>
        </p:nvCxnSpPr>
        <p:spPr>
          <a:xfrm>
            <a:off x="8443693" y="4849717"/>
            <a:ext cx="0" cy="23631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2" name="Gerade Verbindung mit Pfeil 41">
            <a:extLst>
              <a:ext uri="{FF2B5EF4-FFF2-40B4-BE49-F238E27FC236}">
                <a16:creationId xmlns:a16="http://schemas.microsoft.com/office/drawing/2014/main" id="{7BA94242-A7E7-2BD8-F9BB-81A6F91991E5}"/>
              </a:ext>
            </a:extLst>
          </p:cNvPr>
          <p:cNvCxnSpPr>
            <a:cxnSpLocks/>
          </p:cNvCxnSpPr>
          <p:nvPr/>
        </p:nvCxnSpPr>
        <p:spPr>
          <a:xfrm flipH="1">
            <a:off x="8192231" y="2841021"/>
            <a:ext cx="2" cy="34399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45" name="Gerade Verbindung mit Pfeil 44">
            <a:extLst>
              <a:ext uri="{FF2B5EF4-FFF2-40B4-BE49-F238E27FC236}">
                <a16:creationId xmlns:a16="http://schemas.microsoft.com/office/drawing/2014/main" id="{E03ACEE9-7310-0210-15AE-CCEFE80B85E5}"/>
              </a:ext>
            </a:extLst>
          </p:cNvPr>
          <p:cNvCxnSpPr>
            <a:cxnSpLocks/>
            <a:stCxn id="19" idx="5"/>
            <a:endCxn id="21" idx="3"/>
          </p:cNvCxnSpPr>
          <p:nvPr/>
        </p:nvCxnSpPr>
        <p:spPr>
          <a:xfrm flipH="1" flipV="1">
            <a:off x="8857096" y="2628289"/>
            <a:ext cx="795538" cy="442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3" name="Gerade Verbindung mit Pfeil 52">
            <a:extLst>
              <a:ext uri="{FF2B5EF4-FFF2-40B4-BE49-F238E27FC236}">
                <a16:creationId xmlns:a16="http://schemas.microsoft.com/office/drawing/2014/main" id="{2DC8C917-2C16-2340-61E3-6E6557D080FB}"/>
              </a:ext>
            </a:extLst>
          </p:cNvPr>
          <p:cNvCxnSpPr>
            <a:cxnSpLocks/>
            <a:stCxn id="24" idx="2"/>
            <a:endCxn id="25" idx="0"/>
          </p:cNvCxnSpPr>
          <p:nvPr/>
        </p:nvCxnSpPr>
        <p:spPr>
          <a:xfrm>
            <a:off x="10639525" y="3586227"/>
            <a:ext cx="0" cy="30444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56" name="Gerade Verbindung mit Pfeil 55">
            <a:extLst>
              <a:ext uri="{FF2B5EF4-FFF2-40B4-BE49-F238E27FC236}">
                <a16:creationId xmlns:a16="http://schemas.microsoft.com/office/drawing/2014/main" id="{8FBC2A05-5663-4490-4978-35F56596E80D}"/>
              </a:ext>
            </a:extLst>
          </p:cNvPr>
          <p:cNvCxnSpPr>
            <a:cxnSpLocks/>
            <a:stCxn id="25" idx="2"/>
            <a:endCxn id="26" idx="0"/>
          </p:cNvCxnSpPr>
          <p:nvPr/>
        </p:nvCxnSpPr>
        <p:spPr>
          <a:xfrm>
            <a:off x="10639525" y="4323305"/>
            <a:ext cx="0" cy="304135"/>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0" name="Verbinder: gewinkelt 59">
            <a:extLst>
              <a:ext uri="{FF2B5EF4-FFF2-40B4-BE49-F238E27FC236}">
                <a16:creationId xmlns:a16="http://schemas.microsoft.com/office/drawing/2014/main" id="{40CD6D6D-1EFD-4282-5C25-8805B9346559}"/>
              </a:ext>
            </a:extLst>
          </p:cNvPr>
          <p:cNvCxnSpPr>
            <a:cxnSpLocks/>
            <a:stCxn id="19" idx="2"/>
            <a:endCxn id="25" idx="3"/>
          </p:cNvCxnSpPr>
          <p:nvPr/>
        </p:nvCxnSpPr>
        <p:spPr>
          <a:xfrm flipH="1">
            <a:off x="11052928" y="2623185"/>
            <a:ext cx="580905" cy="1483804"/>
          </a:xfrm>
          <a:prstGeom prst="bentConnector3">
            <a:avLst>
              <a:gd name="adj1" fmla="val -39521"/>
            </a:avLst>
          </a:prstGeom>
          <a:ln w="12700">
            <a:tailEnd type="triangle"/>
          </a:ln>
        </p:spPr>
        <p:style>
          <a:lnRef idx="1">
            <a:schemeClr val="dk1"/>
          </a:lnRef>
          <a:fillRef idx="0">
            <a:schemeClr val="dk1"/>
          </a:fillRef>
          <a:effectRef idx="0">
            <a:schemeClr val="dk1"/>
          </a:effectRef>
          <a:fontRef idx="minor">
            <a:schemeClr val="tx1"/>
          </a:fontRef>
        </p:style>
      </p:cxnSp>
      <p:cxnSp>
        <p:nvCxnSpPr>
          <p:cNvPr id="65" name="Verbinder: gewinkelt 64">
            <a:extLst>
              <a:ext uri="{FF2B5EF4-FFF2-40B4-BE49-F238E27FC236}">
                <a16:creationId xmlns:a16="http://schemas.microsoft.com/office/drawing/2014/main" id="{DB06EF49-63E0-FDDF-941D-99AC257DDA1D}"/>
              </a:ext>
            </a:extLst>
          </p:cNvPr>
          <p:cNvCxnSpPr>
            <a:cxnSpLocks/>
            <a:endCxn id="24" idx="1"/>
          </p:cNvCxnSpPr>
          <p:nvPr/>
        </p:nvCxnSpPr>
        <p:spPr>
          <a:xfrm rot="5400000" flipH="1" flipV="1">
            <a:off x="8801290" y="4078382"/>
            <a:ext cx="2133301" cy="716361"/>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cxnSp>
        <p:nvCxnSpPr>
          <p:cNvPr id="74" name="Gerade Verbindung mit Pfeil 73">
            <a:extLst>
              <a:ext uri="{FF2B5EF4-FFF2-40B4-BE49-F238E27FC236}">
                <a16:creationId xmlns:a16="http://schemas.microsoft.com/office/drawing/2014/main" id="{D444BA9C-4AC3-EC7A-FAF3-B49E33802124}"/>
              </a:ext>
            </a:extLst>
          </p:cNvPr>
          <p:cNvCxnSpPr>
            <a:cxnSpLocks/>
          </p:cNvCxnSpPr>
          <p:nvPr/>
        </p:nvCxnSpPr>
        <p:spPr>
          <a:xfrm>
            <a:off x="8691341" y="2983230"/>
            <a:ext cx="0" cy="2017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6" name="Gerade Verbindung mit Pfeil 75">
            <a:extLst>
              <a:ext uri="{FF2B5EF4-FFF2-40B4-BE49-F238E27FC236}">
                <a16:creationId xmlns:a16="http://schemas.microsoft.com/office/drawing/2014/main" id="{22EFDD4C-9366-7FB2-43AD-CB4A12A724E4}"/>
              </a:ext>
            </a:extLst>
          </p:cNvPr>
          <p:cNvCxnSpPr>
            <a:cxnSpLocks/>
          </p:cNvCxnSpPr>
          <p:nvPr/>
        </p:nvCxnSpPr>
        <p:spPr>
          <a:xfrm>
            <a:off x="8443692" y="2983230"/>
            <a:ext cx="0" cy="2017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8" name="Verbinder: gewinkelt 77">
            <a:extLst>
              <a:ext uri="{FF2B5EF4-FFF2-40B4-BE49-F238E27FC236}">
                <a16:creationId xmlns:a16="http://schemas.microsoft.com/office/drawing/2014/main" id="{6948E283-7948-DA44-538D-EB39409B151F}"/>
              </a:ext>
            </a:extLst>
          </p:cNvPr>
          <p:cNvCxnSpPr>
            <a:endCxn id="16" idx="2"/>
          </p:cNvCxnSpPr>
          <p:nvPr/>
        </p:nvCxnSpPr>
        <p:spPr>
          <a:xfrm rot="10800000">
            <a:off x="6819049" y="2844606"/>
            <a:ext cx="1872293" cy="138624"/>
          </a:xfrm>
          <a:prstGeom prst="bentConnector2">
            <a:avLst/>
          </a:prstGeom>
          <a:ln w="12700"/>
        </p:spPr>
        <p:style>
          <a:lnRef idx="1">
            <a:schemeClr val="dk1"/>
          </a:lnRef>
          <a:fillRef idx="0">
            <a:schemeClr val="dk1"/>
          </a:fillRef>
          <a:effectRef idx="0">
            <a:schemeClr val="dk1"/>
          </a:effectRef>
          <a:fontRef idx="minor">
            <a:schemeClr val="tx1"/>
          </a:fontRef>
        </p:style>
      </p:cxnSp>
      <p:cxnSp>
        <p:nvCxnSpPr>
          <p:cNvPr id="80" name="Gerader Verbinder 79">
            <a:extLst>
              <a:ext uri="{FF2B5EF4-FFF2-40B4-BE49-F238E27FC236}">
                <a16:creationId xmlns:a16="http://schemas.microsoft.com/office/drawing/2014/main" id="{D26F72D0-3B89-A081-5580-046922AA9828}"/>
              </a:ext>
            </a:extLst>
          </p:cNvPr>
          <p:cNvCxnSpPr/>
          <p:nvPr/>
        </p:nvCxnSpPr>
        <p:spPr>
          <a:xfrm>
            <a:off x="8747760" y="5503212"/>
            <a:ext cx="76200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2" name="Verbinder: gewinkelt 81">
            <a:extLst>
              <a:ext uri="{FF2B5EF4-FFF2-40B4-BE49-F238E27FC236}">
                <a16:creationId xmlns:a16="http://schemas.microsoft.com/office/drawing/2014/main" id="{0D1A4CEE-7638-A2A3-F62B-29EED20BFC65}"/>
              </a:ext>
            </a:extLst>
          </p:cNvPr>
          <p:cNvCxnSpPr>
            <a:cxnSpLocks/>
            <a:stCxn id="16" idx="2"/>
            <a:endCxn id="23" idx="2"/>
          </p:cNvCxnSpPr>
          <p:nvPr/>
        </p:nvCxnSpPr>
        <p:spPr>
          <a:xfrm rot="16200000" flipH="1">
            <a:off x="6963289" y="2700364"/>
            <a:ext cx="1172759" cy="1461241"/>
          </a:xfrm>
          <a:prstGeom prst="bentConnector2">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30988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4BA51A-2D4E-7951-D308-052DBB3A8FE0}"/>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1708D253-2915-855E-D88D-009072F8203F}"/>
              </a:ext>
            </a:extLst>
          </p:cNvPr>
          <p:cNvSpPr>
            <a:spLocks noGrp="1"/>
          </p:cNvSpPr>
          <p:nvPr>
            <p:ph type="title"/>
          </p:nvPr>
        </p:nvSpPr>
        <p:spPr/>
        <p:txBody>
          <a:bodyPr/>
          <a:lstStyle/>
          <a:p>
            <a:r>
              <a:rPr lang="en-US" dirty="0"/>
              <a:t>Improving Medical Large Vision-Language Models with Abnormal-Aware Feedback</a:t>
            </a:r>
            <a:br>
              <a:rPr lang="en-US" dirty="0"/>
            </a:br>
            <a:r>
              <a:rPr lang="en-US" dirty="0"/>
              <a:t>(Zhou et al., 2025) [8]</a:t>
            </a:r>
            <a:endParaRPr lang="de-DE" dirty="0"/>
          </a:p>
        </p:txBody>
      </p:sp>
      <p:sp>
        <p:nvSpPr>
          <p:cNvPr id="5" name="Textplatzhalter 1">
            <a:extLst>
              <a:ext uri="{FF2B5EF4-FFF2-40B4-BE49-F238E27FC236}">
                <a16:creationId xmlns:a16="http://schemas.microsoft.com/office/drawing/2014/main" id="{A891687E-3D9A-F704-3D44-0BEC5496DAE0}"/>
              </a:ext>
            </a:extLst>
          </p:cNvPr>
          <p:cNvSpPr>
            <a:spLocks noGrp="1"/>
          </p:cNvSpPr>
          <p:nvPr>
            <p:ph type="body" sz="quarter" idx="13"/>
          </p:nvPr>
        </p:nvSpPr>
        <p:spPr>
          <a:xfrm>
            <a:off x="384000" y="1303200"/>
            <a:ext cx="5612400" cy="5128080"/>
          </a:xfrm>
        </p:spPr>
        <p:txBody>
          <a:bodyPr/>
          <a:lstStyle/>
          <a:p>
            <a:pPr algn="just"/>
            <a:r>
              <a:rPr lang="en-US" sz="1400" b="1" dirty="0"/>
              <a:t>Problems</a:t>
            </a:r>
          </a:p>
          <a:p>
            <a:pPr algn="just"/>
            <a:r>
              <a:rPr lang="en-US" sz="1400" b="1" dirty="0"/>
              <a:t>Approach</a:t>
            </a:r>
          </a:p>
          <a:p>
            <a:pPr algn="just"/>
            <a:r>
              <a:rPr lang="en-US" sz="1400" b="1" dirty="0"/>
              <a:t>Results</a:t>
            </a:r>
          </a:p>
          <a:p>
            <a:pPr algn="just"/>
            <a:r>
              <a:rPr lang="en-US" sz="1400" b="1" dirty="0"/>
              <a:t>Key Takeaway</a:t>
            </a:r>
          </a:p>
        </p:txBody>
      </p:sp>
      <p:sp>
        <p:nvSpPr>
          <p:cNvPr id="6" name="Inhaltsplatzhalter 3">
            <a:extLst>
              <a:ext uri="{FF2B5EF4-FFF2-40B4-BE49-F238E27FC236}">
                <a16:creationId xmlns:a16="http://schemas.microsoft.com/office/drawing/2014/main" id="{5D2A0472-82F2-EB1D-9837-B6603ADDB102}"/>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Proceedings of the 63rd Annual Meeting of the Association for Computational Linguistics (Volume 1: Long Papers)</a:t>
            </a:r>
            <a:endParaRPr lang="de-DE" sz="1600" dirty="0"/>
          </a:p>
        </p:txBody>
      </p:sp>
    </p:spTree>
    <p:extLst>
      <p:ext uri="{BB962C8B-B14F-4D97-AF65-F5344CB8AC3E}">
        <p14:creationId xmlns:p14="http://schemas.microsoft.com/office/powerpoint/2010/main" val="98042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0B15-447F-4D59-43D1-AD62176066E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35359CFB-1F05-1EF4-BF86-3914312404F3}"/>
              </a:ext>
            </a:extLst>
          </p:cNvPr>
          <p:cNvSpPr>
            <a:spLocks noGrp="1"/>
          </p:cNvSpPr>
          <p:nvPr>
            <p:ph type="title"/>
          </p:nvPr>
        </p:nvSpPr>
        <p:spPr/>
        <p:txBody>
          <a:bodyPr/>
          <a:lstStyle/>
          <a:p>
            <a:r>
              <a:rPr lang="en-US" dirty="0" err="1"/>
              <a:t>CheXalign</a:t>
            </a:r>
            <a:r>
              <a:rPr lang="en-US" dirty="0"/>
              <a:t>: Preference fine-tuning in chest X-ray interpretation models without human feedback (Hein et al., 2025) [9]</a:t>
            </a:r>
            <a:endParaRPr lang="de-DE" dirty="0"/>
          </a:p>
        </p:txBody>
      </p:sp>
      <p:sp>
        <p:nvSpPr>
          <p:cNvPr id="5" name="Textplatzhalter 1">
            <a:extLst>
              <a:ext uri="{FF2B5EF4-FFF2-40B4-BE49-F238E27FC236}">
                <a16:creationId xmlns:a16="http://schemas.microsoft.com/office/drawing/2014/main" id="{85662E77-013D-9021-228B-19A365CDA656}"/>
              </a:ext>
            </a:extLst>
          </p:cNvPr>
          <p:cNvSpPr>
            <a:spLocks noGrp="1"/>
          </p:cNvSpPr>
          <p:nvPr>
            <p:ph type="body" sz="quarter" idx="13"/>
          </p:nvPr>
        </p:nvSpPr>
        <p:spPr>
          <a:xfrm>
            <a:off x="384000" y="1303200"/>
            <a:ext cx="5612400" cy="5128080"/>
          </a:xfrm>
        </p:spPr>
        <p:txBody>
          <a:bodyPr/>
          <a:lstStyle/>
          <a:p>
            <a:pPr algn="just"/>
            <a:r>
              <a:rPr lang="en-US" sz="1400" b="1" dirty="0"/>
              <a:t>Problems</a:t>
            </a:r>
          </a:p>
          <a:p>
            <a:pPr algn="just"/>
            <a:r>
              <a:rPr lang="en-US" sz="1400" b="1" dirty="0"/>
              <a:t>Approach</a:t>
            </a:r>
          </a:p>
          <a:p>
            <a:pPr algn="just"/>
            <a:r>
              <a:rPr lang="en-US" sz="1400" b="1" dirty="0"/>
              <a:t>Results</a:t>
            </a:r>
          </a:p>
          <a:p>
            <a:pPr algn="just"/>
            <a:r>
              <a:rPr lang="en-US" sz="1400" b="1" dirty="0"/>
              <a:t>Key Takeaway</a:t>
            </a:r>
          </a:p>
        </p:txBody>
      </p:sp>
      <p:sp>
        <p:nvSpPr>
          <p:cNvPr id="6" name="Inhaltsplatzhalter 3">
            <a:extLst>
              <a:ext uri="{FF2B5EF4-FFF2-40B4-BE49-F238E27FC236}">
                <a16:creationId xmlns:a16="http://schemas.microsoft.com/office/drawing/2014/main" id="{84D6C87C-EA47-7F14-2749-7484057B8CA1}"/>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Proceedings of the 63rd Annual Meeting of the Association for Computational Linguistics (Volume 1: Long Papers)</a:t>
            </a:r>
            <a:endParaRPr lang="de-DE" sz="1600" dirty="0"/>
          </a:p>
        </p:txBody>
      </p:sp>
    </p:spTree>
    <p:extLst>
      <p:ext uri="{BB962C8B-B14F-4D97-AF65-F5344CB8AC3E}">
        <p14:creationId xmlns:p14="http://schemas.microsoft.com/office/powerpoint/2010/main" val="2546080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C41AC-6F90-FFA6-EE20-1B463ECC9703}"/>
            </a:ext>
          </a:extLst>
        </p:cNvPr>
        <p:cNvGrpSpPr/>
        <p:nvPr/>
      </p:nvGrpSpPr>
      <p:grpSpPr>
        <a:xfrm>
          <a:off x="0" y="0"/>
          <a:ext cx="0" cy="0"/>
          <a:chOff x="0" y="0"/>
          <a:chExt cx="0" cy="0"/>
        </a:xfrm>
      </p:grpSpPr>
      <p:sp>
        <p:nvSpPr>
          <p:cNvPr id="13" name="Rechteck: abgerundete Ecken 12">
            <a:extLst>
              <a:ext uri="{FF2B5EF4-FFF2-40B4-BE49-F238E27FC236}">
                <a16:creationId xmlns:a16="http://schemas.microsoft.com/office/drawing/2014/main" id="{B6AAD983-25C5-C2E7-47AD-D240861100A9}"/>
              </a:ext>
            </a:extLst>
          </p:cNvPr>
          <p:cNvSpPr/>
          <p:nvPr/>
        </p:nvSpPr>
        <p:spPr>
          <a:xfrm>
            <a:off x="7644103" y="5102649"/>
            <a:ext cx="4322689" cy="91440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2" name="Rechteck: abgerundete Ecken 11">
            <a:extLst>
              <a:ext uri="{FF2B5EF4-FFF2-40B4-BE49-F238E27FC236}">
                <a16:creationId xmlns:a16="http://schemas.microsoft.com/office/drawing/2014/main" id="{F527031F-D270-E198-3D60-7C6B2C224883}"/>
              </a:ext>
            </a:extLst>
          </p:cNvPr>
          <p:cNvSpPr/>
          <p:nvPr/>
        </p:nvSpPr>
        <p:spPr>
          <a:xfrm>
            <a:off x="6165781" y="1301975"/>
            <a:ext cx="1236882" cy="471722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Textplatzhalter 1">
            <a:extLst>
              <a:ext uri="{FF2B5EF4-FFF2-40B4-BE49-F238E27FC236}">
                <a16:creationId xmlns:a16="http://schemas.microsoft.com/office/drawing/2014/main" id="{FBFDBB43-DA7C-F323-6947-77AF486B3036}"/>
              </a:ext>
            </a:extLst>
          </p:cNvPr>
          <p:cNvSpPr>
            <a:spLocks noGrp="1"/>
          </p:cNvSpPr>
          <p:nvPr>
            <p:ph type="body" sz="quarter" idx="13"/>
          </p:nvPr>
        </p:nvSpPr>
        <p:spPr>
          <a:xfrm>
            <a:off x="384000" y="1303200"/>
            <a:ext cx="5612400" cy="5128080"/>
          </a:xfrm>
        </p:spPr>
        <p:txBody>
          <a:bodyPr/>
          <a:lstStyle/>
          <a:p>
            <a:pPr algn="just"/>
            <a:r>
              <a:rPr lang="en-US" sz="1400" b="1" dirty="0"/>
              <a:t>Problems</a:t>
            </a:r>
          </a:p>
          <a:p>
            <a:pPr lvl="1" algn="just"/>
            <a:r>
              <a:rPr lang="en-US" sz="1200" dirty="0"/>
              <a:t>Prior RRG models improve linguistic quality but cause hallucinations by treating all tokens equally.</a:t>
            </a:r>
          </a:p>
          <a:p>
            <a:pPr lvl="1" algn="just"/>
            <a:r>
              <a:rPr lang="en-US" sz="1200" dirty="0"/>
              <a:t>RLHF is computationally expensive due to reward model training.</a:t>
            </a:r>
          </a:p>
          <a:p>
            <a:pPr algn="just"/>
            <a:r>
              <a:rPr lang="en-US" sz="1400" b="1" dirty="0"/>
              <a:t>Approach</a:t>
            </a:r>
          </a:p>
          <a:p>
            <a:pPr lvl="1" algn="just"/>
            <a:r>
              <a:rPr lang="en-US" sz="1200" dirty="0"/>
              <a:t>The authors introduce RRG-DPO, a method to align radiology reports with the constructed preference dataset. RRG-DPO consists of three steps</a:t>
            </a:r>
          </a:p>
          <a:p>
            <a:pPr lvl="2" algn="just"/>
            <a:r>
              <a:rPr lang="en-US" sz="1200" b="1" dirty="0"/>
              <a:t>Clinical-relevant </a:t>
            </a:r>
            <a:r>
              <a:rPr lang="en-US" sz="1200" b="1" dirty="0" err="1"/>
              <a:t>dispreference</a:t>
            </a:r>
            <a:r>
              <a:rPr lang="en-US" sz="1200" b="1" dirty="0"/>
              <a:t> retrieval:</a:t>
            </a:r>
            <a:r>
              <a:rPr lang="en-US" sz="1200" dirty="0"/>
              <a:t> retrieves the top-</a:t>
            </a:r>
            <a:r>
              <a:rPr lang="en-US" sz="1200" dirty="0" err="1"/>
              <a:t>N</a:t>
            </a:r>
            <a:r>
              <a:rPr lang="en-US" sz="1200" baseline="-25000" dirty="0" err="1"/>
              <a:t>l</a:t>
            </a:r>
            <a:r>
              <a:rPr lang="en-US" sz="1200" baseline="-25000" dirty="0"/>
              <a:t> </a:t>
            </a:r>
            <a:r>
              <a:rPr lang="en-US" sz="1200" dirty="0"/>
              <a:t>reports for each preferred report by cosine similarity.</a:t>
            </a:r>
          </a:p>
          <a:p>
            <a:pPr lvl="2" algn="just"/>
            <a:r>
              <a:rPr lang="en-US" sz="1200" b="1" dirty="0"/>
              <a:t>Abnormal-aware dispreferred response selection: </a:t>
            </a:r>
            <a:r>
              <a:rPr lang="en-US" sz="1200" dirty="0"/>
              <a:t>chooses the report most clinically different using </a:t>
            </a:r>
            <a:r>
              <a:rPr lang="en-US" sz="1200" dirty="0" err="1"/>
              <a:t>CheXbert</a:t>
            </a:r>
            <a:r>
              <a:rPr lang="en-US" sz="1200" dirty="0"/>
              <a:t> vectors.</a:t>
            </a:r>
          </a:p>
          <a:p>
            <a:pPr lvl="2" algn="just"/>
            <a:r>
              <a:rPr lang="en-US" sz="1200" b="1" dirty="0"/>
              <a:t>Sub-preference construction:</a:t>
            </a:r>
            <a:r>
              <a:rPr lang="en-US" sz="1200" dirty="0"/>
              <a:t> deletes all abnormality-conflicting sentences from the dispreferred report, so that the objective can condition on that (i.e. the clinically correct part of the dispreferred report doesn’t get less likely than predicted from the reference)</a:t>
            </a:r>
          </a:p>
          <a:p>
            <a:pPr algn="just"/>
            <a:r>
              <a:rPr lang="en-US" sz="1400" b="1" dirty="0"/>
              <a:t>Results</a:t>
            </a:r>
          </a:p>
          <a:p>
            <a:pPr lvl="1" algn="just"/>
            <a:r>
              <a:rPr lang="en-US" sz="1200" dirty="0"/>
              <a:t>RRG-DPO improves the Clinical Efficacy (</a:t>
            </a:r>
            <a:r>
              <a:rPr lang="en-US" sz="1200" dirty="0" err="1"/>
              <a:t>RadGraph</a:t>
            </a:r>
            <a:r>
              <a:rPr lang="en-US" sz="1200" dirty="0"/>
              <a:t>, </a:t>
            </a:r>
            <a:r>
              <a:rPr lang="en-US" sz="1200" dirty="0" err="1"/>
              <a:t>RadCliQ</a:t>
            </a:r>
            <a:r>
              <a:rPr lang="en-US" sz="1200" dirty="0"/>
              <a:t> and </a:t>
            </a:r>
            <a:r>
              <a:rPr lang="en-US" sz="1200" dirty="0" err="1"/>
              <a:t>RaTEScore</a:t>
            </a:r>
            <a:r>
              <a:rPr lang="en-US" sz="1200" dirty="0"/>
              <a:t>) metrics for all base models on MIMIC-CXR and CT-RATE datasets.</a:t>
            </a:r>
          </a:p>
          <a:p>
            <a:pPr lvl="1" algn="just"/>
            <a:r>
              <a:rPr lang="en-US" sz="1200" dirty="0"/>
              <a:t>Ablation studies show that the RRG-DPO yield the best results compared to only parts of the architecture.</a:t>
            </a:r>
          </a:p>
          <a:p>
            <a:pPr algn="just"/>
            <a:r>
              <a:rPr lang="en-US" sz="1400" b="1" dirty="0"/>
              <a:t>Key Takeaway</a:t>
            </a:r>
          </a:p>
          <a:p>
            <a:pPr lvl="1" algn="just"/>
            <a:r>
              <a:rPr lang="en-US" sz="1200" dirty="0"/>
              <a:t>Clinically informed preference construction enables effective DPO-based alignment of radiology report generators, reducing abnormality-related hallucinations and improving clinical efficacy across models.</a:t>
            </a:r>
          </a:p>
        </p:txBody>
      </p:sp>
      <p:sp>
        <p:nvSpPr>
          <p:cNvPr id="2" name="Rechteck: abgerundete Ecken 1">
            <a:extLst>
              <a:ext uri="{FF2B5EF4-FFF2-40B4-BE49-F238E27FC236}">
                <a16:creationId xmlns:a16="http://schemas.microsoft.com/office/drawing/2014/main" id="{64D6C102-06F7-E392-5622-37FDA39CF83F}"/>
              </a:ext>
            </a:extLst>
          </p:cNvPr>
          <p:cNvSpPr/>
          <p:nvPr/>
        </p:nvSpPr>
        <p:spPr>
          <a:xfrm>
            <a:off x="7625998" y="1295661"/>
            <a:ext cx="4322689" cy="280229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Titel 2">
            <a:extLst>
              <a:ext uri="{FF2B5EF4-FFF2-40B4-BE49-F238E27FC236}">
                <a16:creationId xmlns:a16="http://schemas.microsoft.com/office/drawing/2014/main" id="{337C80ED-6963-E8D1-6DD0-B956BD47AE26}"/>
              </a:ext>
            </a:extLst>
          </p:cNvPr>
          <p:cNvSpPr>
            <a:spLocks noGrp="1"/>
          </p:cNvSpPr>
          <p:nvPr>
            <p:ph type="title"/>
          </p:nvPr>
        </p:nvSpPr>
        <p:spPr/>
        <p:txBody>
          <a:bodyPr/>
          <a:lstStyle/>
          <a:p>
            <a:r>
              <a:rPr lang="en-US" dirty="0"/>
              <a:t>RRG-DPO: Direct Preference Optimization for Clinically Accurate Radiology Report Generation (Liu et al., 2025) [10]</a:t>
            </a:r>
            <a:endParaRPr lang="de-DE" dirty="0"/>
          </a:p>
        </p:txBody>
      </p:sp>
      <p:grpSp>
        <p:nvGrpSpPr>
          <p:cNvPr id="53" name="Gruppieren 52">
            <a:extLst>
              <a:ext uri="{FF2B5EF4-FFF2-40B4-BE49-F238E27FC236}">
                <a16:creationId xmlns:a16="http://schemas.microsoft.com/office/drawing/2014/main" id="{F068AE4B-00B9-2277-AEED-D626E29F35D5}"/>
              </a:ext>
            </a:extLst>
          </p:cNvPr>
          <p:cNvGrpSpPr/>
          <p:nvPr/>
        </p:nvGrpSpPr>
        <p:grpSpPr>
          <a:xfrm>
            <a:off x="10731110" y="1291098"/>
            <a:ext cx="992934" cy="998043"/>
            <a:chOff x="9382902" y="1201267"/>
            <a:chExt cx="992934" cy="998043"/>
          </a:xfrm>
        </p:grpSpPr>
        <p:sp>
          <p:nvSpPr>
            <p:cNvPr id="48" name="Rechteck: eine Ecke abgeschnitten 90">
              <a:extLst>
                <a:ext uri="{FF2B5EF4-FFF2-40B4-BE49-F238E27FC236}">
                  <a16:creationId xmlns:a16="http://schemas.microsoft.com/office/drawing/2014/main" id="{5EB6D640-1108-8A5F-B34B-95FF5C743DB4}"/>
                </a:ext>
              </a:extLst>
            </p:cNvPr>
            <p:cNvSpPr/>
            <p:nvPr/>
          </p:nvSpPr>
          <p:spPr>
            <a:xfrm>
              <a:off x="9643373" y="1288503"/>
              <a:ext cx="546887"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6" name="Grafik 25" descr="Papier Silhouette">
              <a:extLst>
                <a:ext uri="{FF2B5EF4-FFF2-40B4-BE49-F238E27FC236}">
                  <a16:creationId xmlns:a16="http://schemas.microsoft.com/office/drawing/2014/main" id="{02CA7FDC-B5BB-82A0-4F0C-1E9150B1CE1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61436" y="1201267"/>
              <a:ext cx="914400" cy="914400"/>
            </a:xfrm>
            <a:prstGeom prst="rect">
              <a:avLst/>
            </a:prstGeom>
          </p:spPr>
        </p:pic>
        <p:sp>
          <p:nvSpPr>
            <p:cNvPr id="47" name="Rechteck: eine Ecke abgeschnitten 90">
              <a:extLst>
                <a:ext uri="{FF2B5EF4-FFF2-40B4-BE49-F238E27FC236}">
                  <a16:creationId xmlns:a16="http://schemas.microsoft.com/office/drawing/2014/main" id="{D41C10F0-B20F-1A57-2DA7-C6F44630AC64}"/>
                </a:ext>
              </a:extLst>
            </p:cNvPr>
            <p:cNvSpPr/>
            <p:nvPr/>
          </p:nvSpPr>
          <p:spPr>
            <a:xfrm>
              <a:off x="9574681" y="1364309"/>
              <a:ext cx="546887"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15" name="Gruppieren 14">
              <a:extLst>
                <a:ext uri="{FF2B5EF4-FFF2-40B4-BE49-F238E27FC236}">
                  <a16:creationId xmlns:a16="http://schemas.microsoft.com/office/drawing/2014/main" id="{414BA791-41FB-946E-17C3-783EB4E7D30C}"/>
                </a:ext>
              </a:extLst>
            </p:cNvPr>
            <p:cNvGrpSpPr/>
            <p:nvPr/>
          </p:nvGrpSpPr>
          <p:grpSpPr>
            <a:xfrm>
              <a:off x="9382902" y="1277073"/>
              <a:ext cx="914400" cy="914400"/>
              <a:chOff x="8088548" y="1377607"/>
              <a:chExt cx="914400" cy="914400"/>
            </a:xfrm>
          </p:grpSpPr>
          <p:pic>
            <p:nvPicPr>
              <p:cNvPr id="24" name="Grafik 23" descr="Papier Silhouette">
                <a:extLst>
                  <a:ext uri="{FF2B5EF4-FFF2-40B4-BE49-F238E27FC236}">
                    <a16:creationId xmlns:a16="http://schemas.microsoft.com/office/drawing/2014/main" id="{6DBDB9AF-5CC2-82C0-808B-CACC89EB9F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8548" y="1377607"/>
                <a:ext cx="914400" cy="914400"/>
              </a:xfrm>
              <a:prstGeom prst="rect">
                <a:avLst/>
              </a:prstGeom>
            </p:spPr>
          </p:pic>
          <p:sp>
            <p:nvSpPr>
              <p:cNvPr id="25" name="Rechteck: eine Ecke abgeschnitten 90">
                <a:extLst>
                  <a:ext uri="{FF2B5EF4-FFF2-40B4-BE49-F238E27FC236}">
                    <a16:creationId xmlns:a16="http://schemas.microsoft.com/office/drawing/2014/main" id="{FAEBD1AE-709E-D51C-E5E8-A1F5D195D744}"/>
                  </a:ext>
                </a:extLst>
              </p:cNvPr>
              <p:cNvSpPr/>
              <p:nvPr/>
            </p:nvSpPr>
            <p:spPr>
              <a:xfrm>
                <a:off x="8209256" y="1554800"/>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grpSp>
          <p:nvGrpSpPr>
            <p:cNvPr id="16" name="Grafik 6" descr="Dokument Silhouette">
              <a:extLst>
                <a:ext uri="{FF2B5EF4-FFF2-40B4-BE49-F238E27FC236}">
                  <a16:creationId xmlns:a16="http://schemas.microsoft.com/office/drawing/2014/main" id="{1BA1715C-3C30-EA8E-2F24-79B413384D8F}"/>
                </a:ext>
              </a:extLst>
            </p:cNvPr>
            <p:cNvGrpSpPr/>
            <p:nvPr/>
          </p:nvGrpSpPr>
          <p:grpSpPr>
            <a:xfrm>
              <a:off x="9479432" y="1437310"/>
              <a:ext cx="571500" cy="762000"/>
              <a:chOff x="8185078" y="1537844"/>
              <a:chExt cx="571500" cy="762000"/>
            </a:xfrm>
            <a:solidFill>
              <a:srgbClr val="000000"/>
            </a:solidFill>
          </p:grpSpPr>
          <p:sp>
            <p:nvSpPr>
              <p:cNvPr id="17" name="Freihandform: Form 16">
                <a:extLst>
                  <a:ext uri="{FF2B5EF4-FFF2-40B4-BE49-F238E27FC236}">
                    <a16:creationId xmlns:a16="http://schemas.microsoft.com/office/drawing/2014/main" id="{EFD69B52-8BE4-71B0-D0A5-C438AF12DBDB}"/>
                  </a:ext>
                </a:extLst>
              </p:cNvPr>
              <p:cNvSpPr/>
              <p:nvPr/>
            </p:nvSpPr>
            <p:spPr>
              <a:xfrm>
                <a:off x="8280328" y="18616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E22E652C-9350-955E-3C6A-22E49AA69798}"/>
                  </a:ext>
                </a:extLst>
              </p:cNvPr>
              <p:cNvSpPr/>
              <p:nvPr/>
            </p:nvSpPr>
            <p:spPr>
              <a:xfrm>
                <a:off x="8280328" y="1785494"/>
                <a:ext cx="180975" cy="19050"/>
              </a:xfrm>
              <a:custGeom>
                <a:avLst/>
                <a:gdLst>
                  <a:gd name="connsiteX0" fmla="*/ 0 w 180975"/>
                  <a:gd name="connsiteY0" fmla="*/ 0 h 19050"/>
                  <a:gd name="connsiteX1" fmla="*/ 180975 w 180975"/>
                  <a:gd name="connsiteY1" fmla="*/ 0 h 19050"/>
                  <a:gd name="connsiteX2" fmla="*/ 180975 w 180975"/>
                  <a:gd name="connsiteY2" fmla="*/ 19050 h 19050"/>
                  <a:gd name="connsiteX3" fmla="*/ 0 w 180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80975" h="19050">
                    <a:moveTo>
                      <a:pt x="0" y="0"/>
                    </a:moveTo>
                    <a:lnTo>
                      <a:pt x="180975" y="0"/>
                    </a:lnTo>
                    <a:lnTo>
                      <a:pt x="180975" y="19050"/>
                    </a:lnTo>
                    <a:lnTo>
                      <a:pt x="0" y="19050"/>
                    </a:lnTo>
                    <a:close/>
                  </a:path>
                </a:pathLst>
              </a:custGeom>
              <a:solidFill>
                <a:srgbClr val="000000"/>
              </a:solidFill>
              <a:ln w="9525" cap="flat">
                <a:noFill/>
                <a:prstDash val="solid"/>
                <a:miter/>
              </a:ln>
            </p:spPr>
            <p:txBody>
              <a:bodyPr rtlCol="0" anchor="ctr"/>
              <a:lstStyle/>
              <a:p>
                <a:endParaRPr lang="de-DE"/>
              </a:p>
            </p:txBody>
          </p:sp>
          <p:sp>
            <p:nvSpPr>
              <p:cNvPr id="19" name="Freihandform: Form 18">
                <a:extLst>
                  <a:ext uri="{FF2B5EF4-FFF2-40B4-BE49-F238E27FC236}">
                    <a16:creationId xmlns:a16="http://schemas.microsoft.com/office/drawing/2014/main" id="{6F2D7B7C-47E7-8951-67DD-87E3E3395E22}"/>
                  </a:ext>
                </a:extLst>
              </p:cNvPr>
              <p:cNvSpPr/>
              <p:nvPr/>
            </p:nvSpPr>
            <p:spPr>
              <a:xfrm>
                <a:off x="8280328" y="19378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20" name="Freihandform: Form 19">
                <a:extLst>
                  <a:ext uri="{FF2B5EF4-FFF2-40B4-BE49-F238E27FC236}">
                    <a16:creationId xmlns:a16="http://schemas.microsoft.com/office/drawing/2014/main" id="{6F4065D5-EDC6-54F0-A4FD-E964A519B434}"/>
                  </a:ext>
                </a:extLst>
              </p:cNvPr>
              <p:cNvSpPr/>
              <p:nvPr/>
            </p:nvSpPr>
            <p:spPr>
              <a:xfrm>
                <a:off x="8280328" y="20140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21" name="Freihandform: Form 20">
                <a:extLst>
                  <a:ext uri="{FF2B5EF4-FFF2-40B4-BE49-F238E27FC236}">
                    <a16:creationId xmlns:a16="http://schemas.microsoft.com/office/drawing/2014/main" id="{FFBB2B87-DBA7-1BB1-540C-71CC2D006AEE}"/>
                  </a:ext>
                </a:extLst>
              </p:cNvPr>
              <p:cNvSpPr/>
              <p:nvPr/>
            </p:nvSpPr>
            <p:spPr>
              <a:xfrm>
                <a:off x="8280328" y="20902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22" name="Freihandform: Form 21">
                <a:extLst>
                  <a:ext uri="{FF2B5EF4-FFF2-40B4-BE49-F238E27FC236}">
                    <a16:creationId xmlns:a16="http://schemas.microsoft.com/office/drawing/2014/main" id="{679AB6F5-C604-73D5-6B19-40A1839C173D}"/>
                  </a:ext>
                </a:extLst>
              </p:cNvPr>
              <p:cNvSpPr/>
              <p:nvPr/>
            </p:nvSpPr>
            <p:spPr>
              <a:xfrm>
                <a:off x="8280328" y="21664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23" name="Freihandform: Form 22">
                <a:extLst>
                  <a:ext uri="{FF2B5EF4-FFF2-40B4-BE49-F238E27FC236}">
                    <a16:creationId xmlns:a16="http://schemas.microsoft.com/office/drawing/2014/main" id="{99DDD6A8-9671-6449-953E-A35AAE2CA55C}"/>
                  </a:ext>
                </a:extLst>
              </p:cNvPr>
              <p:cNvSpPr/>
              <p:nvPr/>
            </p:nvSpPr>
            <p:spPr>
              <a:xfrm>
                <a:off x="8185078" y="1537844"/>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de-DE"/>
              </a:p>
            </p:txBody>
          </p:sp>
        </p:grpSp>
      </p:grpSp>
      <p:sp>
        <p:nvSpPr>
          <p:cNvPr id="6" name="Inhaltsplatzhalter 3">
            <a:extLst>
              <a:ext uri="{FF2B5EF4-FFF2-40B4-BE49-F238E27FC236}">
                <a16:creationId xmlns:a16="http://schemas.microsoft.com/office/drawing/2014/main" id="{39C161DD-F5A3-4E49-543C-8C600C878C96}"/>
              </a:ext>
            </a:extLst>
          </p:cNvPr>
          <p:cNvSpPr txBox="1">
            <a:spLocks/>
          </p:cNvSpPr>
          <p:nvPr/>
        </p:nvSpPr>
        <p:spPr>
          <a:xfrm>
            <a:off x="384000" y="897588"/>
            <a:ext cx="11484000" cy="252000"/>
          </a:xfrm>
          <a:prstGeom prst="rect">
            <a:avLst/>
          </a:prstGeom>
          <a:noFill/>
        </p:spPr>
        <p:txBody>
          <a:bodyPr lIns="0" tIns="0" rIns="0" bIns="0"/>
          <a:lstStyle>
            <a:lvl1pPr marL="0" indent="0" algn="l" defTabSz="215900" rtl="0" eaLnBrk="1" fontAlgn="base" hangingPunct="1">
              <a:lnSpc>
                <a:spcPct val="100000"/>
              </a:lnSpc>
              <a:spcBef>
                <a:spcPts val="0"/>
              </a:spcBef>
              <a:spcAft>
                <a:spcPct val="0"/>
              </a:spcAft>
              <a:buClr>
                <a:schemeClr val="tx2"/>
              </a:buClr>
              <a:buFontTx/>
              <a:buNone/>
              <a:tabLst>
                <a:tab pos="215900" algn="l"/>
              </a:tabLst>
              <a:defRPr sz="2000" b="1" i="0" kern="1200">
                <a:solidFill>
                  <a:schemeClr val="tx1"/>
                </a:solidFill>
                <a:latin typeface="Arial" panose="020B0604020202020204" pitchFamily="34" charset="0"/>
                <a:ea typeface="ＭＳ Ｐゴシック" charset="0"/>
                <a:cs typeface="Arial" panose="020B0604020202020204" pitchFamily="34" charset="0"/>
              </a:defRPr>
            </a:lvl1pPr>
            <a:lvl2pPr marL="216000" indent="180000" algn="l" rtl="0" eaLnBrk="1" fontAlgn="base" hangingPunct="1">
              <a:spcBef>
                <a:spcPct val="0"/>
              </a:spcBef>
              <a:spcAft>
                <a:spcPct val="0"/>
              </a:spcAft>
              <a:buClr>
                <a:schemeClr val="tx2"/>
              </a:buClr>
              <a:buFont typeface="Symbol" panose="05050102010706020507" pitchFamily="18" charset="2"/>
              <a:buChar char="-"/>
              <a:tabLst>
                <a:tab pos="431800" algn="l"/>
              </a:tabLst>
              <a:defRPr sz="1800" kern="1200">
                <a:solidFill>
                  <a:schemeClr val="tx1"/>
                </a:solidFill>
                <a:latin typeface="Arial" panose="020B0604020202020204" pitchFamily="34" charset="0"/>
                <a:ea typeface="Arial" charset="0"/>
                <a:cs typeface="Arial" panose="020B0604020202020204" pitchFamily="34" charset="0"/>
              </a:defRPr>
            </a:lvl2pPr>
            <a:lvl3pPr marL="432000" indent="180000" algn="l" defTabSz="215900" rtl="0" eaLnBrk="1" fontAlgn="base" hangingPunct="1">
              <a:spcBef>
                <a:spcPct val="0"/>
              </a:spcBef>
              <a:spcAft>
                <a:spcPct val="0"/>
              </a:spcAft>
              <a:buClr>
                <a:schemeClr val="tx2"/>
              </a:buClr>
              <a:buSzPct val="80000"/>
              <a:buFont typeface="Symbol" panose="05050102010706020507" pitchFamily="18" charset="2"/>
              <a:buChar char="-"/>
              <a:tabLst>
                <a:tab pos="647700" algn="l"/>
              </a:tabLst>
              <a:defRPr sz="1600" kern="1200">
                <a:solidFill>
                  <a:schemeClr val="tx1"/>
                </a:solidFill>
                <a:latin typeface="Arial" panose="020B0604020202020204" pitchFamily="34" charset="0"/>
                <a:ea typeface="Arial" charset="0"/>
                <a:cs typeface="Arial" panose="020B0604020202020204" pitchFamily="34" charset="0"/>
              </a:defRPr>
            </a:lvl3pPr>
            <a:lvl4pPr marL="648000" indent="180000" algn="l" defTabSz="215900" rtl="0" eaLnBrk="1" fontAlgn="base" hangingPunct="1">
              <a:spcBef>
                <a:spcPct val="0"/>
              </a:spcBef>
              <a:spcAft>
                <a:spcPct val="0"/>
              </a:spcAft>
              <a:buClr>
                <a:schemeClr val="tx2"/>
              </a:buClr>
              <a:buSzPct val="100000"/>
              <a:buFont typeface="Wingdings" panose="05000000000000000000" pitchFamily="2" charset="2"/>
              <a:buChar char="§"/>
              <a:tabLst>
                <a:tab pos="863600" algn="l"/>
              </a:tabLst>
              <a:defRPr sz="1600" kern="1200">
                <a:solidFill>
                  <a:schemeClr val="tx1"/>
                </a:solidFill>
                <a:latin typeface="Arial" panose="020B0604020202020204" pitchFamily="34" charset="0"/>
                <a:ea typeface="Arial" charset="0"/>
                <a:cs typeface="Arial" panose="020B0604020202020204" pitchFamily="34" charset="0"/>
              </a:defRPr>
            </a:lvl4pPr>
            <a:lvl5pPr marL="864000" indent="180000" algn="l" rtl="0" eaLnBrk="1" fontAlgn="base" hangingPunct="1">
              <a:lnSpc>
                <a:spcPct val="90000"/>
              </a:lnSpc>
              <a:spcBef>
                <a:spcPct val="0"/>
              </a:spcBef>
              <a:spcAft>
                <a:spcPct val="0"/>
              </a:spcAft>
              <a:buClr>
                <a:schemeClr val="tx2"/>
              </a:buClr>
              <a:buFont typeface="Arial" panose="020B0604020202020204" pitchFamily="34" charset="0"/>
              <a:buChar char="-"/>
              <a:tabLst>
                <a:tab pos="895350" algn="l"/>
              </a:tabLst>
              <a:defRPr sz="1600" kern="1200">
                <a:solidFill>
                  <a:schemeClr val="tx1"/>
                </a:solidFill>
                <a:latin typeface="Arial" panose="020B0604020202020204" pitchFamily="34" charset="0"/>
                <a:ea typeface="Arial"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International Conference on Medical Image Computing and Computer-Assisted Intervention</a:t>
            </a:r>
            <a:endParaRPr lang="de-DE" sz="1600" dirty="0"/>
          </a:p>
        </p:txBody>
      </p:sp>
      <p:sp>
        <p:nvSpPr>
          <p:cNvPr id="4" name="Rechteck 3">
            <a:extLst>
              <a:ext uri="{FF2B5EF4-FFF2-40B4-BE49-F238E27FC236}">
                <a16:creationId xmlns:a16="http://schemas.microsoft.com/office/drawing/2014/main" id="{2FF7554C-E988-C430-BC64-009231423B20}"/>
              </a:ext>
            </a:extLst>
          </p:cNvPr>
          <p:cNvSpPr/>
          <p:nvPr/>
        </p:nvSpPr>
        <p:spPr>
          <a:xfrm>
            <a:off x="7816735" y="246969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grpSp>
        <p:nvGrpSpPr>
          <p:cNvPr id="54" name="Gruppieren 53">
            <a:extLst>
              <a:ext uri="{FF2B5EF4-FFF2-40B4-BE49-F238E27FC236}">
                <a16:creationId xmlns:a16="http://schemas.microsoft.com/office/drawing/2014/main" id="{3826B52D-EE13-BA4D-4235-5494DC373A11}"/>
              </a:ext>
            </a:extLst>
          </p:cNvPr>
          <p:cNvGrpSpPr/>
          <p:nvPr/>
        </p:nvGrpSpPr>
        <p:grpSpPr>
          <a:xfrm>
            <a:off x="7772939" y="1459419"/>
            <a:ext cx="914400" cy="914400"/>
            <a:chOff x="6424731" y="1369588"/>
            <a:chExt cx="914400" cy="914400"/>
          </a:xfrm>
        </p:grpSpPr>
        <p:sp>
          <p:nvSpPr>
            <p:cNvPr id="49" name="Rechteck: eine Ecke abgeschnitten 90">
              <a:extLst>
                <a:ext uri="{FF2B5EF4-FFF2-40B4-BE49-F238E27FC236}">
                  <a16:creationId xmlns:a16="http://schemas.microsoft.com/office/drawing/2014/main" id="{4E2C40C0-D5C9-9521-FE19-721CC4E2E421}"/>
                </a:ext>
              </a:extLst>
            </p:cNvPr>
            <p:cNvSpPr/>
            <p:nvPr/>
          </p:nvSpPr>
          <p:spPr>
            <a:xfrm>
              <a:off x="6616706" y="1454266"/>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descr="Dokument Silhouette">
              <a:extLst>
                <a:ext uri="{FF2B5EF4-FFF2-40B4-BE49-F238E27FC236}">
                  <a16:creationId xmlns:a16="http://schemas.microsoft.com/office/drawing/2014/main" id="{F51758EC-3E51-F0EC-A345-FBEB78025A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731" y="1369588"/>
              <a:ext cx="914400" cy="914400"/>
            </a:xfrm>
            <a:prstGeom prst="rect">
              <a:avLst/>
            </a:prstGeom>
          </p:spPr>
        </p:pic>
      </p:grpSp>
      <p:sp>
        <p:nvSpPr>
          <p:cNvPr id="28" name="Rechteck 27">
            <a:extLst>
              <a:ext uri="{FF2B5EF4-FFF2-40B4-BE49-F238E27FC236}">
                <a16:creationId xmlns:a16="http://schemas.microsoft.com/office/drawing/2014/main" id="{B7AB1B76-7451-F973-2C55-8A5B13D5947E}"/>
              </a:ext>
            </a:extLst>
          </p:cNvPr>
          <p:cNvSpPr/>
          <p:nvPr/>
        </p:nvSpPr>
        <p:spPr>
          <a:xfrm>
            <a:off x="10699986" y="2469698"/>
            <a:ext cx="826807" cy="432633"/>
          </a:xfrm>
          <a:prstGeom prst="rect">
            <a:avLst/>
          </a:prstGeom>
          <a:solidFill>
            <a:srgbClr val="E7E7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000" dirty="0">
              <a:solidFill>
                <a:schemeClr val="tx1"/>
              </a:solidFill>
            </a:endParaRPr>
          </a:p>
        </p:txBody>
      </p:sp>
      <p:sp>
        <p:nvSpPr>
          <p:cNvPr id="29" name="Rechteck 28">
            <a:extLst>
              <a:ext uri="{FF2B5EF4-FFF2-40B4-BE49-F238E27FC236}">
                <a16:creationId xmlns:a16="http://schemas.microsoft.com/office/drawing/2014/main" id="{2226922D-3D5B-E26C-0352-4C55D771A0EC}"/>
              </a:ext>
            </a:extLst>
          </p:cNvPr>
          <p:cNvSpPr/>
          <p:nvPr/>
        </p:nvSpPr>
        <p:spPr>
          <a:xfrm>
            <a:off x="9258360" y="2469697"/>
            <a:ext cx="826807" cy="43263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Cosine</a:t>
            </a:r>
            <a:r>
              <a:rPr lang="de-DE" sz="1000" dirty="0">
                <a:solidFill>
                  <a:schemeClr val="tx1"/>
                </a:solidFill>
              </a:rPr>
              <a:t> </a:t>
            </a:r>
            <a:r>
              <a:rPr lang="de-DE" sz="1000" dirty="0" err="1">
                <a:solidFill>
                  <a:schemeClr val="tx1"/>
                </a:solidFill>
              </a:rPr>
              <a:t>similarity</a:t>
            </a:r>
            <a:endParaRPr lang="de-DE" sz="1000" dirty="0">
              <a:solidFill>
                <a:schemeClr val="tx1"/>
              </a:solidFill>
            </a:endParaRPr>
          </a:p>
        </p:txBody>
      </p:sp>
      <p:grpSp>
        <p:nvGrpSpPr>
          <p:cNvPr id="52" name="Gruppieren 51">
            <a:extLst>
              <a:ext uri="{FF2B5EF4-FFF2-40B4-BE49-F238E27FC236}">
                <a16:creationId xmlns:a16="http://schemas.microsoft.com/office/drawing/2014/main" id="{FE9D9886-4B3B-BDC2-011E-0743C066DBA6}"/>
              </a:ext>
            </a:extLst>
          </p:cNvPr>
          <p:cNvGrpSpPr/>
          <p:nvPr/>
        </p:nvGrpSpPr>
        <p:grpSpPr>
          <a:xfrm>
            <a:off x="9214563" y="3092657"/>
            <a:ext cx="914400" cy="922237"/>
            <a:chOff x="7866355" y="3201903"/>
            <a:chExt cx="914400" cy="922237"/>
          </a:xfrm>
        </p:grpSpPr>
        <p:sp>
          <p:nvSpPr>
            <p:cNvPr id="51" name="Rechteck: eine Ecke abgeschnitten 90">
              <a:extLst>
                <a:ext uri="{FF2B5EF4-FFF2-40B4-BE49-F238E27FC236}">
                  <a16:creationId xmlns:a16="http://schemas.microsoft.com/office/drawing/2014/main" id="{A6E4BF96-67E1-EC20-7C55-379558ACD9D1}"/>
                </a:ext>
              </a:extLst>
            </p:cNvPr>
            <p:cNvSpPr/>
            <p:nvPr/>
          </p:nvSpPr>
          <p:spPr>
            <a:xfrm>
              <a:off x="8064786" y="3292322"/>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0" name="Rechteck: eine Ecke abgeschnitten 90">
              <a:extLst>
                <a:ext uri="{FF2B5EF4-FFF2-40B4-BE49-F238E27FC236}">
                  <a16:creationId xmlns:a16="http://schemas.microsoft.com/office/drawing/2014/main" id="{9137A51D-D171-78CC-BD6A-26CC37063A09}"/>
                </a:ext>
              </a:extLst>
            </p:cNvPr>
            <p:cNvSpPr/>
            <p:nvPr/>
          </p:nvSpPr>
          <p:spPr>
            <a:xfrm>
              <a:off x="7989403" y="3374891"/>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30" name="Gruppieren 29">
              <a:extLst>
                <a:ext uri="{FF2B5EF4-FFF2-40B4-BE49-F238E27FC236}">
                  <a16:creationId xmlns:a16="http://schemas.microsoft.com/office/drawing/2014/main" id="{4C4C3E7D-CB09-EF4F-784A-08EAD0454DD2}"/>
                </a:ext>
              </a:extLst>
            </p:cNvPr>
            <p:cNvGrpSpPr/>
            <p:nvPr/>
          </p:nvGrpSpPr>
          <p:grpSpPr>
            <a:xfrm>
              <a:off x="7866355" y="3201903"/>
              <a:ext cx="914400" cy="922237"/>
              <a:chOff x="8088548" y="1377607"/>
              <a:chExt cx="914400" cy="922237"/>
            </a:xfrm>
          </p:grpSpPr>
          <p:sp>
            <p:nvSpPr>
              <p:cNvPr id="44" name="Rechteck: eine Ecke abgeschnitten 90">
                <a:extLst>
                  <a:ext uri="{FF2B5EF4-FFF2-40B4-BE49-F238E27FC236}">
                    <a16:creationId xmlns:a16="http://schemas.microsoft.com/office/drawing/2014/main" id="{4D2C855E-A914-582C-F6C7-EB2EF7A2423E}"/>
                  </a:ext>
                </a:extLst>
              </p:cNvPr>
              <p:cNvSpPr/>
              <p:nvPr/>
            </p:nvSpPr>
            <p:spPr>
              <a:xfrm>
                <a:off x="8333136" y="1471944"/>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2" name="Gruppieren 31">
                <a:extLst>
                  <a:ext uri="{FF2B5EF4-FFF2-40B4-BE49-F238E27FC236}">
                    <a16:creationId xmlns:a16="http://schemas.microsoft.com/office/drawing/2014/main" id="{4D883D38-5623-99F3-7DCB-46CD0DD6D9A0}"/>
                  </a:ext>
                </a:extLst>
              </p:cNvPr>
              <p:cNvGrpSpPr/>
              <p:nvPr/>
            </p:nvGrpSpPr>
            <p:grpSpPr>
              <a:xfrm>
                <a:off x="8088548" y="1377607"/>
                <a:ext cx="914400" cy="914400"/>
                <a:chOff x="8088548" y="1377607"/>
                <a:chExt cx="914400" cy="914400"/>
              </a:xfrm>
            </p:grpSpPr>
            <p:pic>
              <p:nvPicPr>
                <p:cNvPr id="41" name="Grafik 40" descr="Papier Silhouette">
                  <a:extLst>
                    <a:ext uri="{FF2B5EF4-FFF2-40B4-BE49-F238E27FC236}">
                      <a16:creationId xmlns:a16="http://schemas.microsoft.com/office/drawing/2014/main" id="{5EAAB1E3-15E2-46F4-83CF-65DC565966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88548" y="1377607"/>
                  <a:ext cx="914400" cy="914400"/>
                </a:xfrm>
                <a:prstGeom prst="rect">
                  <a:avLst/>
                </a:prstGeom>
              </p:spPr>
            </p:pic>
            <p:sp>
              <p:nvSpPr>
                <p:cNvPr id="42" name="Rechteck: eine Ecke abgeschnitten 90">
                  <a:extLst>
                    <a:ext uri="{FF2B5EF4-FFF2-40B4-BE49-F238E27FC236}">
                      <a16:creationId xmlns:a16="http://schemas.microsoft.com/office/drawing/2014/main" id="{8CC0CCEA-FBC5-B576-05BD-64AA767AD4E1}"/>
                    </a:ext>
                  </a:extLst>
                </p:cNvPr>
                <p:cNvSpPr/>
                <p:nvPr/>
              </p:nvSpPr>
              <p:spPr>
                <a:xfrm>
                  <a:off x="8254031" y="1555771"/>
                  <a:ext cx="488013" cy="678285"/>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3673" h="629956">
                      <a:moveTo>
                        <a:pt x="0" y="0"/>
                      </a:moveTo>
                      <a:lnTo>
                        <a:pt x="287577" y="1407"/>
                      </a:lnTo>
                      <a:lnTo>
                        <a:pt x="473673" y="185968"/>
                      </a:lnTo>
                      <a:cubicBezTo>
                        <a:pt x="472415" y="333964"/>
                        <a:pt x="471158" y="481960"/>
                        <a:pt x="469900" y="629956"/>
                      </a:cubicBezTo>
                      <a:lnTo>
                        <a:pt x="0" y="629956"/>
                      </a:lnTo>
                      <a:lnTo>
                        <a:pt x="0"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33" name="Grafik 6" descr="Dokument Silhouette">
                <a:extLst>
                  <a:ext uri="{FF2B5EF4-FFF2-40B4-BE49-F238E27FC236}">
                    <a16:creationId xmlns:a16="http://schemas.microsoft.com/office/drawing/2014/main" id="{D7C00216-6E74-C1BE-ADE8-133BFA671911}"/>
                  </a:ext>
                </a:extLst>
              </p:cNvPr>
              <p:cNvGrpSpPr/>
              <p:nvPr/>
            </p:nvGrpSpPr>
            <p:grpSpPr>
              <a:xfrm>
                <a:off x="8185078" y="1537844"/>
                <a:ext cx="571500" cy="762000"/>
                <a:chOff x="8185078" y="1537844"/>
                <a:chExt cx="571500" cy="762000"/>
              </a:xfrm>
              <a:solidFill>
                <a:srgbClr val="000000"/>
              </a:solidFill>
            </p:grpSpPr>
            <p:sp>
              <p:nvSpPr>
                <p:cNvPr id="34" name="Freihandform: Form 33">
                  <a:extLst>
                    <a:ext uri="{FF2B5EF4-FFF2-40B4-BE49-F238E27FC236}">
                      <a16:creationId xmlns:a16="http://schemas.microsoft.com/office/drawing/2014/main" id="{6EDCB7D4-1F1F-F809-B97E-30FB0CF1EA35}"/>
                    </a:ext>
                  </a:extLst>
                </p:cNvPr>
                <p:cNvSpPr/>
                <p:nvPr/>
              </p:nvSpPr>
              <p:spPr>
                <a:xfrm>
                  <a:off x="8280328" y="18616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35" name="Freihandform: Form 34">
                  <a:extLst>
                    <a:ext uri="{FF2B5EF4-FFF2-40B4-BE49-F238E27FC236}">
                      <a16:creationId xmlns:a16="http://schemas.microsoft.com/office/drawing/2014/main" id="{D783F94A-3238-764C-79A8-20E2B4FF33F4}"/>
                    </a:ext>
                  </a:extLst>
                </p:cNvPr>
                <p:cNvSpPr/>
                <p:nvPr/>
              </p:nvSpPr>
              <p:spPr>
                <a:xfrm>
                  <a:off x="8280328" y="1785494"/>
                  <a:ext cx="180975" cy="19050"/>
                </a:xfrm>
                <a:custGeom>
                  <a:avLst/>
                  <a:gdLst>
                    <a:gd name="connsiteX0" fmla="*/ 0 w 180975"/>
                    <a:gd name="connsiteY0" fmla="*/ 0 h 19050"/>
                    <a:gd name="connsiteX1" fmla="*/ 180975 w 180975"/>
                    <a:gd name="connsiteY1" fmla="*/ 0 h 19050"/>
                    <a:gd name="connsiteX2" fmla="*/ 180975 w 180975"/>
                    <a:gd name="connsiteY2" fmla="*/ 19050 h 19050"/>
                    <a:gd name="connsiteX3" fmla="*/ 0 w 180975"/>
                    <a:gd name="connsiteY3" fmla="*/ 19050 h 19050"/>
                  </a:gdLst>
                  <a:ahLst/>
                  <a:cxnLst>
                    <a:cxn ang="0">
                      <a:pos x="connsiteX0" y="connsiteY0"/>
                    </a:cxn>
                    <a:cxn ang="0">
                      <a:pos x="connsiteX1" y="connsiteY1"/>
                    </a:cxn>
                    <a:cxn ang="0">
                      <a:pos x="connsiteX2" y="connsiteY2"/>
                    </a:cxn>
                    <a:cxn ang="0">
                      <a:pos x="connsiteX3" y="connsiteY3"/>
                    </a:cxn>
                  </a:cxnLst>
                  <a:rect l="l" t="t" r="r" b="b"/>
                  <a:pathLst>
                    <a:path w="180975" h="19050">
                      <a:moveTo>
                        <a:pt x="0" y="0"/>
                      </a:moveTo>
                      <a:lnTo>
                        <a:pt x="180975" y="0"/>
                      </a:lnTo>
                      <a:lnTo>
                        <a:pt x="180975" y="19050"/>
                      </a:lnTo>
                      <a:lnTo>
                        <a:pt x="0" y="19050"/>
                      </a:lnTo>
                      <a:close/>
                    </a:path>
                  </a:pathLst>
                </a:custGeom>
                <a:solidFill>
                  <a:srgbClr val="000000"/>
                </a:solidFill>
                <a:ln w="9525" cap="flat">
                  <a:noFill/>
                  <a:prstDash val="solid"/>
                  <a:miter/>
                </a:ln>
              </p:spPr>
              <p:txBody>
                <a:bodyPr rtlCol="0" anchor="ctr"/>
                <a:lstStyle/>
                <a:p>
                  <a:endParaRPr lang="de-DE"/>
                </a:p>
              </p:txBody>
            </p:sp>
            <p:sp>
              <p:nvSpPr>
                <p:cNvPr id="36" name="Freihandform: Form 35">
                  <a:extLst>
                    <a:ext uri="{FF2B5EF4-FFF2-40B4-BE49-F238E27FC236}">
                      <a16:creationId xmlns:a16="http://schemas.microsoft.com/office/drawing/2014/main" id="{6D7742FA-BF18-7F47-CEFC-1759D22F8EF6}"/>
                    </a:ext>
                  </a:extLst>
                </p:cNvPr>
                <p:cNvSpPr/>
                <p:nvPr/>
              </p:nvSpPr>
              <p:spPr>
                <a:xfrm>
                  <a:off x="8280328" y="19378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37" name="Freihandform: Form 36">
                  <a:extLst>
                    <a:ext uri="{FF2B5EF4-FFF2-40B4-BE49-F238E27FC236}">
                      <a16:creationId xmlns:a16="http://schemas.microsoft.com/office/drawing/2014/main" id="{EB6D5FA1-F086-4490-292C-8B785E846073}"/>
                    </a:ext>
                  </a:extLst>
                </p:cNvPr>
                <p:cNvSpPr/>
                <p:nvPr/>
              </p:nvSpPr>
              <p:spPr>
                <a:xfrm>
                  <a:off x="8280328" y="20140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38" name="Freihandform: Form 37">
                  <a:extLst>
                    <a:ext uri="{FF2B5EF4-FFF2-40B4-BE49-F238E27FC236}">
                      <a16:creationId xmlns:a16="http://schemas.microsoft.com/office/drawing/2014/main" id="{6921017E-7095-C269-B9A5-DF16738A0E17}"/>
                    </a:ext>
                  </a:extLst>
                </p:cNvPr>
                <p:cNvSpPr/>
                <p:nvPr/>
              </p:nvSpPr>
              <p:spPr>
                <a:xfrm>
                  <a:off x="8280328" y="20902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39" name="Freihandform: Form 38">
                  <a:extLst>
                    <a:ext uri="{FF2B5EF4-FFF2-40B4-BE49-F238E27FC236}">
                      <a16:creationId xmlns:a16="http://schemas.microsoft.com/office/drawing/2014/main" id="{4C6BE605-848E-5135-B500-F752DC3FA111}"/>
                    </a:ext>
                  </a:extLst>
                </p:cNvPr>
                <p:cNvSpPr/>
                <p:nvPr/>
              </p:nvSpPr>
              <p:spPr>
                <a:xfrm>
                  <a:off x="8280328" y="2166494"/>
                  <a:ext cx="381000" cy="19050"/>
                </a:xfrm>
                <a:custGeom>
                  <a:avLst/>
                  <a:gdLst>
                    <a:gd name="connsiteX0" fmla="*/ 0 w 381000"/>
                    <a:gd name="connsiteY0" fmla="*/ 0 h 19050"/>
                    <a:gd name="connsiteX1" fmla="*/ 381000 w 381000"/>
                    <a:gd name="connsiteY1" fmla="*/ 0 h 19050"/>
                    <a:gd name="connsiteX2" fmla="*/ 381000 w 381000"/>
                    <a:gd name="connsiteY2" fmla="*/ 19050 h 19050"/>
                    <a:gd name="connsiteX3" fmla="*/ 0 w 381000"/>
                    <a:gd name="connsiteY3" fmla="*/ 19050 h 19050"/>
                  </a:gdLst>
                  <a:ahLst/>
                  <a:cxnLst>
                    <a:cxn ang="0">
                      <a:pos x="connsiteX0" y="connsiteY0"/>
                    </a:cxn>
                    <a:cxn ang="0">
                      <a:pos x="connsiteX1" y="connsiteY1"/>
                    </a:cxn>
                    <a:cxn ang="0">
                      <a:pos x="connsiteX2" y="connsiteY2"/>
                    </a:cxn>
                    <a:cxn ang="0">
                      <a:pos x="connsiteX3" y="connsiteY3"/>
                    </a:cxn>
                  </a:cxnLst>
                  <a:rect l="l" t="t" r="r" b="b"/>
                  <a:pathLst>
                    <a:path w="381000" h="19050">
                      <a:moveTo>
                        <a:pt x="0" y="0"/>
                      </a:moveTo>
                      <a:lnTo>
                        <a:pt x="381000" y="0"/>
                      </a:lnTo>
                      <a:lnTo>
                        <a:pt x="381000" y="19050"/>
                      </a:lnTo>
                      <a:lnTo>
                        <a:pt x="0" y="19050"/>
                      </a:lnTo>
                      <a:close/>
                    </a:path>
                  </a:pathLst>
                </a:custGeom>
                <a:solidFill>
                  <a:srgbClr val="000000"/>
                </a:solidFill>
                <a:ln w="9525" cap="flat">
                  <a:noFill/>
                  <a:prstDash val="solid"/>
                  <a:miter/>
                </a:ln>
              </p:spPr>
              <p:txBody>
                <a:bodyPr rtlCol="0" anchor="ctr"/>
                <a:lstStyle/>
                <a:p>
                  <a:endParaRPr lang="de-DE"/>
                </a:p>
              </p:txBody>
            </p:sp>
            <p:sp>
              <p:nvSpPr>
                <p:cNvPr id="40" name="Freihandform: Form 39">
                  <a:extLst>
                    <a:ext uri="{FF2B5EF4-FFF2-40B4-BE49-F238E27FC236}">
                      <a16:creationId xmlns:a16="http://schemas.microsoft.com/office/drawing/2014/main" id="{5172F9E5-88D7-2E1E-2510-8E53B738C08A}"/>
                    </a:ext>
                  </a:extLst>
                </p:cNvPr>
                <p:cNvSpPr/>
                <p:nvPr/>
              </p:nvSpPr>
              <p:spPr>
                <a:xfrm>
                  <a:off x="8185078" y="1537844"/>
                  <a:ext cx="571500" cy="762000"/>
                </a:xfrm>
                <a:custGeom>
                  <a:avLst/>
                  <a:gdLst>
                    <a:gd name="connsiteX0" fmla="*/ 0 w 571500"/>
                    <a:gd name="connsiteY0" fmla="*/ 0 h 762000"/>
                    <a:gd name="connsiteX1" fmla="*/ 0 w 571500"/>
                    <a:gd name="connsiteY1" fmla="*/ 762000 h 762000"/>
                    <a:gd name="connsiteX2" fmla="*/ 571500 w 571500"/>
                    <a:gd name="connsiteY2" fmla="*/ 762000 h 762000"/>
                    <a:gd name="connsiteX3" fmla="*/ 571500 w 571500"/>
                    <a:gd name="connsiteY3" fmla="*/ 205607 h 762000"/>
                    <a:gd name="connsiteX4" fmla="*/ 365893 w 571500"/>
                    <a:gd name="connsiteY4" fmla="*/ 0 h 762000"/>
                    <a:gd name="connsiteX5" fmla="*/ 371637 w 571500"/>
                    <a:gd name="connsiteY5" fmla="*/ 32680 h 762000"/>
                    <a:gd name="connsiteX6" fmla="*/ 538820 w 571500"/>
                    <a:gd name="connsiteY6" fmla="*/ 199863 h 762000"/>
                    <a:gd name="connsiteX7" fmla="*/ 538819 w 571500"/>
                    <a:gd name="connsiteY7" fmla="*/ 199997 h 762000"/>
                    <a:gd name="connsiteX8" fmla="*/ 538753 w 571500"/>
                    <a:gd name="connsiteY8" fmla="*/ 200025 h 762000"/>
                    <a:gd name="connsiteX9" fmla="*/ 371475 w 571500"/>
                    <a:gd name="connsiteY9" fmla="*/ 200025 h 762000"/>
                    <a:gd name="connsiteX10" fmla="*/ 371475 w 571500"/>
                    <a:gd name="connsiteY10" fmla="*/ 32747 h 762000"/>
                    <a:gd name="connsiteX11" fmla="*/ 371571 w 571500"/>
                    <a:gd name="connsiteY11" fmla="*/ 32653 h 762000"/>
                    <a:gd name="connsiteX12" fmla="*/ 371637 w 571500"/>
                    <a:gd name="connsiteY12" fmla="*/ 32680 h 762000"/>
                    <a:gd name="connsiteX13" fmla="*/ 19050 w 571500"/>
                    <a:gd name="connsiteY13" fmla="*/ 742950 h 762000"/>
                    <a:gd name="connsiteX14" fmla="*/ 19050 w 571500"/>
                    <a:gd name="connsiteY14" fmla="*/ 19050 h 762000"/>
                    <a:gd name="connsiteX15" fmla="*/ 352425 w 571500"/>
                    <a:gd name="connsiteY15" fmla="*/ 19050 h 762000"/>
                    <a:gd name="connsiteX16" fmla="*/ 352425 w 571500"/>
                    <a:gd name="connsiteY16" fmla="*/ 219075 h 762000"/>
                    <a:gd name="connsiteX17" fmla="*/ 552450 w 571500"/>
                    <a:gd name="connsiteY17" fmla="*/ 219075 h 762000"/>
                    <a:gd name="connsiteX18" fmla="*/ 552450 w 571500"/>
                    <a:gd name="connsiteY18" fmla="*/ 742950 h 76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71500" h="762000">
                      <a:moveTo>
                        <a:pt x="0" y="0"/>
                      </a:moveTo>
                      <a:lnTo>
                        <a:pt x="0" y="762000"/>
                      </a:lnTo>
                      <a:lnTo>
                        <a:pt x="571500" y="762000"/>
                      </a:lnTo>
                      <a:lnTo>
                        <a:pt x="571500" y="205607"/>
                      </a:lnTo>
                      <a:lnTo>
                        <a:pt x="365893" y="0"/>
                      </a:lnTo>
                      <a:close/>
                      <a:moveTo>
                        <a:pt x="371637" y="32680"/>
                      </a:moveTo>
                      <a:lnTo>
                        <a:pt x="538820" y="199863"/>
                      </a:lnTo>
                      <a:cubicBezTo>
                        <a:pt x="538857" y="199900"/>
                        <a:pt x="538856" y="199961"/>
                        <a:pt x="538819" y="199997"/>
                      </a:cubicBezTo>
                      <a:cubicBezTo>
                        <a:pt x="538801" y="200015"/>
                        <a:pt x="538778" y="200025"/>
                        <a:pt x="538753" y="200025"/>
                      </a:cubicBezTo>
                      <a:lnTo>
                        <a:pt x="371475" y="200025"/>
                      </a:lnTo>
                      <a:lnTo>
                        <a:pt x="371475" y="32747"/>
                      </a:lnTo>
                      <a:cubicBezTo>
                        <a:pt x="371476" y="32695"/>
                        <a:pt x="371519" y="32653"/>
                        <a:pt x="371571" y="32653"/>
                      </a:cubicBezTo>
                      <a:cubicBezTo>
                        <a:pt x="371596" y="32654"/>
                        <a:pt x="371620" y="32663"/>
                        <a:pt x="371637" y="32680"/>
                      </a:cubicBezTo>
                      <a:close/>
                      <a:moveTo>
                        <a:pt x="19050" y="742950"/>
                      </a:moveTo>
                      <a:lnTo>
                        <a:pt x="19050" y="19050"/>
                      </a:lnTo>
                      <a:lnTo>
                        <a:pt x="352425" y="19050"/>
                      </a:lnTo>
                      <a:lnTo>
                        <a:pt x="352425" y="219075"/>
                      </a:lnTo>
                      <a:lnTo>
                        <a:pt x="552450" y="219075"/>
                      </a:lnTo>
                      <a:lnTo>
                        <a:pt x="552450" y="742950"/>
                      </a:lnTo>
                      <a:close/>
                    </a:path>
                  </a:pathLst>
                </a:custGeom>
                <a:solidFill>
                  <a:srgbClr val="000000"/>
                </a:solidFill>
                <a:ln w="9525" cap="flat">
                  <a:noFill/>
                  <a:prstDash val="solid"/>
                  <a:miter/>
                </a:ln>
              </p:spPr>
              <p:txBody>
                <a:bodyPr rtlCol="0" anchor="ctr"/>
                <a:lstStyle/>
                <a:p>
                  <a:endParaRPr lang="de-DE"/>
                </a:p>
              </p:txBody>
            </p:sp>
          </p:grpSp>
        </p:grpSp>
      </p:grpSp>
      <p:sp>
        <p:nvSpPr>
          <p:cNvPr id="45" name="Rechteck 44">
            <a:extLst>
              <a:ext uri="{FF2B5EF4-FFF2-40B4-BE49-F238E27FC236}">
                <a16:creationId xmlns:a16="http://schemas.microsoft.com/office/drawing/2014/main" id="{95A7E76D-C162-402F-24B1-EE53E3939CD5}"/>
              </a:ext>
            </a:extLst>
          </p:cNvPr>
          <p:cNvSpPr/>
          <p:nvPr/>
        </p:nvSpPr>
        <p:spPr>
          <a:xfrm>
            <a:off x="6361200" y="3417576"/>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CheXbert</a:t>
            </a:r>
            <a:endParaRPr lang="de-DE" sz="1000" dirty="0">
              <a:solidFill>
                <a:schemeClr val="tx1"/>
              </a:solidFill>
            </a:endParaRPr>
          </a:p>
        </p:txBody>
      </p:sp>
      <p:sp>
        <p:nvSpPr>
          <p:cNvPr id="46" name="Rechteck 45">
            <a:extLst>
              <a:ext uri="{FF2B5EF4-FFF2-40B4-BE49-F238E27FC236}">
                <a16:creationId xmlns:a16="http://schemas.microsoft.com/office/drawing/2014/main" id="{BF56021E-3E58-D2E8-81BA-5E40092362A1}"/>
              </a:ext>
            </a:extLst>
          </p:cNvPr>
          <p:cNvSpPr/>
          <p:nvPr/>
        </p:nvSpPr>
        <p:spPr>
          <a:xfrm>
            <a:off x="6362304" y="1707570"/>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err="1">
                <a:solidFill>
                  <a:schemeClr val="tx1"/>
                </a:solidFill>
              </a:rPr>
              <a:t>CheXbert</a:t>
            </a:r>
            <a:endParaRPr lang="de-DE" sz="1000" dirty="0">
              <a:solidFill>
                <a:schemeClr val="tx1"/>
              </a:solidFill>
            </a:endParaRPr>
          </a:p>
        </p:txBody>
      </p:sp>
      <p:sp>
        <p:nvSpPr>
          <p:cNvPr id="55" name="Rechteck 54">
            <a:extLst>
              <a:ext uri="{FF2B5EF4-FFF2-40B4-BE49-F238E27FC236}">
                <a16:creationId xmlns:a16="http://schemas.microsoft.com/office/drawing/2014/main" id="{AC5367F9-6E25-7759-7521-EAE3A4E4A30E}"/>
              </a:ext>
            </a:extLst>
          </p:cNvPr>
          <p:cNvSpPr/>
          <p:nvPr/>
        </p:nvSpPr>
        <p:spPr>
          <a:xfrm>
            <a:off x="6361200" y="4408191"/>
            <a:ext cx="826807" cy="432633"/>
          </a:xfrm>
          <a:prstGeom prst="rect">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Jaccard </a:t>
            </a:r>
            <a:r>
              <a:rPr lang="de-DE" sz="1000" dirty="0" err="1">
                <a:solidFill>
                  <a:schemeClr val="tx1"/>
                </a:solidFill>
              </a:rPr>
              <a:t>distance</a:t>
            </a:r>
            <a:endParaRPr lang="de-DE" sz="1000" dirty="0">
              <a:solidFill>
                <a:schemeClr val="tx1"/>
              </a:solidFill>
            </a:endParaRPr>
          </a:p>
        </p:txBody>
      </p:sp>
      <p:grpSp>
        <p:nvGrpSpPr>
          <p:cNvPr id="56" name="Gruppieren 55">
            <a:extLst>
              <a:ext uri="{FF2B5EF4-FFF2-40B4-BE49-F238E27FC236}">
                <a16:creationId xmlns:a16="http://schemas.microsoft.com/office/drawing/2014/main" id="{E070C93F-1C92-3B9D-6525-CA10D942CDD2}"/>
              </a:ext>
            </a:extLst>
          </p:cNvPr>
          <p:cNvGrpSpPr/>
          <p:nvPr/>
        </p:nvGrpSpPr>
        <p:grpSpPr>
          <a:xfrm>
            <a:off x="6318507" y="5105139"/>
            <a:ext cx="914400" cy="914400"/>
            <a:chOff x="6424731" y="1369588"/>
            <a:chExt cx="914400" cy="914400"/>
          </a:xfrm>
        </p:grpSpPr>
        <p:sp>
          <p:nvSpPr>
            <p:cNvPr id="57" name="Rechteck: eine Ecke abgeschnitten 90">
              <a:extLst>
                <a:ext uri="{FF2B5EF4-FFF2-40B4-BE49-F238E27FC236}">
                  <a16:creationId xmlns:a16="http://schemas.microsoft.com/office/drawing/2014/main" id="{D8CDF28E-82EF-499A-034F-AA397BC01DA9}"/>
                </a:ext>
              </a:extLst>
            </p:cNvPr>
            <p:cNvSpPr/>
            <p:nvPr/>
          </p:nvSpPr>
          <p:spPr>
            <a:xfrm>
              <a:off x="6616706" y="1454266"/>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58" name="Grafik 57" descr="Dokument Silhouette">
              <a:extLst>
                <a:ext uri="{FF2B5EF4-FFF2-40B4-BE49-F238E27FC236}">
                  <a16:creationId xmlns:a16="http://schemas.microsoft.com/office/drawing/2014/main" id="{D2C8F08B-E0CF-EFE5-F19C-73541BDB47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731" y="1369588"/>
              <a:ext cx="914400" cy="914400"/>
            </a:xfrm>
            <a:prstGeom prst="rect">
              <a:avLst/>
            </a:prstGeom>
          </p:spPr>
        </p:pic>
      </p:grpSp>
      <p:sp>
        <p:nvSpPr>
          <p:cNvPr id="8" name="Rechteck 7">
            <a:extLst>
              <a:ext uri="{FF2B5EF4-FFF2-40B4-BE49-F238E27FC236}">
                <a16:creationId xmlns:a16="http://schemas.microsoft.com/office/drawing/2014/main" id="{C52F928B-3188-B18A-A6F6-FFB6D5A9ECC8}"/>
              </a:ext>
            </a:extLst>
          </p:cNvPr>
          <p:cNvSpPr/>
          <p:nvPr/>
        </p:nvSpPr>
        <p:spPr>
          <a:xfrm>
            <a:off x="7816734" y="5364191"/>
            <a:ext cx="826807" cy="4326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000" dirty="0">
                <a:solidFill>
                  <a:schemeClr val="tx1"/>
                </a:solidFill>
              </a:rPr>
              <a:t>Conflict </a:t>
            </a:r>
            <a:r>
              <a:rPr lang="de-DE" sz="1000" dirty="0" err="1">
                <a:solidFill>
                  <a:schemeClr val="tx1"/>
                </a:solidFill>
              </a:rPr>
              <a:t>detection</a:t>
            </a:r>
            <a:endParaRPr lang="de-DE" sz="1000" dirty="0">
              <a:solidFill>
                <a:schemeClr val="tx1"/>
              </a:solidFill>
            </a:endParaRPr>
          </a:p>
        </p:txBody>
      </p:sp>
      <p:grpSp>
        <p:nvGrpSpPr>
          <p:cNvPr id="9" name="Gruppieren 8">
            <a:extLst>
              <a:ext uri="{FF2B5EF4-FFF2-40B4-BE49-F238E27FC236}">
                <a16:creationId xmlns:a16="http://schemas.microsoft.com/office/drawing/2014/main" id="{39E7BBEF-EF51-8A7B-4AE4-B271AECC31A4}"/>
              </a:ext>
            </a:extLst>
          </p:cNvPr>
          <p:cNvGrpSpPr/>
          <p:nvPr/>
        </p:nvGrpSpPr>
        <p:grpSpPr>
          <a:xfrm>
            <a:off x="9227368" y="5105139"/>
            <a:ext cx="914400" cy="914400"/>
            <a:chOff x="6424731" y="1369588"/>
            <a:chExt cx="914400" cy="914400"/>
          </a:xfrm>
        </p:grpSpPr>
        <p:sp>
          <p:nvSpPr>
            <p:cNvPr id="10" name="Rechteck: eine Ecke abgeschnitten 90">
              <a:extLst>
                <a:ext uri="{FF2B5EF4-FFF2-40B4-BE49-F238E27FC236}">
                  <a16:creationId xmlns:a16="http://schemas.microsoft.com/office/drawing/2014/main" id="{E3225065-373E-3B20-80B6-77CE8BAE6FE3}"/>
                </a:ext>
              </a:extLst>
            </p:cNvPr>
            <p:cNvSpPr/>
            <p:nvPr/>
          </p:nvSpPr>
          <p:spPr>
            <a:xfrm>
              <a:off x="6616706" y="1454266"/>
              <a:ext cx="530448" cy="736497"/>
            </a:xfrm>
            <a:custGeom>
              <a:avLst/>
              <a:gdLst>
                <a:gd name="connsiteX0" fmla="*/ 0 w 469900"/>
                <a:gd name="connsiteY0" fmla="*/ 0 h 635264"/>
                <a:gd name="connsiteX1" fmla="*/ 39158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9900 w 469900"/>
                <a:gd name="connsiteY2" fmla="*/ 7831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5062 w 469900"/>
                <a:gd name="connsiteY1" fmla="*/ 0 h 635264"/>
                <a:gd name="connsiteX2" fmla="*/ 462280 w 469900"/>
                <a:gd name="connsiteY2" fmla="*/ 167218 h 635264"/>
                <a:gd name="connsiteX3" fmla="*/ 469900 w 469900"/>
                <a:gd name="connsiteY3" fmla="*/ 635264 h 635264"/>
                <a:gd name="connsiteX4" fmla="*/ 0 w 469900"/>
                <a:gd name="connsiteY4" fmla="*/ 635264 h 635264"/>
                <a:gd name="connsiteX5" fmla="*/ 0 w 469900"/>
                <a:gd name="connsiteY5" fmla="*/ 0 h 635264"/>
                <a:gd name="connsiteX0" fmla="*/ 0 w 487680"/>
                <a:gd name="connsiteY0" fmla="*/ 0 h 635264"/>
                <a:gd name="connsiteX1" fmla="*/ 295062 w 487680"/>
                <a:gd name="connsiteY1" fmla="*/ 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87680"/>
                <a:gd name="connsiteY0" fmla="*/ 0 h 635264"/>
                <a:gd name="connsiteX1" fmla="*/ 284902 w 487680"/>
                <a:gd name="connsiteY1" fmla="*/ 5080 h 635264"/>
                <a:gd name="connsiteX2" fmla="*/ 487680 w 487680"/>
                <a:gd name="connsiteY2" fmla="*/ 192618 h 635264"/>
                <a:gd name="connsiteX3" fmla="*/ 469900 w 487680"/>
                <a:gd name="connsiteY3" fmla="*/ 635264 h 635264"/>
                <a:gd name="connsiteX4" fmla="*/ 0 w 487680"/>
                <a:gd name="connsiteY4" fmla="*/ 635264 h 635264"/>
                <a:gd name="connsiteX5" fmla="*/ 0 w 487680"/>
                <a:gd name="connsiteY5" fmla="*/ 0 h 635264"/>
                <a:gd name="connsiteX0" fmla="*/ 0 w 477520"/>
                <a:gd name="connsiteY0" fmla="*/ 0 h 635264"/>
                <a:gd name="connsiteX1" fmla="*/ 284902 w 477520"/>
                <a:gd name="connsiteY1" fmla="*/ 5080 h 635264"/>
                <a:gd name="connsiteX2" fmla="*/ 477520 w 477520"/>
                <a:gd name="connsiteY2" fmla="*/ 187538 h 635264"/>
                <a:gd name="connsiteX3" fmla="*/ 469900 w 477520"/>
                <a:gd name="connsiteY3" fmla="*/ 635264 h 635264"/>
                <a:gd name="connsiteX4" fmla="*/ 0 w 477520"/>
                <a:gd name="connsiteY4" fmla="*/ 635264 h 635264"/>
                <a:gd name="connsiteX5" fmla="*/ 0 w 477520"/>
                <a:gd name="connsiteY5" fmla="*/ 0 h 635264"/>
                <a:gd name="connsiteX0" fmla="*/ 0 w 469900"/>
                <a:gd name="connsiteY0" fmla="*/ 0 h 635264"/>
                <a:gd name="connsiteX1" fmla="*/ 284902 w 469900"/>
                <a:gd name="connsiteY1" fmla="*/ 5080 h 635264"/>
                <a:gd name="connsiteX2" fmla="*/ 460375 w 469900"/>
                <a:gd name="connsiteY2" fmla="*/ 17420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395605 w 469900"/>
                <a:gd name="connsiteY2" fmla="*/ 204683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4902 w 469900"/>
                <a:gd name="connsiteY1" fmla="*/ 5080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69662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9900 w 469900"/>
                <a:gd name="connsiteY2" fmla="*/ 191348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91294 w 469900"/>
                <a:gd name="connsiteY1" fmla="*/ 317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0 h 635264"/>
                <a:gd name="connsiteX1" fmla="*/ 287577 w 469900"/>
                <a:gd name="connsiteY1" fmla="*/ 4945 h 635264"/>
                <a:gd name="connsiteX2" fmla="*/ 468097 w 469900"/>
                <a:gd name="connsiteY2" fmla="*/ 184199 h 635264"/>
                <a:gd name="connsiteX3" fmla="*/ 469900 w 469900"/>
                <a:gd name="connsiteY3" fmla="*/ 635264 h 635264"/>
                <a:gd name="connsiteX4" fmla="*/ 0 w 469900"/>
                <a:gd name="connsiteY4" fmla="*/ 635264 h 635264"/>
                <a:gd name="connsiteX5" fmla="*/ 0 w 469900"/>
                <a:gd name="connsiteY5" fmla="*/ 0 h 635264"/>
                <a:gd name="connsiteX0" fmla="*/ 0 w 469900"/>
                <a:gd name="connsiteY0" fmla="*/ 363 h 630319"/>
                <a:gd name="connsiteX1" fmla="*/ 287577 w 469900"/>
                <a:gd name="connsiteY1" fmla="*/ 0 h 630319"/>
                <a:gd name="connsiteX2" fmla="*/ 468097 w 469900"/>
                <a:gd name="connsiteY2" fmla="*/ 179254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363 h 630319"/>
                <a:gd name="connsiteX1" fmla="*/ 287577 w 469900"/>
                <a:gd name="connsiteY1" fmla="*/ 0 h 630319"/>
                <a:gd name="connsiteX2" fmla="*/ 464380 w 469900"/>
                <a:gd name="connsiteY2" fmla="*/ 177485 h 630319"/>
                <a:gd name="connsiteX3" fmla="*/ 469900 w 469900"/>
                <a:gd name="connsiteY3" fmla="*/ 630319 h 630319"/>
                <a:gd name="connsiteX4" fmla="*/ 0 w 469900"/>
                <a:gd name="connsiteY4" fmla="*/ 630319 h 630319"/>
                <a:gd name="connsiteX5" fmla="*/ 0 w 469900"/>
                <a:gd name="connsiteY5" fmla="*/ 363 h 630319"/>
                <a:gd name="connsiteX0" fmla="*/ 0 w 469900"/>
                <a:gd name="connsiteY0" fmla="*/ 0 h 629956"/>
                <a:gd name="connsiteX1" fmla="*/ 287577 w 469900"/>
                <a:gd name="connsiteY1" fmla="*/ 3176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69900"/>
                <a:gd name="connsiteY0" fmla="*/ 0 h 629956"/>
                <a:gd name="connsiteX1" fmla="*/ 287577 w 469900"/>
                <a:gd name="connsiteY1" fmla="*/ 1407 h 629956"/>
                <a:gd name="connsiteX2" fmla="*/ 464380 w 469900"/>
                <a:gd name="connsiteY2" fmla="*/ 177122 h 629956"/>
                <a:gd name="connsiteX3" fmla="*/ 469900 w 469900"/>
                <a:gd name="connsiteY3" fmla="*/ 629956 h 629956"/>
                <a:gd name="connsiteX4" fmla="*/ 0 w 469900"/>
                <a:gd name="connsiteY4" fmla="*/ 629956 h 629956"/>
                <a:gd name="connsiteX5" fmla="*/ 0 w 469900"/>
                <a:gd name="connsiteY5" fmla="*/ 0 h 629956"/>
                <a:gd name="connsiteX0" fmla="*/ 0 w 473673"/>
                <a:gd name="connsiteY0" fmla="*/ 0 h 629956"/>
                <a:gd name="connsiteX1" fmla="*/ 287577 w 473673"/>
                <a:gd name="connsiteY1" fmla="*/ 1407 h 629956"/>
                <a:gd name="connsiteX2" fmla="*/ 473673 w 473673"/>
                <a:gd name="connsiteY2" fmla="*/ 185968 h 629956"/>
                <a:gd name="connsiteX3" fmla="*/ 469900 w 473673"/>
                <a:gd name="connsiteY3" fmla="*/ 629956 h 629956"/>
                <a:gd name="connsiteX4" fmla="*/ 0 w 473673"/>
                <a:gd name="connsiteY4" fmla="*/ 629956 h 629956"/>
                <a:gd name="connsiteX5" fmla="*/ 0 w 473673"/>
                <a:gd name="connsiteY5" fmla="*/ 0 h 629956"/>
                <a:gd name="connsiteX0" fmla="*/ 0 w 471978"/>
                <a:gd name="connsiteY0" fmla="*/ 0 h 629956"/>
                <a:gd name="connsiteX1" fmla="*/ 287577 w 471978"/>
                <a:gd name="connsiteY1" fmla="*/ 1407 h 629956"/>
                <a:gd name="connsiteX2" fmla="*/ 471978 w 471978"/>
                <a:gd name="connsiteY2" fmla="*/ 172928 h 629956"/>
                <a:gd name="connsiteX3" fmla="*/ 469900 w 471978"/>
                <a:gd name="connsiteY3" fmla="*/ 629956 h 629956"/>
                <a:gd name="connsiteX4" fmla="*/ 0 w 471978"/>
                <a:gd name="connsiteY4" fmla="*/ 629956 h 629956"/>
                <a:gd name="connsiteX5" fmla="*/ 0 w 471978"/>
                <a:gd name="connsiteY5" fmla="*/ 0 h 629956"/>
                <a:gd name="connsiteX0" fmla="*/ 0 w 471978"/>
                <a:gd name="connsiteY0" fmla="*/ 223 h 630179"/>
                <a:gd name="connsiteX1" fmla="*/ 299442 w 471978"/>
                <a:gd name="connsiteY1" fmla="*/ 0 h 630179"/>
                <a:gd name="connsiteX2" fmla="*/ 471978 w 471978"/>
                <a:gd name="connsiteY2" fmla="*/ 173151 h 630179"/>
                <a:gd name="connsiteX3" fmla="*/ 469900 w 471978"/>
                <a:gd name="connsiteY3" fmla="*/ 630179 h 630179"/>
                <a:gd name="connsiteX4" fmla="*/ 0 w 471978"/>
                <a:gd name="connsiteY4" fmla="*/ 630179 h 630179"/>
                <a:gd name="connsiteX5" fmla="*/ 0 w 471978"/>
                <a:gd name="connsiteY5" fmla="*/ 223 h 630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1978" h="630179">
                  <a:moveTo>
                    <a:pt x="0" y="223"/>
                  </a:moveTo>
                  <a:lnTo>
                    <a:pt x="299442" y="0"/>
                  </a:lnTo>
                  <a:cubicBezTo>
                    <a:pt x="361474" y="61520"/>
                    <a:pt x="409946" y="111631"/>
                    <a:pt x="471978" y="173151"/>
                  </a:cubicBezTo>
                  <a:cubicBezTo>
                    <a:pt x="470720" y="321147"/>
                    <a:pt x="471158" y="482183"/>
                    <a:pt x="469900" y="630179"/>
                  </a:cubicBezTo>
                  <a:lnTo>
                    <a:pt x="0" y="630179"/>
                  </a:lnTo>
                  <a:lnTo>
                    <a:pt x="0" y="22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descr="Dokument Silhouette">
              <a:extLst>
                <a:ext uri="{FF2B5EF4-FFF2-40B4-BE49-F238E27FC236}">
                  <a16:creationId xmlns:a16="http://schemas.microsoft.com/office/drawing/2014/main" id="{482863FE-1D93-AE54-3D84-EF7BB38773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424731" y="1369588"/>
              <a:ext cx="914400" cy="914400"/>
            </a:xfrm>
            <a:prstGeom prst="rect">
              <a:avLst/>
            </a:prstGeom>
          </p:spPr>
        </p:pic>
      </p:grpSp>
      <p:cxnSp>
        <p:nvCxnSpPr>
          <p:cNvPr id="27" name="Gerade Verbindung mit Pfeil 26">
            <a:extLst>
              <a:ext uri="{FF2B5EF4-FFF2-40B4-BE49-F238E27FC236}">
                <a16:creationId xmlns:a16="http://schemas.microsoft.com/office/drawing/2014/main" id="{07F87C45-5AC8-4A38-BAC6-F74AB598B6A9}"/>
              </a:ext>
            </a:extLst>
          </p:cNvPr>
          <p:cNvCxnSpPr>
            <a:stCxn id="4" idx="3"/>
            <a:endCxn id="29" idx="1"/>
          </p:cNvCxnSpPr>
          <p:nvPr/>
        </p:nvCxnSpPr>
        <p:spPr>
          <a:xfrm flipV="1">
            <a:off x="8643542" y="2686014"/>
            <a:ext cx="614818"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31" name="Gerade Verbindung mit Pfeil 30">
            <a:extLst>
              <a:ext uri="{FF2B5EF4-FFF2-40B4-BE49-F238E27FC236}">
                <a16:creationId xmlns:a16="http://schemas.microsoft.com/office/drawing/2014/main" id="{78062B38-67A9-497E-93EB-A4DCF2BA37C9}"/>
              </a:ext>
            </a:extLst>
          </p:cNvPr>
          <p:cNvCxnSpPr>
            <a:cxnSpLocks/>
            <a:stCxn id="28" idx="1"/>
            <a:endCxn id="29" idx="3"/>
          </p:cNvCxnSpPr>
          <p:nvPr/>
        </p:nvCxnSpPr>
        <p:spPr>
          <a:xfrm flipH="1" flipV="1">
            <a:off x="10085167" y="2686014"/>
            <a:ext cx="614819"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0" name="Gerade Verbindung mit Pfeil 59">
            <a:extLst>
              <a:ext uri="{FF2B5EF4-FFF2-40B4-BE49-F238E27FC236}">
                <a16:creationId xmlns:a16="http://schemas.microsoft.com/office/drawing/2014/main" id="{B7600C5C-BBCD-5354-D11C-02E6512ED886}"/>
              </a:ext>
            </a:extLst>
          </p:cNvPr>
          <p:cNvCxnSpPr>
            <a:cxnSpLocks/>
            <a:endCxn id="28" idx="0"/>
          </p:cNvCxnSpPr>
          <p:nvPr/>
        </p:nvCxnSpPr>
        <p:spPr>
          <a:xfrm>
            <a:off x="11113390" y="2285157"/>
            <a:ext cx="0" cy="18454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4" name="Gerade Verbindung mit Pfeil 63">
            <a:extLst>
              <a:ext uri="{FF2B5EF4-FFF2-40B4-BE49-F238E27FC236}">
                <a16:creationId xmlns:a16="http://schemas.microsoft.com/office/drawing/2014/main" id="{6C0DA317-D8D5-E0E6-E938-0BCDCB04021A}"/>
              </a:ext>
            </a:extLst>
          </p:cNvPr>
          <p:cNvCxnSpPr>
            <a:cxnSpLocks/>
            <a:endCxn id="4" idx="0"/>
          </p:cNvCxnSpPr>
          <p:nvPr/>
        </p:nvCxnSpPr>
        <p:spPr>
          <a:xfrm>
            <a:off x="8230139" y="2280594"/>
            <a:ext cx="0" cy="189104"/>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67" name="Gerade Verbindung mit Pfeil 66">
            <a:extLst>
              <a:ext uri="{FF2B5EF4-FFF2-40B4-BE49-F238E27FC236}">
                <a16:creationId xmlns:a16="http://schemas.microsoft.com/office/drawing/2014/main" id="{16469317-DEE0-262D-1A5F-9AA0ACD10BE6}"/>
              </a:ext>
            </a:extLst>
          </p:cNvPr>
          <p:cNvCxnSpPr>
            <a:cxnSpLocks/>
            <a:stCxn id="29" idx="2"/>
          </p:cNvCxnSpPr>
          <p:nvPr/>
        </p:nvCxnSpPr>
        <p:spPr>
          <a:xfrm>
            <a:off x="9671764" y="2902330"/>
            <a:ext cx="0" cy="261767"/>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2" name="Gerade Verbindung mit Pfeil 71">
            <a:extLst>
              <a:ext uri="{FF2B5EF4-FFF2-40B4-BE49-F238E27FC236}">
                <a16:creationId xmlns:a16="http://schemas.microsoft.com/office/drawing/2014/main" id="{3678CF13-8063-8E75-CCD8-4BB0AE6D3034}"/>
              </a:ext>
            </a:extLst>
          </p:cNvPr>
          <p:cNvCxnSpPr>
            <a:cxnSpLocks/>
            <a:endCxn id="46" idx="3"/>
          </p:cNvCxnSpPr>
          <p:nvPr/>
        </p:nvCxnSpPr>
        <p:spPr>
          <a:xfrm flipH="1">
            <a:off x="7189111" y="1923887"/>
            <a:ext cx="735689"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77" name="Gerade Verbindung mit Pfeil 76">
            <a:extLst>
              <a:ext uri="{FF2B5EF4-FFF2-40B4-BE49-F238E27FC236}">
                <a16:creationId xmlns:a16="http://schemas.microsoft.com/office/drawing/2014/main" id="{798EEC6B-B01B-3349-2C85-462EFDDA4F11}"/>
              </a:ext>
            </a:extLst>
          </p:cNvPr>
          <p:cNvCxnSpPr>
            <a:cxnSpLocks/>
            <a:endCxn id="45" idx="3"/>
          </p:cNvCxnSpPr>
          <p:nvPr/>
        </p:nvCxnSpPr>
        <p:spPr>
          <a:xfrm flipH="1">
            <a:off x="7188007" y="3629921"/>
            <a:ext cx="2101824" cy="397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0" name="Gerade Verbindung mit Pfeil 79">
            <a:extLst>
              <a:ext uri="{FF2B5EF4-FFF2-40B4-BE49-F238E27FC236}">
                <a16:creationId xmlns:a16="http://schemas.microsoft.com/office/drawing/2014/main" id="{71C9E29D-927B-D032-0B9E-41C4117F6FBC}"/>
              </a:ext>
            </a:extLst>
          </p:cNvPr>
          <p:cNvCxnSpPr>
            <a:cxnSpLocks/>
            <a:stCxn id="45" idx="2"/>
            <a:endCxn id="55" idx="0"/>
          </p:cNvCxnSpPr>
          <p:nvPr/>
        </p:nvCxnSpPr>
        <p:spPr>
          <a:xfrm>
            <a:off x="6774604" y="3850209"/>
            <a:ext cx="0" cy="557982"/>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84" name="Gerade Verbindung mit Pfeil 83">
            <a:extLst>
              <a:ext uri="{FF2B5EF4-FFF2-40B4-BE49-F238E27FC236}">
                <a16:creationId xmlns:a16="http://schemas.microsoft.com/office/drawing/2014/main" id="{6F3B7E62-238E-78F8-E013-781ECE98CB4C}"/>
              </a:ext>
            </a:extLst>
          </p:cNvPr>
          <p:cNvCxnSpPr>
            <a:cxnSpLocks/>
            <a:stCxn id="55" idx="2"/>
          </p:cNvCxnSpPr>
          <p:nvPr/>
        </p:nvCxnSpPr>
        <p:spPr>
          <a:xfrm flipH="1">
            <a:off x="6774603" y="4840824"/>
            <a:ext cx="1" cy="309606"/>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0" name="Gerade Verbindung mit Pfeil 89">
            <a:extLst>
              <a:ext uri="{FF2B5EF4-FFF2-40B4-BE49-F238E27FC236}">
                <a16:creationId xmlns:a16="http://schemas.microsoft.com/office/drawing/2014/main" id="{75E14B2A-2804-435B-D40D-F74EBAE8DA20}"/>
              </a:ext>
            </a:extLst>
          </p:cNvPr>
          <p:cNvCxnSpPr>
            <a:cxnSpLocks/>
            <a:endCxn id="8" idx="1"/>
          </p:cNvCxnSpPr>
          <p:nvPr/>
        </p:nvCxnSpPr>
        <p:spPr>
          <a:xfrm>
            <a:off x="7069466" y="5580508"/>
            <a:ext cx="74726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3" name="Gerade Verbindung mit Pfeil 92">
            <a:extLst>
              <a:ext uri="{FF2B5EF4-FFF2-40B4-BE49-F238E27FC236}">
                <a16:creationId xmlns:a16="http://schemas.microsoft.com/office/drawing/2014/main" id="{8C8304B3-04EF-6217-7618-E07C4B55C430}"/>
              </a:ext>
            </a:extLst>
          </p:cNvPr>
          <p:cNvCxnSpPr>
            <a:cxnSpLocks/>
            <a:stCxn id="8" idx="3"/>
          </p:cNvCxnSpPr>
          <p:nvPr/>
        </p:nvCxnSpPr>
        <p:spPr>
          <a:xfrm flipV="1">
            <a:off x="8643541" y="5580507"/>
            <a:ext cx="769453" cy="1"/>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98" name="Verbinder: gewinkelt 97">
            <a:extLst>
              <a:ext uri="{FF2B5EF4-FFF2-40B4-BE49-F238E27FC236}">
                <a16:creationId xmlns:a16="http://schemas.microsoft.com/office/drawing/2014/main" id="{D0C4E730-ED87-1081-B481-AC8625158148}"/>
              </a:ext>
            </a:extLst>
          </p:cNvPr>
          <p:cNvCxnSpPr>
            <a:stCxn id="46" idx="1"/>
            <a:endCxn id="55" idx="1"/>
          </p:cNvCxnSpPr>
          <p:nvPr/>
        </p:nvCxnSpPr>
        <p:spPr>
          <a:xfrm rot="10800000" flipV="1">
            <a:off x="6361200" y="1923886"/>
            <a:ext cx="1104" cy="2700621"/>
          </a:xfrm>
          <a:prstGeom prst="bentConnector3">
            <a:avLst>
              <a:gd name="adj1" fmla="val 13214130"/>
            </a:avLst>
          </a:prstGeom>
          <a:ln w="12700">
            <a:tailEnd type="triangle"/>
          </a:ln>
        </p:spPr>
        <p:style>
          <a:lnRef idx="1">
            <a:schemeClr val="dk1"/>
          </a:lnRef>
          <a:fillRef idx="0">
            <a:schemeClr val="dk1"/>
          </a:fillRef>
          <a:effectRef idx="0">
            <a:schemeClr val="dk1"/>
          </a:effectRef>
          <a:fontRef idx="minor">
            <a:schemeClr val="tx1"/>
          </a:fontRef>
        </p:style>
      </p:cxnSp>
      <p:sp>
        <p:nvSpPr>
          <p:cNvPr id="14" name="Textfeld 13">
            <a:extLst>
              <a:ext uri="{FF2B5EF4-FFF2-40B4-BE49-F238E27FC236}">
                <a16:creationId xmlns:a16="http://schemas.microsoft.com/office/drawing/2014/main" id="{381CA89D-6CFF-B467-2AFC-EF79B3518B69}"/>
              </a:ext>
            </a:extLst>
          </p:cNvPr>
          <p:cNvSpPr txBox="1"/>
          <p:nvPr/>
        </p:nvSpPr>
        <p:spPr>
          <a:xfrm>
            <a:off x="9824306" y="1440057"/>
            <a:ext cx="1073435" cy="276999"/>
          </a:xfrm>
          <a:prstGeom prst="rect">
            <a:avLst/>
          </a:prstGeom>
          <a:noFill/>
        </p:spPr>
        <p:txBody>
          <a:bodyPr wrap="none" rtlCol="0">
            <a:spAutoFit/>
          </a:bodyPr>
          <a:lstStyle/>
          <a:p>
            <a:r>
              <a:rPr lang="de-DE" sz="1200" dirty="0">
                <a:solidFill>
                  <a:schemeClr val="bg1">
                    <a:lumMod val="65000"/>
                  </a:schemeClr>
                </a:solidFill>
              </a:rPr>
              <a:t>Training </a:t>
            </a:r>
            <a:r>
              <a:rPr lang="de-DE" sz="1200" dirty="0" err="1">
                <a:solidFill>
                  <a:schemeClr val="bg1">
                    <a:lumMod val="65000"/>
                  </a:schemeClr>
                </a:solidFill>
              </a:rPr>
              <a:t>data</a:t>
            </a:r>
            <a:endParaRPr lang="de-DE" sz="1200" dirty="0">
              <a:solidFill>
                <a:schemeClr val="bg1">
                  <a:lumMod val="65000"/>
                </a:schemeClr>
              </a:solidFill>
            </a:endParaRPr>
          </a:p>
        </p:txBody>
      </p:sp>
      <p:sp>
        <p:nvSpPr>
          <p:cNvPr id="43" name="Textfeld 42">
            <a:extLst>
              <a:ext uri="{FF2B5EF4-FFF2-40B4-BE49-F238E27FC236}">
                <a16:creationId xmlns:a16="http://schemas.microsoft.com/office/drawing/2014/main" id="{3C5CE76A-F13B-119C-5E8E-B3A3D5C08449}"/>
              </a:ext>
            </a:extLst>
          </p:cNvPr>
          <p:cNvSpPr txBox="1"/>
          <p:nvPr/>
        </p:nvSpPr>
        <p:spPr>
          <a:xfrm>
            <a:off x="8071245" y="1276005"/>
            <a:ext cx="335348" cy="276999"/>
          </a:xfrm>
          <a:prstGeom prst="rect">
            <a:avLst/>
          </a:prstGeom>
          <a:noFill/>
        </p:spPr>
        <p:txBody>
          <a:bodyPr wrap="none" rtlCol="0">
            <a:spAutoFit/>
          </a:bodyPr>
          <a:lstStyle/>
          <a:p>
            <a:r>
              <a:rPr lang="de-DE" sz="1200" dirty="0" err="1">
                <a:solidFill>
                  <a:schemeClr val="bg1">
                    <a:lumMod val="65000"/>
                  </a:schemeClr>
                </a:solidFill>
              </a:rPr>
              <a:t>y</a:t>
            </a:r>
            <a:r>
              <a:rPr lang="de-DE" sz="1200" baseline="-25000" dirty="0" err="1">
                <a:solidFill>
                  <a:schemeClr val="bg1">
                    <a:lumMod val="65000"/>
                  </a:schemeClr>
                </a:solidFill>
              </a:rPr>
              <a:t>w</a:t>
            </a:r>
            <a:endParaRPr lang="de-DE" sz="1200" baseline="-25000" dirty="0">
              <a:solidFill>
                <a:schemeClr val="bg1">
                  <a:lumMod val="65000"/>
                </a:schemeClr>
              </a:solidFill>
            </a:endParaRPr>
          </a:p>
        </p:txBody>
      </p:sp>
      <p:sp>
        <p:nvSpPr>
          <p:cNvPr id="59" name="Textfeld 58">
            <a:extLst>
              <a:ext uri="{FF2B5EF4-FFF2-40B4-BE49-F238E27FC236}">
                <a16:creationId xmlns:a16="http://schemas.microsoft.com/office/drawing/2014/main" id="{FC36383C-8C32-C0CC-AD3F-A525B9B5D37B}"/>
              </a:ext>
            </a:extLst>
          </p:cNvPr>
          <p:cNvSpPr txBox="1"/>
          <p:nvPr/>
        </p:nvSpPr>
        <p:spPr>
          <a:xfrm>
            <a:off x="6193525" y="5398806"/>
            <a:ext cx="284052" cy="276999"/>
          </a:xfrm>
          <a:prstGeom prst="rect">
            <a:avLst/>
          </a:prstGeom>
          <a:noFill/>
        </p:spPr>
        <p:txBody>
          <a:bodyPr wrap="none" rtlCol="0">
            <a:spAutoFit/>
          </a:bodyPr>
          <a:lstStyle/>
          <a:p>
            <a:r>
              <a:rPr lang="de-DE" sz="1200" dirty="0" err="1">
                <a:solidFill>
                  <a:schemeClr val="bg1">
                    <a:lumMod val="65000"/>
                  </a:schemeClr>
                </a:solidFill>
              </a:rPr>
              <a:t>y</a:t>
            </a:r>
            <a:r>
              <a:rPr lang="de-DE" sz="1200" baseline="-25000" dirty="0" err="1">
                <a:solidFill>
                  <a:schemeClr val="bg1">
                    <a:lumMod val="65000"/>
                  </a:schemeClr>
                </a:solidFill>
              </a:rPr>
              <a:t>l</a:t>
            </a:r>
            <a:endParaRPr lang="de-DE" sz="1200" baseline="-25000" dirty="0">
              <a:solidFill>
                <a:schemeClr val="bg1">
                  <a:lumMod val="65000"/>
                </a:schemeClr>
              </a:solidFill>
            </a:endParaRPr>
          </a:p>
        </p:txBody>
      </p:sp>
      <p:sp>
        <p:nvSpPr>
          <p:cNvPr id="61" name="Textfeld 60">
            <a:extLst>
              <a:ext uri="{FF2B5EF4-FFF2-40B4-BE49-F238E27FC236}">
                <a16:creationId xmlns:a16="http://schemas.microsoft.com/office/drawing/2014/main" id="{CE896037-7CAB-8857-EEA3-5A71C78A8A3A}"/>
              </a:ext>
            </a:extLst>
          </p:cNvPr>
          <p:cNvSpPr txBox="1"/>
          <p:nvPr/>
        </p:nvSpPr>
        <p:spPr>
          <a:xfrm>
            <a:off x="9942754" y="5413408"/>
            <a:ext cx="343364" cy="276999"/>
          </a:xfrm>
          <a:prstGeom prst="rect">
            <a:avLst/>
          </a:prstGeom>
          <a:noFill/>
        </p:spPr>
        <p:txBody>
          <a:bodyPr wrap="none" rtlCol="0">
            <a:spAutoFit/>
          </a:bodyPr>
          <a:lstStyle/>
          <a:p>
            <a:r>
              <a:rPr lang="de-DE" sz="1200" dirty="0" err="1">
                <a:solidFill>
                  <a:schemeClr val="bg1">
                    <a:lumMod val="65000"/>
                  </a:schemeClr>
                </a:solidFill>
              </a:rPr>
              <a:t>y</a:t>
            </a:r>
            <a:r>
              <a:rPr lang="de-DE" sz="1200" baseline="-25000" dirty="0" err="1">
                <a:solidFill>
                  <a:schemeClr val="bg1">
                    <a:lumMod val="65000"/>
                  </a:schemeClr>
                </a:solidFill>
              </a:rPr>
              <a:t>l</a:t>
            </a:r>
            <a:r>
              <a:rPr lang="de-DE" sz="1200" baseline="30000" dirty="0">
                <a:solidFill>
                  <a:schemeClr val="bg1">
                    <a:lumMod val="65000"/>
                  </a:schemeClr>
                </a:solidFill>
              </a:rPr>
              <a:t>+</a:t>
            </a:r>
            <a:endParaRPr lang="de-DE" sz="1200" baseline="-25000" dirty="0">
              <a:solidFill>
                <a:schemeClr val="bg1">
                  <a:lumMod val="65000"/>
                </a:schemeClr>
              </a:solidFill>
            </a:endParaRPr>
          </a:p>
        </p:txBody>
      </p:sp>
      <p:pic>
        <p:nvPicPr>
          <p:cNvPr id="65" name="Grafik 64">
            <a:extLst>
              <a:ext uri="{FF2B5EF4-FFF2-40B4-BE49-F238E27FC236}">
                <a16:creationId xmlns:a16="http://schemas.microsoft.com/office/drawing/2014/main" id="{C94951EF-9F62-CE99-9DC9-A4B82A2D44BD}"/>
              </a:ext>
            </a:extLst>
          </p:cNvPr>
          <p:cNvPicPr>
            <a:picLocks noChangeAspect="1"/>
          </p:cNvPicPr>
          <p:nvPr/>
        </p:nvPicPr>
        <p:blipFill>
          <a:blip r:embed="rId7"/>
          <a:stretch>
            <a:fillRect/>
          </a:stretch>
        </p:blipFill>
        <p:spPr>
          <a:xfrm>
            <a:off x="7622285" y="4188075"/>
            <a:ext cx="4427520" cy="814075"/>
          </a:xfrm>
          <a:prstGeom prst="rect">
            <a:avLst/>
          </a:prstGeom>
        </p:spPr>
      </p:pic>
    </p:spTree>
    <p:extLst>
      <p:ext uri="{BB962C8B-B14F-4D97-AF65-F5344CB8AC3E}">
        <p14:creationId xmlns:p14="http://schemas.microsoft.com/office/powerpoint/2010/main" val="1251659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CC91818-88FC-C258-29A8-CFAE43A2E025}"/>
              </a:ext>
            </a:extLst>
          </p:cNvPr>
          <p:cNvSpPr>
            <a:spLocks noGrp="1"/>
          </p:cNvSpPr>
          <p:nvPr>
            <p:ph type="body" sz="quarter" idx="11"/>
          </p:nvPr>
        </p:nvSpPr>
        <p:spPr/>
        <p:txBody>
          <a:bodyPr/>
          <a:lstStyle/>
          <a:p>
            <a:endParaRPr lang="de-D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1DB3393C-E978-425C-5977-67F7BE085B15}"/>
              </a:ext>
            </a:extLst>
          </p:cNvPr>
          <p:cNvSpPr>
            <a:spLocks noGrp="1"/>
          </p:cNvSpPr>
          <p:nvPr>
            <p:ph type="body" sz="quarter" idx="13"/>
          </p:nvPr>
        </p:nvSpPr>
        <p:spPr>
          <a:xfrm>
            <a:off x="373038" y="1151792"/>
            <a:ext cx="11484000" cy="4615962"/>
          </a:xfrm>
        </p:spPr>
        <p:txBody>
          <a:bodyPr/>
          <a:lstStyle/>
          <a:p>
            <a:pPr marL="342900" indent="-342900">
              <a:buFont typeface="+mj-lt"/>
              <a:buAutoNum type="arabicPeriod"/>
            </a:pPr>
            <a:r>
              <a:rPr lang="en-US" sz="1400" dirty="0"/>
              <a:t>Liu, F., Wu, X., Ge, S., Fan, W., &amp; Zou, Y. (2021). Exploring and distilling posterior and prior knowledge for radiology report generation. In </a:t>
            </a:r>
            <a:r>
              <a:rPr lang="en-US" sz="1400" i="1" dirty="0"/>
              <a:t>Proceedings of the IEEE/CVF conference on computer vision and pattern recognition</a:t>
            </a:r>
            <a:r>
              <a:rPr lang="en-US" sz="1400" dirty="0"/>
              <a:t> (pp. 13753-13762).</a:t>
            </a:r>
          </a:p>
          <a:p>
            <a:pPr marL="342900" indent="-342900">
              <a:buFont typeface="+mj-lt"/>
              <a:buAutoNum type="arabicPeriod"/>
            </a:pPr>
            <a:r>
              <a:rPr lang="de-DE" sz="1400" dirty="0"/>
              <a:t>Yang, S., Wu, X., Ge, S., Zheng, Z., Zhou, S. K., &amp; Xiao, L. (2023). </a:t>
            </a:r>
            <a:r>
              <a:rPr lang="de-DE" sz="1400" dirty="0" err="1"/>
              <a:t>Radiology</a:t>
            </a:r>
            <a:r>
              <a:rPr lang="de-DE" sz="1400" dirty="0"/>
              <a:t> </a:t>
            </a:r>
            <a:r>
              <a:rPr lang="de-DE" sz="1400" dirty="0" err="1"/>
              <a:t>report</a:t>
            </a:r>
            <a:r>
              <a:rPr lang="de-DE" sz="1400" dirty="0"/>
              <a:t> </a:t>
            </a:r>
            <a:r>
              <a:rPr lang="de-DE" sz="1400" dirty="0" err="1"/>
              <a:t>generation</a:t>
            </a:r>
            <a:r>
              <a:rPr lang="de-DE" sz="1400" dirty="0"/>
              <a:t> </a:t>
            </a:r>
            <a:r>
              <a:rPr lang="de-DE" sz="1400" dirty="0" err="1"/>
              <a:t>with</a:t>
            </a:r>
            <a:r>
              <a:rPr lang="de-DE" sz="1400" dirty="0"/>
              <a:t> a </a:t>
            </a:r>
            <a:r>
              <a:rPr lang="de-DE" sz="1400" dirty="0" err="1"/>
              <a:t>learned</a:t>
            </a:r>
            <a:r>
              <a:rPr lang="de-DE" sz="1400" dirty="0"/>
              <a:t> </a:t>
            </a:r>
            <a:r>
              <a:rPr lang="de-DE" sz="1400" dirty="0" err="1"/>
              <a:t>knowledge</a:t>
            </a:r>
            <a:r>
              <a:rPr lang="de-DE" sz="1400" dirty="0"/>
              <a:t> </a:t>
            </a:r>
            <a:r>
              <a:rPr lang="de-DE" sz="1400" dirty="0" err="1"/>
              <a:t>base</a:t>
            </a:r>
            <a:r>
              <a:rPr lang="de-DE" sz="1400" dirty="0"/>
              <a:t> and multi-modal </a:t>
            </a:r>
            <a:r>
              <a:rPr lang="de-DE" sz="1400" dirty="0" err="1"/>
              <a:t>alignment</a:t>
            </a:r>
            <a:r>
              <a:rPr lang="de-DE" sz="1400" dirty="0"/>
              <a:t>. </a:t>
            </a:r>
            <a:r>
              <a:rPr lang="de-DE" sz="1400" i="1" dirty="0"/>
              <a:t>Medical Image Analysis</a:t>
            </a:r>
            <a:r>
              <a:rPr lang="de-DE" sz="1400" dirty="0"/>
              <a:t>, </a:t>
            </a:r>
            <a:r>
              <a:rPr lang="de-DE" sz="1400" i="1" dirty="0"/>
              <a:t>86</a:t>
            </a:r>
            <a:r>
              <a:rPr lang="de-DE" sz="1400" dirty="0"/>
              <a:t>, 102798.</a:t>
            </a:r>
          </a:p>
          <a:p>
            <a:pPr marL="342900" indent="-342900">
              <a:buFont typeface="+mj-lt"/>
              <a:buAutoNum type="arabicPeriod"/>
            </a:pPr>
            <a:r>
              <a:rPr lang="de-DE" sz="1400" dirty="0"/>
              <a:t>Li, Y., Wang, Z., Liu, Y., Wang, L., Liu, L., &amp; Zhou, L. (2024, </a:t>
            </a:r>
            <a:r>
              <a:rPr lang="de-DE" sz="1400" dirty="0" err="1"/>
              <a:t>October</a:t>
            </a:r>
            <a:r>
              <a:rPr lang="de-DE" sz="1400" dirty="0"/>
              <a:t>). KARGEN: Knowledge-Enhanced </a:t>
            </a:r>
            <a:r>
              <a:rPr lang="de-DE" sz="1400" dirty="0" err="1"/>
              <a:t>Automated</a:t>
            </a:r>
            <a:r>
              <a:rPr lang="de-DE" sz="1400" dirty="0"/>
              <a:t> </a:t>
            </a:r>
            <a:r>
              <a:rPr lang="de-DE" sz="1400" dirty="0" err="1"/>
              <a:t>Radiology</a:t>
            </a:r>
            <a:r>
              <a:rPr lang="de-DE" sz="1400" dirty="0"/>
              <a:t> </a:t>
            </a:r>
            <a:r>
              <a:rPr lang="de-DE" sz="1400" dirty="0" err="1"/>
              <a:t>report</a:t>
            </a:r>
            <a:r>
              <a:rPr lang="de-DE" sz="1400" dirty="0"/>
              <a:t> </a:t>
            </a:r>
            <a:r>
              <a:rPr lang="de-DE" sz="1400" dirty="0" err="1"/>
              <a:t>generation</a:t>
            </a:r>
            <a:r>
              <a:rPr lang="de-DE" sz="1400" dirty="0"/>
              <a:t> </a:t>
            </a:r>
            <a:r>
              <a:rPr lang="de-DE" sz="1400" dirty="0" err="1"/>
              <a:t>using</a:t>
            </a:r>
            <a:r>
              <a:rPr lang="de-DE" sz="1400" dirty="0"/>
              <a:t> large </a:t>
            </a:r>
            <a:r>
              <a:rPr lang="de-DE" sz="1400" dirty="0" err="1"/>
              <a:t>language</a:t>
            </a:r>
            <a:r>
              <a:rPr lang="de-DE" sz="1400" dirty="0"/>
              <a:t> </a:t>
            </a:r>
            <a:r>
              <a:rPr lang="de-DE" sz="1400" dirty="0" err="1"/>
              <a:t>models</a:t>
            </a:r>
            <a:r>
              <a:rPr lang="de-DE" sz="1400" dirty="0"/>
              <a:t>. In </a:t>
            </a:r>
            <a:r>
              <a:rPr lang="de-DE" sz="1400" i="1" dirty="0"/>
              <a:t>International Conference on Medical Image Computing and Computer-</a:t>
            </a:r>
            <a:r>
              <a:rPr lang="de-DE" sz="1400" i="1" dirty="0" err="1"/>
              <a:t>Assisted</a:t>
            </a:r>
            <a:r>
              <a:rPr lang="de-DE" sz="1400" i="1" dirty="0"/>
              <a:t> Intervention</a:t>
            </a:r>
            <a:r>
              <a:rPr lang="de-DE" sz="1400" dirty="0"/>
              <a:t> (pp. 382-392). Cham: Springer Nature </a:t>
            </a:r>
            <a:r>
              <a:rPr lang="de-DE" sz="1400" dirty="0" err="1"/>
              <a:t>Switzerland</a:t>
            </a:r>
            <a:r>
              <a:rPr lang="de-DE" sz="1400" dirty="0"/>
              <a:t>.</a:t>
            </a:r>
          </a:p>
          <a:p>
            <a:pPr marL="342900" indent="-342900">
              <a:buFont typeface="+mj-lt"/>
              <a:buAutoNum type="arabicPeriod"/>
            </a:pPr>
            <a:r>
              <a:rPr lang="de-DE" sz="1400" dirty="0"/>
              <a:t>Hou, W., Cheng, Y., </a:t>
            </a:r>
            <a:r>
              <a:rPr lang="de-DE" sz="1400" dirty="0" err="1"/>
              <a:t>Xu</a:t>
            </a:r>
            <a:r>
              <a:rPr lang="de-DE" sz="1400" dirty="0"/>
              <a:t>, K., Li, H., Hu, Y., Li, W., &amp; Liu, J. (2025). </a:t>
            </a:r>
            <a:r>
              <a:rPr lang="de-DE" sz="1400" i="1" dirty="0"/>
              <a:t>RADAR: </a:t>
            </a:r>
            <a:r>
              <a:rPr lang="de-DE" sz="1400" i="1" dirty="0" err="1"/>
              <a:t>Enhancing</a:t>
            </a:r>
            <a:r>
              <a:rPr lang="de-DE" sz="1400" i="1" dirty="0"/>
              <a:t> </a:t>
            </a:r>
            <a:r>
              <a:rPr lang="de-DE" sz="1400" i="1" dirty="0" err="1"/>
              <a:t>radiology</a:t>
            </a:r>
            <a:r>
              <a:rPr lang="de-DE" sz="1400" i="1" dirty="0"/>
              <a:t> </a:t>
            </a:r>
            <a:r>
              <a:rPr lang="de-DE" sz="1400" i="1" dirty="0" err="1"/>
              <a:t>report</a:t>
            </a:r>
            <a:r>
              <a:rPr lang="de-DE" sz="1400" i="1" dirty="0"/>
              <a:t> </a:t>
            </a:r>
            <a:r>
              <a:rPr lang="de-DE" sz="1400" i="1" dirty="0" err="1"/>
              <a:t>generation</a:t>
            </a:r>
            <a:r>
              <a:rPr lang="de-DE" sz="1400" i="1" dirty="0"/>
              <a:t> </a:t>
            </a:r>
            <a:r>
              <a:rPr lang="de-DE" sz="1400" i="1" dirty="0" err="1"/>
              <a:t>with</a:t>
            </a:r>
            <a:r>
              <a:rPr lang="de-DE" sz="1400" i="1" dirty="0"/>
              <a:t> </a:t>
            </a:r>
            <a:r>
              <a:rPr lang="de-DE" sz="1400" i="1" dirty="0" err="1"/>
              <a:t>supplementary</a:t>
            </a:r>
            <a:r>
              <a:rPr lang="de-DE" sz="1400" i="1" dirty="0"/>
              <a:t> </a:t>
            </a:r>
            <a:r>
              <a:rPr lang="de-DE" sz="1400" i="1" dirty="0" err="1"/>
              <a:t>knowledge</a:t>
            </a:r>
            <a:r>
              <a:rPr lang="de-DE" sz="1400" i="1" dirty="0"/>
              <a:t> </a:t>
            </a:r>
            <a:r>
              <a:rPr lang="de-DE" sz="1400" i="1" dirty="0" err="1"/>
              <a:t>injection</a:t>
            </a:r>
            <a:r>
              <a:rPr lang="de-DE" sz="1400" i="1" dirty="0"/>
              <a:t>.</a:t>
            </a:r>
            <a:r>
              <a:rPr lang="de-DE" sz="1400" dirty="0"/>
              <a:t> In </a:t>
            </a:r>
            <a:r>
              <a:rPr lang="de-DE" sz="1400" i="1" dirty="0"/>
              <a:t>Proceedings </a:t>
            </a:r>
            <a:r>
              <a:rPr lang="de-DE" sz="1400" i="1" dirty="0" err="1"/>
              <a:t>of</a:t>
            </a:r>
            <a:r>
              <a:rPr lang="de-DE" sz="1400" i="1" dirty="0"/>
              <a:t> </a:t>
            </a:r>
            <a:r>
              <a:rPr lang="de-DE" sz="1400" i="1" dirty="0" err="1"/>
              <a:t>the</a:t>
            </a:r>
            <a:r>
              <a:rPr lang="de-DE" sz="1400" i="1" dirty="0"/>
              <a:t> 63rd Annual Meeting </a:t>
            </a:r>
            <a:r>
              <a:rPr lang="de-DE" sz="1400" i="1" dirty="0" err="1"/>
              <a:t>of</a:t>
            </a:r>
            <a:r>
              <a:rPr lang="de-DE" sz="1400" i="1" dirty="0"/>
              <a:t> </a:t>
            </a:r>
            <a:r>
              <a:rPr lang="de-DE" sz="1400" i="1" dirty="0" err="1"/>
              <a:t>the</a:t>
            </a:r>
            <a:r>
              <a:rPr lang="de-DE" sz="1400" i="1" dirty="0"/>
              <a:t> </a:t>
            </a:r>
            <a:r>
              <a:rPr lang="de-DE" sz="1400" i="1" dirty="0" err="1"/>
              <a:t>Association</a:t>
            </a:r>
            <a:r>
              <a:rPr lang="de-DE" sz="1400" i="1" dirty="0"/>
              <a:t> </a:t>
            </a:r>
            <a:r>
              <a:rPr lang="de-DE" sz="1400" i="1" dirty="0" err="1"/>
              <a:t>for</a:t>
            </a:r>
            <a:r>
              <a:rPr lang="de-DE" sz="1400" i="1" dirty="0"/>
              <a:t> Computational </a:t>
            </a:r>
            <a:r>
              <a:rPr lang="de-DE" sz="1400" i="1" dirty="0" err="1"/>
              <a:t>Linguistics</a:t>
            </a:r>
            <a:r>
              <a:rPr lang="de-DE" sz="1400" i="1" dirty="0"/>
              <a:t> (Volume 1: Long Papers)</a:t>
            </a:r>
            <a:r>
              <a:rPr lang="de-DE" sz="1400" dirty="0"/>
              <a:t> (pp. 26366–26381). </a:t>
            </a:r>
            <a:r>
              <a:rPr lang="de-DE" sz="1400" dirty="0" err="1"/>
              <a:t>Association</a:t>
            </a:r>
            <a:r>
              <a:rPr lang="de-DE" sz="1400" dirty="0"/>
              <a:t> </a:t>
            </a:r>
            <a:r>
              <a:rPr lang="de-DE" sz="1400" dirty="0" err="1"/>
              <a:t>for</a:t>
            </a:r>
            <a:r>
              <a:rPr lang="de-DE" sz="1400" dirty="0"/>
              <a:t> Computational </a:t>
            </a:r>
            <a:r>
              <a:rPr lang="de-DE" sz="1400" dirty="0" err="1"/>
              <a:t>Linguistics</a:t>
            </a:r>
            <a:r>
              <a:rPr lang="de-DE" sz="1400" dirty="0"/>
              <a:t>. </a:t>
            </a:r>
            <a:r>
              <a:rPr lang="de-DE" sz="1400" dirty="0">
                <a:hlinkClick r:id="rId2"/>
              </a:rPr>
              <a:t>https://doi.org/10.18653/v1/2025.acl-long.1279</a:t>
            </a:r>
            <a:endParaRPr lang="de-DE" sz="1400" dirty="0"/>
          </a:p>
          <a:p>
            <a:pPr marL="342900" indent="-342900">
              <a:buFont typeface="+mj-lt"/>
              <a:buAutoNum type="arabicPeriod"/>
            </a:pPr>
            <a:r>
              <a:rPr lang="de-DE" sz="1400" dirty="0"/>
              <a:t>Wang, F., Qiao, Y., Wang, X., Wang, F., Zhang, Y., &amp; Sun, D. (2025). R2GenKG: </a:t>
            </a:r>
            <a:r>
              <a:rPr lang="de-DE" sz="1400" dirty="0" err="1"/>
              <a:t>Hierarchical</a:t>
            </a:r>
            <a:r>
              <a:rPr lang="de-DE" sz="1400" dirty="0"/>
              <a:t> Multi-modal Knowledge Graph </a:t>
            </a:r>
            <a:r>
              <a:rPr lang="de-DE" sz="1400" dirty="0" err="1"/>
              <a:t>for</a:t>
            </a:r>
            <a:r>
              <a:rPr lang="de-DE" sz="1400" dirty="0"/>
              <a:t> LLM-</a:t>
            </a:r>
            <a:r>
              <a:rPr lang="de-DE" sz="1400" dirty="0" err="1"/>
              <a:t>based</a:t>
            </a:r>
            <a:r>
              <a:rPr lang="de-DE" sz="1400" dirty="0"/>
              <a:t> </a:t>
            </a:r>
            <a:r>
              <a:rPr lang="de-DE" sz="1400" dirty="0" err="1"/>
              <a:t>Radiology</a:t>
            </a:r>
            <a:r>
              <a:rPr lang="de-DE" sz="1400" dirty="0"/>
              <a:t> Report Generation. </a:t>
            </a:r>
            <a:r>
              <a:rPr lang="de-DE" sz="1400" i="1" dirty="0" err="1"/>
              <a:t>arXiv</a:t>
            </a:r>
            <a:r>
              <a:rPr lang="de-DE" sz="1400" i="1" dirty="0"/>
              <a:t> </a:t>
            </a:r>
            <a:r>
              <a:rPr lang="de-DE" sz="1400" i="1" dirty="0" err="1"/>
              <a:t>preprint</a:t>
            </a:r>
            <a:r>
              <a:rPr lang="de-DE" sz="1400" i="1" dirty="0"/>
              <a:t> arXiv:2508.03426</a:t>
            </a:r>
            <a:r>
              <a:rPr lang="de-DE" sz="1400" dirty="0"/>
              <a:t>.</a:t>
            </a:r>
          </a:p>
          <a:p>
            <a:pPr marL="342900" indent="-342900">
              <a:buFont typeface="+mj-lt"/>
              <a:buAutoNum type="arabicPeriod"/>
            </a:pPr>
            <a:r>
              <a:rPr lang="de-DE" sz="1400" dirty="0"/>
              <a:t>Banerjee, O., Zhou, H., Wu, K., </a:t>
            </a:r>
            <a:r>
              <a:rPr lang="de-DE" sz="1400" dirty="0" err="1"/>
              <a:t>Adithan</a:t>
            </a:r>
            <a:r>
              <a:rPr lang="de-DE" sz="1400" dirty="0"/>
              <a:t>, S., Kwak, S. &amp; </a:t>
            </a:r>
            <a:r>
              <a:rPr lang="de-DE" sz="1400" dirty="0" err="1"/>
              <a:t>Rajpurkar</a:t>
            </a:r>
            <a:r>
              <a:rPr lang="de-DE" sz="1400" dirty="0"/>
              <a:t>, P.. (2024). </a:t>
            </a:r>
            <a:r>
              <a:rPr lang="de-DE" sz="1400" dirty="0" err="1"/>
              <a:t>Direct</a:t>
            </a:r>
            <a:r>
              <a:rPr lang="de-DE" sz="1400" dirty="0"/>
              <a:t> Preference </a:t>
            </a:r>
            <a:r>
              <a:rPr lang="de-DE" sz="1400" dirty="0" err="1"/>
              <a:t>Optimization</a:t>
            </a:r>
            <a:r>
              <a:rPr lang="de-DE" sz="1400" dirty="0"/>
              <a:t> </a:t>
            </a:r>
            <a:r>
              <a:rPr lang="de-DE" sz="1400" dirty="0" err="1"/>
              <a:t>for</a:t>
            </a:r>
            <a:r>
              <a:rPr lang="de-DE" sz="1400" dirty="0"/>
              <a:t> </a:t>
            </a:r>
            <a:r>
              <a:rPr lang="de-DE" sz="1400" dirty="0" err="1"/>
              <a:t>Suppressing</a:t>
            </a:r>
            <a:r>
              <a:rPr lang="de-DE" sz="1400" dirty="0"/>
              <a:t> </a:t>
            </a:r>
            <a:r>
              <a:rPr lang="de-DE" sz="1400" dirty="0" err="1"/>
              <a:t>Hallucinated</a:t>
            </a:r>
            <a:r>
              <a:rPr lang="de-DE" sz="1400" dirty="0"/>
              <a:t> Prior </a:t>
            </a:r>
            <a:r>
              <a:rPr lang="de-DE" sz="1400" dirty="0" err="1"/>
              <a:t>Exams</a:t>
            </a:r>
            <a:r>
              <a:rPr lang="de-DE" sz="1400" dirty="0"/>
              <a:t> in </a:t>
            </a:r>
            <a:r>
              <a:rPr lang="de-DE" sz="1400" dirty="0" err="1"/>
              <a:t>Radiology</a:t>
            </a:r>
            <a:r>
              <a:rPr lang="de-DE" sz="1400" dirty="0"/>
              <a:t> Report Generation. </a:t>
            </a:r>
            <a:r>
              <a:rPr lang="de-DE" sz="1400" i="1" dirty="0"/>
              <a:t>Proceedings </a:t>
            </a:r>
            <a:r>
              <a:rPr lang="de-DE" sz="1400" i="1" dirty="0" err="1"/>
              <a:t>of</a:t>
            </a:r>
            <a:r>
              <a:rPr lang="de-DE" sz="1400" i="1" dirty="0"/>
              <a:t> </a:t>
            </a:r>
            <a:r>
              <a:rPr lang="de-DE" sz="1400" i="1" dirty="0" err="1"/>
              <a:t>the</a:t>
            </a:r>
            <a:r>
              <a:rPr lang="de-DE" sz="1400" i="1" dirty="0"/>
              <a:t> 9th </a:t>
            </a:r>
            <a:r>
              <a:rPr lang="de-DE" sz="1400" i="1" dirty="0" err="1"/>
              <a:t>Machine</a:t>
            </a:r>
            <a:r>
              <a:rPr lang="de-DE" sz="1400" i="1" dirty="0"/>
              <a:t> Learning </a:t>
            </a:r>
            <a:r>
              <a:rPr lang="de-DE" sz="1400" i="1" dirty="0" err="1"/>
              <a:t>for</a:t>
            </a:r>
            <a:r>
              <a:rPr lang="de-DE" sz="1400" i="1" dirty="0"/>
              <a:t> </a:t>
            </a:r>
            <a:r>
              <a:rPr lang="de-DE" sz="1400" i="1" dirty="0" err="1"/>
              <a:t>Healthcare</a:t>
            </a:r>
            <a:r>
              <a:rPr lang="de-DE" sz="1400" i="1" dirty="0"/>
              <a:t> Conference</a:t>
            </a:r>
            <a:r>
              <a:rPr lang="de-DE" sz="1400" dirty="0"/>
              <a:t>, in </a:t>
            </a:r>
            <a:r>
              <a:rPr lang="de-DE" sz="1400" i="1" dirty="0"/>
              <a:t>Proceedings </a:t>
            </a:r>
            <a:r>
              <a:rPr lang="de-DE" sz="1400" i="1" dirty="0" err="1"/>
              <a:t>of</a:t>
            </a:r>
            <a:r>
              <a:rPr lang="de-DE" sz="1400" i="1" dirty="0"/>
              <a:t> </a:t>
            </a:r>
            <a:r>
              <a:rPr lang="de-DE" sz="1400" i="1" dirty="0" err="1"/>
              <a:t>Machine</a:t>
            </a:r>
            <a:r>
              <a:rPr lang="de-DE" sz="1400" i="1" dirty="0"/>
              <a:t> Learning Research </a:t>
            </a:r>
            <a:r>
              <a:rPr lang="de-DE" sz="1400" dirty="0"/>
              <a:t>252. https://proceedings.mlr.press/v252/banerjee24a.html.</a:t>
            </a:r>
          </a:p>
          <a:p>
            <a:pPr marL="342900" indent="-342900">
              <a:buFont typeface="+mj-lt"/>
              <a:buAutoNum type="arabicPeriod"/>
            </a:pPr>
            <a:r>
              <a:rPr lang="de-DE" sz="1400" dirty="0"/>
              <a:t>Xiao, T., Shi, L., Liu, P., Wang, Z., &amp; Bai, C. (2025). </a:t>
            </a:r>
            <a:r>
              <a:rPr lang="de-DE" sz="1400" dirty="0" err="1"/>
              <a:t>Radiology</a:t>
            </a:r>
            <a:r>
              <a:rPr lang="de-DE" sz="1400" dirty="0"/>
              <a:t> Report Generation via Multi-</a:t>
            </a:r>
            <a:r>
              <a:rPr lang="de-DE" sz="1400" dirty="0" err="1"/>
              <a:t>objective</a:t>
            </a:r>
            <a:r>
              <a:rPr lang="de-DE" sz="1400" dirty="0"/>
              <a:t> Preference </a:t>
            </a:r>
            <a:r>
              <a:rPr lang="de-DE" sz="1400" dirty="0" err="1"/>
              <a:t>Optimization</a:t>
            </a:r>
            <a:r>
              <a:rPr lang="de-DE" sz="1400" dirty="0"/>
              <a:t>. </a:t>
            </a:r>
            <a:r>
              <a:rPr lang="de-DE" sz="1400" i="1" dirty="0"/>
              <a:t>Proceedings </a:t>
            </a:r>
            <a:r>
              <a:rPr lang="de-DE" sz="1400" i="1" dirty="0" err="1"/>
              <a:t>of</a:t>
            </a:r>
            <a:r>
              <a:rPr lang="de-DE" sz="1400" i="1" dirty="0"/>
              <a:t> </a:t>
            </a:r>
            <a:r>
              <a:rPr lang="de-DE" sz="1400" i="1" dirty="0" err="1"/>
              <a:t>the</a:t>
            </a:r>
            <a:r>
              <a:rPr lang="de-DE" sz="1400" i="1" dirty="0"/>
              <a:t> AAAI Conference on </a:t>
            </a:r>
            <a:r>
              <a:rPr lang="de-DE" sz="1400" i="1" dirty="0" err="1"/>
              <a:t>Artificial</a:t>
            </a:r>
            <a:r>
              <a:rPr lang="de-DE" sz="1400" i="1" dirty="0"/>
              <a:t> </a:t>
            </a:r>
            <a:r>
              <a:rPr lang="de-DE" sz="1400" i="1" dirty="0" err="1"/>
              <a:t>Intelligence</a:t>
            </a:r>
            <a:r>
              <a:rPr lang="de-DE" sz="1400" dirty="0"/>
              <a:t>, </a:t>
            </a:r>
            <a:r>
              <a:rPr lang="de-DE" sz="1400" i="1" dirty="0"/>
              <a:t>39</a:t>
            </a:r>
            <a:r>
              <a:rPr lang="de-DE" sz="1400" dirty="0"/>
              <a:t>(8), 8664-8672. https://doi.org/10.1609/aaai.v39i8.32936</a:t>
            </a:r>
          </a:p>
          <a:p>
            <a:pPr marL="342900" indent="-342900">
              <a:buFont typeface="+mj-lt"/>
              <a:buAutoNum type="arabicPeriod"/>
            </a:pPr>
            <a:r>
              <a:rPr lang="de-DE" sz="1400" dirty="0"/>
              <a:t>Zhou, Y., Song, L., &amp; Shen, J. (2025). </a:t>
            </a:r>
            <a:r>
              <a:rPr lang="de-DE" sz="1400" i="1" dirty="0" err="1"/>
              <a:t>Improving</a:t>
            </a:r>
            <a:r>
              <a:rPr lang="de-DE" sz="1400" i="1" dirty="0"/>
              <a:t> </a:t>
            </a:r>
            <a:r>
              <a:rPr lang="de-DE" sz="1400" i="1" dirty="0" err="1"/>
              <a:t>medical</a:t>
            </a:r>
            <a:r>
              <a:rPr lang="de-DE" sz="1400" i="1" dirty="0"/>
              <a:t> large </a:t>
            </a:r>
            <a:r>
              <a:rPr lang="de-DE" sz="1400" i="1" dirty="0" err="1"/>
              <a:t>vision-language</a:t>
            </a:r>
            <a:r>
              <a:rPr lang="de-DE" sz="1400" i="1" dirty="0"/>
              <a:t> </a:t>
            </a:r>
            <a:r>
              <a:rPr lang="de-DE" sz="1400" i="1" dirty="0" err="1"/>
              <a:t>models</a:t>
            </a:r>
            <a:r>
              <a:rPr lang="de-DE" sz="1400" i="1" dirty="0"/>
              <a:t> </a:t>
            </a:r>
            <a:r>
              <a:rPr lang="de-DE" sz="1400" i="1" dirty="0" err="1"/>
              <a:t>with</a:t>
            </a:r>
            <a:r>
              <a:rPr lang="de-DE" sz="1400" i="1" dirty="0"/>
              <a:t> abnormal-aware </a:t>
            </a:r>
            <a:r>
              <a:rPr lang="de-DE" sz="1400" i="1" dirty="0" err="1"/>
              <a:t>feedback</a:t>
            </a:r>
            <a:r>
              <a:rPr lang="de-DE" sz="1400" i="1" dirty="0"/>
              <a:t>.</a:t>
            </a:r>
            <a:r>
              <a:rPr lang="de-DE" sz="1400" dirty="0"/>
              <a:t> In </a:t>
            </a:r>
            <a:r>
              <a:rPr lang="de-DE" sz="1400" i="1" dirty="0"/>
              <a:t>Proceedings </a:t>
            </a:r>
            <a:r>
              <a:rPr lang="de-DE" sz="1400" i="1" dirty="0" err="1"/>
              <a:t>of</a:t>
            </a:r>
            <a:r>
              <a:rPr lang="de-DE" sz="1400" i="1" dirty="0"/>
              <a:t> </a:t>
            </a:r>
            <a:r>
              <a:rPr lang="de-DE" sz="1400" i="1" dirty="0" err="1"/>
              <a:t>the</a:t>
            </a:r>
            <a:r>
              <a:rPr lang="de-DE" sz="1400" i="1" dirty="0"/>
              <a:t> 63rd Annual Meeting </a:t>
            </a:r>
            <a:r>
              <a:rPr lang="de-DE" sz="1400" i="1" dirty="0" err="1"/>
              <a:t>of</a:t>
            </a:r>
            <a:r>
              <a:rPr lang="de-DE" sz="1400" i="1" dirty="0"/>
              <a:t> </a:t>
            </a:r>
            <a:r>
              <a:rPr lang="de-DE" sz="1400" i="1" dirty="0" err="1"/>
              <a:t>the</a:t>
            </a:r>
            <a:r>
              <a:rPr lang="de-DE" sz="1400" i="1" dirty="0"/>
              <a:t> </a:t>
            </a:r>
            <a:r>
              <a:rPr lang="de-DE" sz="1400" i="1" dirty="0" err="1"/>
              <a:t>Association</a:t>
            </a:r>
            <a:r>
              <a:rPr lang="de-DE" sz="1400" i="1" dirty="0"/>
              <a:t> </a:t>
            </a:r>
            <a:r>
              <a:rPr lang="de-DE" sz="1400" i="1" dirty="0" err="1"/>
              <a:t>for</a:t>
            </a:r>
            <a:r>
              <a:rPr lang="de-DE" sz="1400" i="1" dirty="0"/>
              <a:t> Computational </a:t>
            </a:r>
            <a:r>
              <a:rPr lang="de-DE" sz="1400" i="1" dirty="0" err="1"/>
              <a:t>Linguistics</a:t>
            </a:r>
            <a:r>
              <a:rPr lang="de-DE" sz="1400" i="1" dirty="0"/>
              <a:t> (Volume 1: Long Papers)</a:t>
            </a:r>
            <a:r>
              <a:rPr lang="de-DE" sz="1400" dirty="0"/>
              <a:t> (pp. 12994–13011). </a:t>
            </a:r>
            <a:r>
              <a:rPr lang="de-DE" sz="1400" dirty="0" err="1"/>
              <a:t>Association</a:t>
            </a:r>
            <a:r>
              <a:rPr lang="de-DE" sz="1400" dirty="0"/>
              <a:t> </a:t>
            </a:r>
            <a:r>
              <a:rPr lang="de-DE" sz="1400" dirty="0" err="1"/>
              <a:t>for</a:t>
            </a:r>
            <a:r>
              <a:rPr lang="de-DE" sz="1400" dirty="0"/>
              <a:t> Computational </a:t>
            </a:r>
            <a:r>
              <a:rPr lang="de-DE" sz="1400" dirty="0" err="1"/>
              <a:t>Linguistics</a:t>
            </a:r>
            <a:r>
              <a:rPr lang="de-DE" sz="1400" dirty="0"/>
              <a:t>.</a:t>
            </a:r>
          </a:p>
          <a:p>
            <a:pPr marL="342900" indent="-342900">
              <a:buFont typeface="+mj-lt"/>
              <a:buAutoNum type="arabicPeriod"/>
            </a:pPr>
            <a:r>
              <a:rPr lang="de-DE" sz="1400" dirty="0"/>
              <a:t>Hein, D., Chen, Z., </a:t>
            </a:r>
            <a:r>
              <a:rPr lang="de-DE" sz="1400" dirty="0" err="1"/>
              <a:t>Ostmeier</a:t>
            </a:r>
            <a:r>
              <a:rPr lang="de-DE" sz="1400" dirty="0"/>
              <a:t>, S., </a:t>
            </a:r>
            <a:r>
              <a:rPr lang="de-DE" sz="1400" dirty="0" err="1"/>
              <a:t>Xu</a:t>
            </a:r>
            <a:r>
              <a:rPr lang="de-DE" sz="1400" dirty="0"/>
              <a:t>, J., </a:t>
            </a:r>
            <a:r>
              <a:rPr lang="de-DE" sz="1400" dirty="0" err="1"/>
              <a:t>Varma</a:t>
            </a:r>
            <a:r>
              <a:rPr lang="de-DE" sz="1400" dirty="0"/>
              <a:t>, M., Reis, E. P., </a:t>
            </a:r>
            <a:r>
              <a:rPr lang="de-DE" sz="1400" dirty="0" err="1"/>
              <a:t>Michalson</a:t>
            </a:r>
            <a:r>
              <a:rPr lang="de-DE" sz="1400" dirty="0"/>
              <a:t>, A. E., </a:t>
            </a:r>
            <a:r>
              <a:rPr lang="de-DE" sz="1400" dirty="0" err="1"/>
              <a:t>Bluethgen</a:t>
            </a:r>
            <a:r>
              <a:rPr lang="de-DE" sz="1400" dirty="0"/>
              <a:t>, C., Shin, H. J., Langlotz, C., &amp; </a:t>
            </a:r>
            <a:r>
              <a:rPr lang="de-DE" sz="1400" dirty="0" err="1"/>
              <a:t>Chaudhari</a:t>
            </a:r>
            <a:r>
              <a:rPr lang="de-DE" sz="1400" dirty="0"/>
              <a:t>, A. S. (2025). </a:t>
            </a:r>
            <a:r>
              <a:rPr lang="de-DE" sz="1400" i="1" dirty="0" err="1"/>
              <a:t>CheXalign</a:t>
            </a:r>
            <a:r>
              <a:rPr lang="de-DE" sz="1400" i="1" dirty="0"/>
              <a:t>: Preference </a:t>
            </a:r>
            <a:r>
              <a:rPr lang="de-DE" sz="1400" i="1" dirty="0" err="1"/>
              <a:t>fine</a:t>
            </a:r>
            <a:r>
              <a:rPr lang="de-DE" sz="1400" i="1" dirty="0"/>
              <a:t>-tuning in </a:t>
            </a:r>
            <a:r>
              <a:rPr lang="de-DE" sz="1400" i="1" dirty="0" err="1"/>
              <a:t>chest</a:t>
            </a:r>
            <a:r>
              <a:rPr lang="de-DE" sz="1400" i="1" dirty="0"/>
              <a:t> X-</a:t>
            </a:r>
            <a:r>
              <a:rPr lang="de-DE" sz="1400" i="1" dirty="0" err="1"/>
              <a:t>ray</a:t>
            </a:r>
            <a:r>
              <a:rPr lang="de-DE" sz="1400" i="1" dirty="0"/>
              <a:t> </a:t>
            </a:r>
            <a:r>
              <a:rPr lang="de-DE" sz="1400" i="1" dirty="0" err="1"/>
              <a:t>interpretation</a:t>
            </a:r>
            <a:r>
              <a:rPr lang="de-DE" sz="1400" i="1" dirty="0"/>
              <a:t> </a:t>
            </a:r>
            <a:r>
              <a:rPr lang="de-DE" sz="1400" i="1" dirty="0" err="1"/>
              <a:t>models</a:t>
            </a:r>
            <a:r>
              <a:rPr lang="de-DE" sz="1400" i="1" dirty="0"/>
              <a:t> </a:t>
            </a:r>
            <a:r>
              <a:rPr lang="de-DE" sz="1400" i="1" dirty="0" err="1"/>
              <a:t>without</a:t>
            </a:r>
            <a:r>
              <a:rPr lang="de-DE" sz="1400" i="1" dirty="0"/>
              <a:t> human </a:t>
            </a:r>
            <a:r>
              <a:rPr lang="de-DE" sz="1400" i="1" dirty="0" err="1"/>
              <a:t>feedback</a:t>
            </a:r>
            <a:r>
              <a:rPr lang="de-DE" sz="1400" i="1" dirty="0"/>
              <a:t>.</a:t>
            </a:r>
            <a:r>
              <a:rPr lang="de-DE" sz="1400" dirty="0"/>
              <a:t> In </a:t>
            </a:r>
            <a:r>
              <a:rPr lang="de-DE" sz="1400" i="1" dirty="0"/>
              <a:t>Proceedings </a:t>
            </a:r>
            <a:r>
              <a:rPr lang="de-DE" sz="1400" i="1" dirty="0" err="1"/>
              <a:t>of</a:t>
            </a:r>
            <a:r>
              <a:rPr lang="de-DE" sz="1400" i="1" dirty="0"/>
              <a:t> </a:t>
            </a:r>
            <a:r>
              <a:rPr lang="de-DE" sz="1400" i="1" dirty="0" err="1"/>
              <a:t>the</a:t>
            </a:r>
            <a:r>
              <a:rPr lang="de-DE" sz="1400" i="1" dirty="0"/>
              <a:t> 63rd Annual Meeting </a:t>
            </a:r>
            <a:r>
              <a:rPr lang="de-DE" sz="1400" i="1" dirty="0" err="1"/>
              <a:t>of</a:t>
            </a:r>
            <a:r>
              <a:rPr lang="de-DE" sz="1400" i="1" dirty="0"/>
              <a:t> </a:t>
            </a:r>
            <a:r>
              <a:rPr lang="de-DE" sz="1400" i="1" dirty="0" err="1"/>
              <a:t>the</a:t>
            </a:r>
            <a:r>
              <a:rPr lang="de-DE" sz="1400" i="1" dirty="0"/>
              <a:t> </a:t>
            </a:r>
            <a:r>
              <a:rPr lang="de-DE" sz="1400" i="1" dirty="0" err="1"/>
              <a:t>Association</a:t>
            </a:r>
            <a:r>
              <a:rPr lang="de-DE" sz="1400" i="1" dirty="0"/>
              <a:t> </a:t>
            </a:r>
            <a:r>
              <a:rPr lang="de-DE" sz="1400" i="1" dirty="0" err="1"/>
              <a:t>for</a:t>
            </a:r>
            <a:r>
              <a:rPr lang="de-DE" sz="1400" i="1" dirty="0"/>
              <a:t> Computational </a:t>
            </a:r>
            <a:r>
              <a:rPr lang="de-DE" sz="1400" i="1" dirty="0" err="1"/>
              <a:t>Linguistics</a:t>
            </a:r>
            <a:r>
              <a:rPr lang="de-DE" sz="1400" i="1" dirty="0"/>
              <a:t> (Volume 1: Long Papers)</a:t>
            </a:r>
            <a:r>
              <a:rPr lang="de-DE" sz="1400" dirty="0"/>
              <a:t> (pp. 27679–27702). </a:t>
            </a:r>
            <a:r>
              <a:rPr lang="de-DE" sz="1400" dirty="0" err="1"/>
              <a:t>Association</a:t>
            </a:r>
            <a:r>
              <a:rPr lang="de-DE" sz="1400" dirty="0"/>
              <a:t> </a:t>
            </a:r>
            <a:r>
              <a:rPr lang="de-DE" sz="1400" dirty="0" err="1"/>
              <a:t>for</a:t>
            </a:r>
            <a:r>
              <a:rPr lang="de-DE" sz="1400" dirty="0"/>
              <a:t> Computational </a:t>
            </a:r>
            <a:r>
              <a:rPr lang="de-DE" sz="1400" dirty="0" err="1"/>
              <a:t>Linguistics</a:t>
            </a:r>
            <a:r>
              <a:rPr lang="de-DE" sz="1400" dirty="0"/>
              <a:t>.</a:t>
            </a:r>
          </a:p>
          <a:p>
            <a:pPr marL="342900" indent="-342900">
              <a:buFont typeface="+mj-lt"/>
              <a:buAutoNum type="arabicPeriod"/>
            </a:pPr>
            <a:r>
              <a:rPr lang="de-DE" sz="1400" dirty="0"/>
              <a:t>Liu, H., Wei, D., </a:t>
            </a:r>
            <a:r>
              <a:rPr lang="de-DE" sz="1400" dirty="0" err="1"/>
              <a:t>Xu</a:t>
            </a:r>
            <a:r>
              <a:rPr lang="de-DE" sz="1400" dirty="0"/>
              <a:t>, Z., Wu, X., Zheng, Y., &amp; Wang, L. (2025, September). RRG-DPO: </a:t>
            </a:r>
            <a:r>
              <a:rPr lang="de-DE" sz="1400" dirty="0" err="1"/>
              <a:t>Direct</a:t>
            </a:r>
            <a:r>
              <a:rPr lang="de-DE" sz="1400" dirty="0"/>
              <a:t> Preference </a:t>
            </a:r>
            <a:r>
              <a:rPr lang="de-DE" sz="1400" dirty="0" err="1"/>
              <a:t>Optimization</a:t>
            </a:r>
            <a:r>
              <a:rPr lang="de-DE" sz="1400" dirty="0"/>
              <a:t> </a:t>
            </a:r>
            <a:r>
              <a:rPr lang="de-DE" sz="1400" dirty="0" err="1"/>
              <a:t>for</a:t>
            </a:r>
            <a:r>
              <a:rPr lang="de-DE" sz="1400" dirty="0"/>
              <a:t> </a:t>
            </a:r>
            <a:r>
              <a:rPr lang="de-DE" sz="1400" dirty="0" err="1"/>
              <a:t>Clinically</a:t>
            </a:r>
            <a:r>
              <a:rPr lang="de-DE" sz="1400" dirty="0"/>
              <a:t> </a:t>
            </a:r>
            <a:r>
              <a:rPr lang="de-DE" sz="1400" dirty="0" err="1"/>
              <a:t>Accurate</a:t>
            </a:r>
            <a:r>
              <a:rPr lang="de-DE" sz="1400" dirty="0"/>
              <a:t> </a:t>
            </a:r>
            <a:r>
              <a:rPr lang="de-DE" sz="1400" dirty="0" err="1"/>
              <a:t>Radiology</a:t>
            </a:r>
            <a:r>
              <a:rPr lang="de-DE" sz="1400" dirty="0"/>
              <a:t> Report Generation. In </a:t>
            </a:r>
            <a:r>
              <a:rPr lang="de-DE" sz="1400" i="1" dirty="0"/>
              <a:t>International Conference on Medical Image Computing and Computer-</a:t>
            </a:r>
            <a:r>
              <a:rPr lang="de-DE" sz="1400" i="1" dirty="0" err="1"/>
              <a:t>Assisted</a:t>
            </a:r>
            <a:r>
              <a:rPr lang="de-DE" sz="1400" i="1" dirty="0"/>
              <a:t> Intervention</a:t>
            </a:r>
            <a:r>
              <a:rPr lang="de-DE" sz="1400" dirty="0"/>
              <a:t> (pp. 552-562). Cham: Springer Nature </a:t>
            </a:r>
            <a:r>
              <a:rPr lang="de-DE" sz="1400" dirty="0" err="1"/>
              <a:t>Switzerland</a:t>
            </a:r>
            <a:r>
              <a:rPr lang="de-DE" sz="1400" dirty="0"/>
              <a:t>.</a:t>
            </a:r>
          </a:p>
          <a:p>
            <a:pPr marL="342900" indent="-342900">
              <a:buFont typeface="+mj-lt"/>
              <a:buAutoNum type="arabicPeriod"/>
            </a:pPr>
            <a:endParaRPr lang="de-DE" sz="1400" dirty="0"/>
          </a:p>
          <a:p>
            <a:pPr marL="342900" indent="-342900">
              <a:buFont typeface="+mj-lt"/>
              <a:buAutoNum type="arabicPeriod"/>
            </a:pPr>
            <a:endParaRPr lang="de-DE" sz="1400" dirty="0"/>
          </a:p>
        </p:txBody>
      </p:sp>
      <p:sp>
        <p:nvSpPr>
          <p:cNvPr id="3" name="Titel 2">
            <a:extLst>
              <a:ext uri="{FF2B5EF4-FFF2-40B4-BE49-F238E27FC236}">
                <a16:creationId xmlns:a16="http://schemas.microsoft.com/office/drawing/2014/main" id="{F8C4A610-E162-AE0B-1774-AF0797930127}"/>
              </a:ext>
            </a:extLst>
          </p:cNvPr>
          <p:cNvSpPr>
            <a:spLocks noGrp="1"/>
          </p:cNvSpPr>
          <p:nvPr>
            <p:ph type="title"/>
          </p:nvPr>
        </p:nvSpPr>
        <p:spPr/>
        <p:txBody>
          <a:bodyPr/>
          <a:lstStyle/>
          <a:p>
            <a:r>
              <a:rPr lang="de-DE" dirty="0"/>
              <a:t>References</a:t>
            </a:r>
          </a:p>
        </p:txBody>
      </p:sp>
    </p:spTree>
    <p:extLst>
      <p:ext uri="{BB962C8B-B14F-4D97-AF65-F5344CB8AC3E}">
        <p14:creationId xmlns:p14="http://schemas.microsoft.com/office/powerpoint/2010/main" val="212186125"/>
      </p:ext>
    </p:extLst>
  </p:cSld>
  <p:clrMapOvr>
    <a:masterClrMapping/>
  </p:clrMapOvr>
</p:sld>
</file>

<file path=ppt/theme/theme1.xml><?xml version="1.0" encoding="utf-8"?>
<a:theme xmlns:a="http://schemas.openxmlformats.org/drawingml/2006/main" name="Präsentation_Master_RWTH_Institute_16zu9">
  <a:themeElements>
    <a:clrScheme name="RWTH Farben">
      <a:dk1>
        <a:sysClr val="windowText" lastClr="000000"/>
      </a:dk1>
      <a:lt1>
        <a:sysClr val="window" lastClr="FFFFFF"/>
      </a:lt1>
      <a:dk2>
        <a:srgbClr val="00549F"/>
      </a:dk2>
      <a:lt2>
        <a:srgbClr val="8EBAE5"/>
      </a:lt2>
      <a:accent1>
        <a:srgbClr val="006165"/>
      </a:accent1>
      <a:accent2>
        <a:srgbClr val="0098A1"/>
      </a:accent2>
      <a:accent3>
        <a:srgbClr val="57AB27"/>
      </a:accent3>
      <a:accent4>
        <a:srgbClr val="BDCD00"/>
      </a:accent4>
      <a:accent5>
        <a:srgbClr val="F6A800"/>
      </a:accent5>
      <a:accent6>
        <a:srgbClr val="CC071E"/>
      </a:accent6>
      <a:hlink>
        <a:srgbClr val="612158"/>
      </a:hlink>
      <a:folHlink>
        <a:srgbClr val="7A6FA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5_Presentation_Template.potx" id="{7171C32C-714E-4AC9-8070-78E18E66E008}" vid="{0D342B9F-AA1A-4E22-AFF2-99CA19B7D0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3973</Words>
  <Application>Microsoft Office PowerPoint</Application>
  <PresentationFormat>Breitbild</PresentationFormat>
  <Paragraphs>444</Paragraphs>
  <Slides>15</Slides>
  <Notes>11</Notes>
  <HiddenSlides>1</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15</vt:i4>
      </vt:variant>
    </vt:vector>
  </HeadingPairs>
  <TitlesOfParts>
    <vt:vector size="23" baseType="lpstr">
      <vt:lpstr>ＭＳ Ｐゴシック</vt:lpstr>
      <vt:lpstr>Agency FB</vt:lpstr>
      <vt:lpstr>Arial</vt:lpstr>
      <vt:lpstr>Calibri</vt:lpstr>
      <vt:lpstr>Symbol</vt:lpstr>
      <vt:lpstr>Times New Roman</vt:lpstr>
      <vt:lpstr>Wingdings</vt:lpstr>
      <vt:lpstr>Präsentation_Master_RWTH_Institute_16zu9</vt:lpstr>
      <vt:lpstr>Related Work</vt:lpstr>
      <vt:lpstr>Knowledge Integration in Radiology Report Generation</vt:lpstr>
      <vt:lpstr>Exploring and Distilling Posterior and Prior Knowledge for Radiology Report Generation (Liu et al., 2021) [1]</vt:lpstr>
      <vt:lpstr>Radiology Report Generation with a Learned Knowledge Base and Multi-modal Alignment  (Yang et al., 2023) [2]</vt:lpstr>
      <vt:lpstr>KARGEN: Knowledge-enhanced Automated Radiology Report Generation Using Large Language Models (Li et al., 2024) [3]</vt:lpstr>
      <vt:lpstr>RADAR: Enhancing Radiology Report Generation with Supplementary Knowledge Injection (Hou et al., 2025) [4]</vt:lpstr>
      <vt:lpstr>R2GenKG: Hierarchical Multi-modal Knowledge Graph for LLM-based Radiology Report Generation (Wang et al., 2025) [5]</vt:lpstr>
      <vt:lpstr>Preference Optimization in Radiology Report Generation</vt:lpstr>
      <vt:lpstr>Direct Preference Optimization for Suppressing Hallucinated Prior Exams in Radiology Report Generation (Banerjee et al., 2024) [6]</vt:lpstr>
      <vt:lpstr>Radiology Report Generation via Multi-objective Preference Optimization (Xiao et al., 2025) [7]</vt:lpstr>
      <vt:lpstr>Improving Medical Large Vision-Language Models with Abnormal-Aware Feedback (Zhou et al., 2025) [8]</vt:lpstr>
      <vt:lpstr>CheXalign: Preference fine-tuning in chest X-ray interpretation models without human feedback (Hein et al., 2025) [9]</vt:lpstr>
      <vt:lpstr>RRG-DPO: Direct Preference Optimization for Clinically Accurate Radiology Report Generation (Liu et al., 2025) [10]</vt:lpstr>
      <vt:lpstr>PowerPoint-Präsentation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Antonia Gustke</dc:creator>
  <cp:lastModifiedBy>Antonia Gustke</cp:lastModifiedBy>
  <cp:revision>121</cp:revision>
  <dcterms:created xsi:type="dcterms:W3CDTF">2025-10-28T13:45:47Z</dcterms:created>
  <dcterms:modified xsi:type="dcterms:W3CDTF">2025-11-19T09:33:23Z</dcterms:modified>
</cp:coreProperties>
</file>