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69" r:id="rId3"/>
    <p:sldId id="273" r:id="rId4"/>
    <p:sldId id="274" r:id="rId5"/>
    <p:sldId id="271" r:id="rId6"/>
    <p:sldId id="275" r:id="rId7"/>
    <p:sldId id="276" r:id="rId8"/>
    <p:sldId id="277" r:id="rId9"/>
    <p:sldId id="278" r:id="rId10"/>
    <p:sldId id="279" r:id="rId11"/>
    <p:sldId id="280" r:id="rId12"/>
  </p:sldIdLst>
  <p:sldSz cx="12192000" cy="6858000"/>
  <p:notesSz cx="7099300" cy="10234613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17" y="6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D216B5DB-5D68-4814-907C-F7227D00ADB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24B3AFF-129D-456B-B4F9-5E744A340D9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00C0B110-231F-4A48-AE05-5D93A579FCED}" type="datetimeFigureOut">
              <a:rPr lang="de-DE" altLang="de-DE"/>
              <a:pPr>
                <a:defRPr/>
              </a:pPr>
              <a:t>11.12.2025</a:t>
            </a:fld>
            <a:endParaRPr lang="de-DE" alt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52D42C6-B7A4-4ED5-918A-B40D2A33F2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5BEAF45-F4F5-4D18-B827-F9B4A96DA3D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9E6BF9E4-46F6-4039-9038-EF7EDC6EB619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490B3959-9C73-477D-A96D-CFD2D31100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AB0ED7C-5FB7-490C-8F25-F75E55492E0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E0653CA7-91CF-4ABB-86E0-107F0CE43DAB}" type="datetimeFigureOut">
              <a:rPr lang="de-DE" altLang="de-DE"/>
              <a:pPr>
                <a:defRPr/>
              </a:pPr>
              <a:t>11.12.2025</a:t>
            </a:fld>
            <a:endParaRPr lang="de-DE" altLang="de-DE"/>
          </a:p>
        </p:txBody>
      </p:sp>
      <p:sp>
        <p:nvSpPr>
          <p:cNvPr id="4" name="Folienbildplatzhalter 3">
            <a:extLst>
              <a:ext uri="{FF2B5EF4-FFF2-40B4-BE49-F238E27FC236}">
                <a16:creationId xmlns:a16="http://schemas.microsoft.com/office/drawing/2014/main" id="{5A21B49D-2FC6-4CAB-8706-3A59B5A11E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>
            <a:extLst>
              <a:ext uri="{FF2B5EF4-FFF2-40B4-BE49-F238E27FC236}">
                <a16:creationId xmlns:a16="http://schemas.microsoft.com/office/drawing/2014/main" id="{91F7BE82-8AE7-46B7-94F9-EB0561465C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Textmasterformat bearbeiten</a:t>
            </a:r>
          </a:p>
          <a:p>
            <a:pPr lvl="1"/>
            <a:r>
              <a:rPr lang="de-DE" altLang="de-DE" noProof="0"/>
              <a:t>Zweite Ebene</a:t>
            </a:r>
          </a:p>
          <a:p>
            <a:pPr lvl="2"/>
            <a:r>
              <a:rPr lang="de-DE" altLang="de-DE" noProof="0"/>
              <a:t>Dritte Ebene</a:t>
            </a:r>
          </a:p>
          <a:p>
            <a:pPr lvl="3"/>
            <a:r>
              <a:rPr lang="de-DE" altLang="de-DE" noProof="0"/>
              <a:t>Vierte Ebene</a:t>
            </a:r>
          </a:p>
          <a:p>
            <a:pPr lvl="4"/>
            <a:r>
              <a:rPr lang="de-DE" altLang="de-DE" noProof="0"/>
              <a:t>Fünfte Ebene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052C2DF-5042-4EA8-9DF2-7795481E8D4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328D133-81F0-41C5-8DC7-1261F64E13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D2483AC7-C354-4F2B-9AC6-9802F9071BE7}" type="slidenum">
              <a:rPr lang="de-DE" altLang="de-DE"/>
              <a:pPr/>
              <a:t>‹Nr.›</a:t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ＭＳ Ｐゴシック" charset="0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lienbildplatzhalter 1">
            <a:extLst>
              <a:ext uri="{FF2B5EF4-FFF2-40B4-BE49-F238E27FC236}">
                <a16:creationId xmlns:a16="http://schemas.microsoft.com/office/drawing/2014/main" id="{2CF24CF4-9761-46ED-A569-EBA65C41E01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Notizenplatzhalter 2">
            <a:extLst>
              <a:ext uri="{FF2B5EF4-FFF2-40B4-BE49-F238E27FC236}">
                <a16:creationId xmlns:a16="http://schemas.microsoft.com/office/drawing/2014/main" id="{BC2ECC64-C202-4234-9770-B8DF01A25C6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de-DE" altLang="de-DE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1/3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C5575610-7A69-4565-B1D6-E98B3354490C}"/>
              </a:ext>
            </a:extLst>
          </p:cNvPr>
          <p:cNvSpPr/>
          <p:nvPr/>
        </p:nvSpPr>
        <p:spPr>
          <a:xfrm>
            <a:off x="0" y="0"/>
            <a:ext cx="12192000" cy="23129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113EC85-DADF-4A3B-A804-FACEE187A047}"/>
              </a:ext>
            </a:extLst>
          </p:cNvPr>
          <p:cNvSpPr txBox="1"/>
          <p:nvPr/>
        </p:nvSpPr>
        <p:spPr>
          <a:xfrm>
            <a:off x="-1776413" y="479425"/>
            <a:ext cx="1576388" cy="13239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1000" b="1"/>
              <a:t>Institutslogo:</a:t>
            </a:r>
          </a:p>
          <a:p>
            <a:pPr eaLnBrk="1" hangingPunct="1">
              <a:buFontTx/>
              <a:buChar char="-"/>
              <a:defRPr/>
            </a:pPr>
            <a:r>
              <a:rPr lang="de-DE" altLang="de-DE" sz="1000"/>
              <a:t>Dateiformat: PNG in RGB</a:t>
            </a:r>
          </a:p>
          <a:p>
            <a:pPr eaLnBrk="1" hangingPunct="1">
              <a:buFontTx/>
              <a:buChar char="-"/>
              <a:defRPr/>
            </a:pPr>
            <a:r>
              <a:rPr lang="de-DE" altLang="de-DE" sz="1000"/>
              <a:t>Skalieren auf</a:t>
            </a:r>
          </a:p>
          <a:p>
            <a:pPr eaLnBrk="1" hangingPunct="1">
              <a:defRPr/>
            </a:pPr>
            <a:r>
              <a:rPr lang="de-DE" altLang="de-DE" sz="1000"/>
              <a:t>     Höhe: 2,26 cm</a:t>
            </a:r>
          </a:p>
          <a:p>
            <a:pPr eaLnBrk="1" hangingPunct="1">
              <a:defRPr/>
            </a:pPr>
            <a:r>
              <a:rPr lang="de-DE" altLang="de-DE" sz="1000"/>
              <a:t>     (Breite variiert je nach   </a:t>
            </a:r>
          </a:p>
          <a:p>
            <a:pPr eaLnBrk="1" hangingPunct="1">
              <a:defRPr/>
            </a:pPr>
            <a:r>
              <a:rPr lang="de-DE" altLang="de-DE" sz="1000"/>
              <a:t>     Schutzraum)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52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9" name="Grafik 14">
            <a:extLst>
              <a:ext uri="{FF2B5EF4-FFF2-40B4-BE49-F238E27FC236}">
                <a16:creationId xmlns:a16="http://schemas.microsoft.com/office/drawing/2014/main" id="{BE146E6A-AEE3-48A0-801D-5C98B8D7F5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557250" y="6043613"/>
            <a:ext cx="327693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0859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1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7">
            <a:extLst>
              <a:ext uri="{FF2B5EF4-FFF2-40B4-BE49-F238E27FC236}">
                <a16:creationId xmlns:a16="http://schemas.microsoft.com/office/drawing/2014/main" id="{BE8F10BD-223D-467F-8566-B963B3245A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229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67BC09ED-EB1F-408E-93CB-4A13A0E5EF59}"/>
              </a:ext>
            </a:extLst>
          </p:cNvPr>
          <p:cNvSpPr txBox="1"/>
          <p:nvPr/>
        </p:nvSpPr>
        <p:spPr>
          <a:xfrm>
            <a:off x="-1703388" y="495300"/>
            <a:ext cx="1439863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+mn-lt"/>
                <a:ea typeface="+mn-ea"/>
              </a:rPr>
              <a:t>Bild zuschneiden unter: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Format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Zuschneiden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 err="1">
                <a:latin typeface="+mn-lt"/>
                <a:ea typeface="+mn-ea"/>
              </a:rPr>
              <a:t>Zuschneidewerkzeug</a:t>
            </a:r>
            <a:r>
              <a:rPr lang="de-DE" sz="1000" dirty="0">
                <a:latin typeface="+mn-lt"/>
                <a:ea typeface="+mn-ea"/>
              </a:rPr>
              <a:t> horizontal bis zur ersten oder zweiten Linie ziehen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9" name="Grafik 14">
            <a:extLst>
              <a:ext uri="{FF2B5EF4-FFF2-40B4-BE49-F238E27FC236}">
                <a16:creationId xmlns:a16="http://schemas.microsoft.com/office/drawing/2014/main" id="{7EE959C5-3B35-42EB-9D8E-4F98CE6A67D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557250" y="6043613"/>
            <a:ext cx="327693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7087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2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D4EE611E-B53B-410B-BB0F-748799C31EBA}"/>
              </a:ext>
            </a:extLst>
          </p:cNvPr>
          <p:cNvSpPr txBox="1"/>
          <p:nvPr/>
        </p:nvSpPr>
        <p:spPr>
          <a:xfrm>
            <a:off x="-1703388" y="495300"/>
            <a:ext cx="1439863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+mn-lt"/>
                <a:ea typeface="+mn-ea"/>
              </a:rPr>
              <a:t>Bild zuschneiden unter: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Format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Zuschneiden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 err="1">
                <a:latin typeface="+mn-lt"/>
                <a:ea typeface="+mn-ea"/>
              </a:rPr>
              <a:t>Zuschneidewerkzeug</a:t>
            </a:r>
            <a:r>
              <a:rPr lang="de-DE" sz="1000" dirty="0">
                <a:latin typeface="+mn-lt"/>
                <a:ea typeface="+mn-ea"/>
              </a:rPr>
              <a:t> horizontal bis zur ersten oder zweiten Linie ziehen</a:t>
            </a:r>
          </a:p>
        </p:txBody>
      </p:sp>
      <p:pic>
        <p:nvPicPr>
          <p:cNvPr id="5" name="Grafik 9">
            <a:extLst>
              <a:ext uri="{FF2B5EF4-FFF2-40B4-BE49-F238E27FC236}">
                <a16:creationId xmlns:a16="http://schemas.microsoft.com/office/drawing/2014/main" id="{0258E79C-4EE5-45F0-90ED-92811741A3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453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384000" y="473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384000" y="5230801"/>
            <a:ext cx="11484000" cy="81281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7" name="Grafik 14">
            <a:extLst>
              <a:ext uri="{FF2B5EF4-FFF2-40B4-BE49-F238E27FC236}">
                <a16:creationId xmlns:a16="http://schemas.microsoft.com/office/drawing/2014/main" id="{1F3FAFFD-AA49-45CF-87EB-53E4C44CE8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557250" y="6043613"/>
            <a:ext cx="327693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9598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0BACA7F1-8CE0-4C7D-8279-492E1B91A710}"/>
              </a:ext>
            </a:extLst>
          </p:cNvPr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6" name="Grafik 14">
            <a:extLst>
              <a:ext uri="{FF2B5EF4-FFF2-40B4-BE49-F238E27FC236}">
                <a16:creationId xmlns:a16="http://schemas.microsoft.com/office/drawing/2014/main" id="{844545F9-6803-469A-BF8D-BCA10B91E8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557250" y="6043613"/>
            <a:ext cx="327693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5933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mittig, horizontale Li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7">
            <a:extLst>
              <a:ext uri="{FF2B5EF4-FFF2-40B4-BE49-F238E27FC236}">
                <a16:creationId xmlns:a16="http://schemas.microsoft.com/office/drawing/2014/main" id="{39ECF4EF-76C6-4549-86EB-0760FBAAC044}"/>
              </a:ext>
            </a:extLst>
          </p:cNvPr>
          <p:cNvCxnSpPr/>
          <p:nvPr/>
        </p:nvCxnSpPr>
        <p:spPr>
          <a:xfrm>
            <a:off x="392113" y="30368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384000" y="3196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6" name="Grafik 14">
            <a:extLst>
              <a:ext uri="{FF2B5EF4-FFF2-40B4-BE49-F238E27FC236}">
                <a16:creationId xmlns:a16="http://schemas.microsoft.com/office/drawing/2014/main" id="{B2BE1BA2-CEC2-49AA-843D-581BF914C6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557250" y="6043613"/>
            <a:ext cx="327693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2738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373038" y="1684800"/>
            <a:ext cx="11484000" cy="31932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631128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/>
          </p:nvPr>
        </p:nvSpPr>
        <p:spPr>
          <a:xfrm>
            <a:off x="383117" y="1684801"/>
            <a:ext cx="11484000" cy="37512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88144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Tex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7">
            <a:extLst>
              <a:ext uri="{FF2B5EF4-FFF2-40B4-BE49-F238E27FC236}">
                <a16:creationId xmlns:a16="http://schemas.microsoft.com/office/drawing/2014/main" id="{5CF526AC-29B7-4CB1-914E-44F9FA3EF3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75" y="1684338"/>
            <a:ext cx="3635375" cy="398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platzhalter 11"/>
          <p:cNvSpPr>
            <a:spLocks noGrp="1"/>
          </p:cNvSpPr>
          <p:nvPr>
            <p:ph type="body" sz="quarter" idx="14"/>
          </p:nvPr>
        </p:nvSpPr>
        <p:spPr>
          <a:xfrm>
            <a:off x="383117" y="1684800"/>
            <a:ext cx="7560000" cy="3985955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40874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7">
            <a:extLst>
              <a:ext uri="{FF2B5EF4-FFF2-40B4-BE49-F238E27FC236}">
                <a16:creationId xmlns:a16="http://schemas.microsoft.com/office/drawing/2014/main" id="{50E548E8-D756-42E7-8C62-3E71DB1E35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1152525"/>
            <a:ext cx="11480800" cy="398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83117" y="5359401"/>
            <a:ext cx="11484000" cy="49953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90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55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2000" b="1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Diagrammplatzhalter 8"/>
          <p:cNvSpPr>
            <a:spLocks noGrp="1"/>
          </p:cNvSpPr>
          <p:nvPr>
            <p:ph type="chart" sz="quarter" idx="13"/>
          </p:nvPr>
        </p:nvSpPr>
        <p:spPr>
          <a:xfrm>
            <a:off x="383117" y="1684800"/>
            <a:ext cx="11484000" cy="36322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de-DE" noProof="0"/>
              <a:t>Diagramm durch Klicken auf Symbol hinzufügen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528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BB3EDB2-A946-42FD-9702-24948BF3A4F1}"/>
              </a:ext>
            </a:extLst>
          </p:cNvPr>
          <p:cNvSpPr txBox="1">
            <a:spLocks/>
          </p:cNvSpPr>
          <p:nvPr/>
        </p:nvSpPr>
        <p:spPr>
          <a:xfrm>
            <a:off x="382588" y="2487613"/>
            <a:ext cx="11483975" cy="10795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lang="de-DE" altLang="de-DE" sz="3200" b="1" dirty="0" err="1">
                <a:solidFill>
                  <a:schemeClr val="tx2"/>
                </a:solidFill>
              </a:rPr>
              <a:t>Thank</a:t>
            </a:r>
            <a:r>
              <a:rPr lang="de-DE" altLang="de-DE" sz="3200" b="1" dirty="0">
                <a:solidFill>
                  <a:schemeClr val="tx2"/>
                </a:solidFill>
              </a:rPr>
              <a:t> </a:t>
            </a:r>
            <a:r>
              <a:rPr lang="de-DE" altLang="de-DE" sz="3200" b="1" dirty="0" err="1">
                <a:solidFill>
                  <a:schemeClr val="tx2"/>
                </a:solidFill>
              </a:rPr>
              <a:t>you</a:t>
            </a:r>
            <a:endParaRPr lang="en-US" altLang="de-DE" sz="3200" b="1" dirty="0">
              <a:solidFill>
                <a:schemeClr val="tx2"/>
              </a:solidFill>
            </a:endParaRPr>
          </a:p>
        </p:txBody>
      </p:sp>
      <p:cxnSp>
        <p:nvCxnSpPr>
          <p:cNvPr id="5" name="Gerader Verbinder 11">
            <a:extLst>
              <a:ext uri="{FF2B5EF4-FFF2-40B4-BE49-F238E27FC236}">
                <a16:creationId xmlns:a16="http://schemas.microsoft.com/office/drawing/2014/main" id="{6B101EF6-1AE1-4767-A73B-683987A98886}"/>
              </a:ext>
            </a:extLst>
          </p:cNvPr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3988800"/>
            <a:ext cx="11484000" cy="165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6" name="Grafik 14">
            <a:extLst>
              <a:ext uri="{FF2B5EF4-FFF2-40B4-BE49-F238E27FC236}">
                <a16:creationId xmlns:a16="http://schemas.microsoft.com/office/drawing/2014/main" id="{F1C69CA9-37B1-46BF-BEED-1F224D9B64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557250" y="6043613"/>
            <a:ext cx="327693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5055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97A0A06-3ED0-4FBF-AD6A-C681B1FBF6A1}"/>
              </a:ext>
            </a:extLst>
          </p:cNvPr>
          <p:cNvSpPr txBox="1">
            <a:spLocks/>
          </p:cNvSpPr>
          <p:nvPr/>
        </p:nvSpPr>
        <p:spPr>
          <a:xfrm>
            <a:off x="1195388" y="6227763"/>
            <a:ext cx="7453312" cy="6302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900" dirty="0">
                <a:solidFill>
                  <a:schemeClr val="tx2"/>
                </a:solidFill>
              </a:rPr>
              <a:t>Reinforcement Learning | Antonia Gustke | </a:t>
            </a:r>
            <a:r>
              <a:rPr lang="en-US" sz="900" dirty="0">
                <a:solidFill>
                  <a:schemeClr val="tx2"/>
                </a:solidFill>
              </a:rPr>
              <a:t>Knowledge Graph-Enhanced Vision-Language Models for Radiology Report Generation</a:t>
            </a:r>
            <a:r>
              <a:rPr lang="en-US" sz="900" dirty="0"/>
              <a:t> </a:t>
            </a:r>
            <a:r>
              <a:rPr lang="de-DE" altLang="de-DE" sz="900" dirty="0">
                <a:solidFill>
                  <a:schemeClr val="tx2"/>
                </a:solidFill>
              </a:rPr>
              <a:t>| WS2025/26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4C5A2FE3-CAB4-4857-A3EC-ADF25F4E6B88}"/>
              </a:ext>
            </a:extLst>
          </p:cNvPr>
          <p:cNvCxnSpPr/>
          <p:nvPr/>
        </p:nvCxnSpPr>
        <p:spPr>
          <a:xfrm>
            <a:off x="360363" y="8143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DEECD01C-4E83-4F2F-AC6F-146FCCB9B2D4}"/>
              </a:ext>
            </a:extLst>
          </p:cNvPr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0" name="Textfeld 6">
            <a:extLst>
              <a:ext uri="{FF2B5EF4-FFF2-40B4-BE49-F238E27FC236}">
                <a16:creationId xmlns:a16="http://schemas.microsoft.com/office/drawing/2014/main" id="{8EECAAF6-51DE-4A47-806F-524744DF8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784350" y="5073650"/>
            <a:ext cx="1668462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1000" b="1"/>
              <a:t>Fußzeile anpassen:</a:t>
            </a:r>
            <a:endParaRPr lang="de-DE" altLang="de-DE" sz="1000"/>
          </a:p>
          <a:p>
            <a:pPr eaLnBrk="1" hangingPunct="1">
              <a:defRPr/>
            </a:pPr>
            <a:r>
              <a:rPr lang="de-DE" altLang="de-DE" sz="1000"/>
              <a:t>Zum Anpassen der Fußzeile unter Karteireiter Ansicht &gt; auf Folienmaster klicken. Links in der Übersicht auf die oberste Folie scrollen und dort in die Fußzeile klicken. So wird der Text automatisch auf allen Seiten angepasst.</a:t>
            </a:r>
            <a:endParaRPr lang="de-DE" altLang="de-DE" sz="1000" b="1"/>
          </a:p>
        </p:txBody>
      </p:sp>
      <p:sp>
        <p:nvSpPr>
          <p:cNvPr id="1031" name="Textfeld 13">
            <a:extLst>
              <a:ext uri="{FF2B5EF4-FFF2-40B4-BE49-F238E27FC236}">
                <a16:creationId xmlns:a16="http://schemas.microsoft.com/office/drawing/2014/main" id="{ED6CCCE8-CFD8-41FA-BD5C-3AF2942F02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363" y="6227763"/>
            <a:ext cx="73025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9492F1D3-FF01-4B47-92F8-A40E57589C0B}" type="slidenum">
              <a:rPr lang="de-DE" altLang="de-DE" sz="900">
                <a:solidFill>
                  <a:schemeClr val="tx2"/>
                </a:solidFill>
              </a:rPr>
              <a:pPr eaLnBrk="1" hangingPunct="1"/>
              <a:t>‹Nr.›</a:t>
            </a:fld>
            <a:endParaRPr lang="de-DE" altLang="de-DE" sz="900">
              <a:solidFill>
                <a:schemeClr val="tx2"/>
              </a:solidFill>
            </a:endParaRPr>
          </a:p>
        </p:txBody>
      </p:sp>
      <p:pic>
        <p:nvPicPr>
          <p:cNvPr id="2" name="Grafik 14">
            <a:extLst>
              <a:ext uri="{FF2B5EF4-FFF2-40B4-BE49-F238E27FC236}">
                <a16:creationId xmlns:a16="http://schemas.microsoft.com/office/drawing/2014/main" id="{F8220276-ADB8-4F0F-9AD2-C74FD80DB47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557250" y="6043613"/>
            <a:ext cx="327693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57" r:id="rId6"/>
    <p:sldLayoutId id="2147483858" r:id="rId7"/>
    <p:sldLayoutId id="2147483865" r:id="rId8"/>
    <p:sldLayoutId id="2147483866" r:id="rId9"/>
    <p:sldLayoutId id="2147483859" r:id="rId10"/>
    <p:sldLayoutId id="2147483867" r:id="rId11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pinningup.openai.com/en/latest/spinningup/rl_intro2.html" TargetMode="External"/><Relationship Id="rId2" Type="http://schemas.openxmlformats.org/officeDocument/2006/relationships/hyperlink" Target="https://spinningup.openai.com/en/latest/spinningup/rl_intro.html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5C412D6-69A8-16E4-76DF-488F469498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Reinforcement Learning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217B88E2-6404-BC0B-EE0B-DC385511D5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Knowledge Graph-Enhanced Vision-Language Models for Radiology Report Generation</a:t>
            </a:r>
            <a:endParaRPr lang="de-DE" dirty="0"/>
          </a:p>
          <a:p>
            <a:r>
              <a:rPr lang="de-DE" dirty="0"/>
              <a:t>Master Thesis </a:t>
            </a:r>
            <a:r>
              <a:rPr lang="de-DE" dirty="0" err="1"/>
              <a:t>Proposal</a:t>
            </a:r>
            <a:endParaRPr lang="de-DE" altLang="de-DE" dirty="0">
              <a:ea typeface="ＭＳ Ｐゴシック" panose="020B0600070205080204" pitchFamily="34" charset="-128"/>
            </a:endParaRPr>
          </a:p>
          <a:p>
            <a:r>
              <a:rPr lang="de-DE" altLang="de-DE" dirty="0">
                <a:ea typeface="ＭＳ Ｐゴシック" panose="020B0600070205080204" pitchFamily="34" charset="-128"/>
              </a:rPr>
              <a:t>Antonia Gustke, 460097</a:t>
            </a:r>
          </a:p>
          <a:p>
            <a:r>
              <a:rPr lang="de-DE" altLang="de-DE" dirty="0" err="1">
                <a:ea typeface="ＭＳ Ｐゴシック" panose="020B0600070205080204" pitchFamily="34" charset="-128"/>
              </a:rPr>
              <a:t>Advisor</a:t>
            </a:r>
            <a:r>
              <a:rPr lang="de-DE" altLang="de-DE" dirty="0">
                <a:ea typeface="ＭＳ Ｐゴシック" panose="020B0600070205080204" pitchFamily="34" charset="-128"/>
              </a:rPr>
              <a:t>: </a:t>
            </a:r>
            <a:r>
              <a:rPr lang="de-DE" altLang="de-DE" dirty="0" err="1">
                <a:ea typeface="ＭＳ Ｐゴシック" panose="020B0600070205080204" pitchFamily="34" charset="-128"/>
              </a:rPr>
              <a:t>Yongli</a:t>
            </a:r>
            <a:r>
              <a:rPr lang="de-DE" altLang="de-DE" dirty="0">
                <a:ea typeface="ＭＳ Ｐゴシック" panose="020B0600070205080204" pitchFamily="34" charset="-128"/>
              </a:rPr>
              <a:t> </a:t>
            </a:r>
            <a:r>
              <a:rPr lang="de-DE" altLang="de-DE" dirty="0" err="1">
                <a:ea typeface="ＭＳ Ｐゴシック" panose="020B0600070205080204" pitchFamily="34" charset="-128"/>
              </a:rPr>
              <a:t>Mou</a:t>
            </a:r>
            <a:r>
              <a:rPr lang="de-DE" altLang="de-DE" dirty="0">
                <a:ea typeface="ＭＳ Ｐゴシック" panose="020B0600070205080204" pitchFamily="34" charset="-128"/>
              </a:rPr>
              <a:t>, </a:t>
            </a:r>
            <a:r>
              <a:rPr lang="de-DE" altLang="de-DE" dirty="0" err="1">
                <a:ea typeface="ＭＳ Ｐゴシック" panose="020B0600070205080204" pitchFamily="34" charset="-128"/>
              </a:rPr>
              <a:t>M.Sc</a:t>
            </a:r>
            <a:r>
              <a:rPr lang="de-DE" altLang="de-DE" dirty="0">
                <a:ea typeface="ＭＳ Ｐゴシック" panose="020B0600070205080204" pitchFamily="34" charset="-128"/>
              </a:rPr>
              <a:t>.</a:t>
            </a:r>
          </a:p>
          <a:p>
            <a:r>
              <a:rPr lang="de-DE" altLang="de-DE" dirty="0">
                <a:ea typeface="ＭＳ Ｐゴシック" panose="020B0600070205080204" pitchFamily="34" charset="-128"/>
              </a:rPr>
              <a:t>Supervisor: Prof. Dr. Stefan Decker</a:t>
            </a:r>
          </a:p>
          <a:p>
            <a:endParaRPr lang="de-D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28F944-DADA-82F2-6046-8DC107794E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Concept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238604D-EA82-4402-DD80-89F36E9FA9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4830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platzhalter 1">
                <a:extLst>
                  <a:ext uri="{FF2B5EF4-FFF2-40B4-BE49-F238E27FC236}">
                    <a16:creationId xmlns:a16="http://schemas.microsoft.com/office/drawing/2014/main" id="{A55F8407-EC3B-0C1A-3E40-69740965F9FF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73038" y="1684800"/>
                <a:ext cx="11484000" cy="743256"/>
              </a:xfrm>
            </p:spPr>
            <p:txBody>
              <a:bodyPr/>
              <a:lstStyle/>
              <a:p>
                <a:r>
                  <a:rPr lang="de-DE" dirty="0"/>
                  <a:t>Goal: </a:t>
                </a:r>
                <a:r>
                  <a:rPr lang="en-US" dirty="0"/>
                  <a:t>Learn a policy that maximizes cumulative reward through interaction with an environment, i.e. maximize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de-DE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de-DE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de-DE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de-DE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de-DE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de-DE" i="1" dirty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de-DE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de-DE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sSub>
                              <m:sSubPr>
                                <m:ctrlPr>
                                  <a:rPr lang="de-DE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 dirty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de-DE" i="1" dirty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nary>
                      </m:e>
                    </m:d>
                  </m:oMath>
                </a14:m>
                <a:endParaRPr lang="de-DE" dirty="0"/>
              </a:p>
              <a:p>
                <a:endParaRPr lang="de-D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Textplatzhalter 1">
                <a:extLst>
                  <a:ext uri="{FF2B5EF4-FFF2-40B4-BE49-F238E27FC236}">
                    <a16:creationId xmlns:a16="http://schemas.microsoft.com/office/drawing/2014/main" id="{A55F8407-EC3B-0C1A-3E40-69740965F9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73038" y="1684800"/>
                <a:ext cx="11484000" cy="743256"/>
              </a:xfrm>
              <a:blipFill>
                <a:blip r:embed="rId2"/>
                <a:stretch>
                  <a:fillRect l="-1115" t="-27049" b="-7459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el 2">
            <a:extLst>
              <a:ext uri="{FF2B5EF4-FFF2-40B4-BE49-F238E27FC236}">
                <a16:creationId xmlns:a16="http://schemas.microsoft.com/office/drawing/2014/main" id="{753E3142-0407-AA16-94C8-CAFB3EE92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Key Components [1]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8BF319F-5F57-4397-F23E-28BD2A370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8B119F64-7964-6ADF-66C4-95E3BE1D237B}"/>
              </a:ext>
            </a:extLst>
          </p:cNvPr>
          <p:cNvSpPr/>
          <p:nvPr/>
        </p:nvSpPr>
        <p:spPr>
          <a:xfrm>
            <a:off x="4823460" y="4658544"/>
            <a:ext cx="2543556" cy="896112"/>
          </a:xfrm>
          <a:custGeom>
            <a:avLst/>
            <a:gdLst>
              <a:gd name="csX0" fmla="*/ 0 w 2542032"/>
              <a:gd name="csY0" fmla="*/ 149355 h 896112"/>
              <a:gd name="csX1" fmla="*/ 149355 w 2542032"/>
              <a:gd name="csY1" fmla="*/ 0 h 896112"/>
              <a:gd name="csX2" fmla="*/ 2392677 w 2542032"/>
              <a:gd name="csY2" fmla="*/ 0 h 896112"/>
              <a:gd name="csX3" fmla="*/ 2542032 w 2542032"/>
              <a:gd name="csY3" fmla="*/ 149355 h 896112"/>
              <a:gd name="csX4" fmla="*/ 2542032 w 2542032"/>
              <a:gd name="csY4" fmla="*/ 746757 h 896112"/>
              <a:gd name="csX5" fmla="*/ 2392677 w 2542032"/>
              <a:gd name="csY5" fmla="*/ 896112 h 896112"/>
              <a:gd name="csX6" fmla="*/ 149355 w 2542032"/>
              <a:gd name="csY6" fmla="*/ 896112 h 896112"/>
              <a:gd name="csX7" fmla="*/ 0 w 2542032"/>
              <a:gd name="csY7" fmla="*/ 746757 h 896112"/>
              <a:gd name="csX8" fmla="*/ 0 w 2542032"/>
              <a:gd name="csY8" fmla="*/ 149355 h 896112"/>
              <a:gd name="csX0" fmla="*/ 0 w 2542032"/>
              <a:gd name="csY0" fmla="*/ 149355 h 896112"/>
              <a:gd name="csX1" fmla="*/ 149355 w 2542032"/>
              <a:gd name="csY1" fmla="*/ 0 h 896112"/>
              <a:gd name="csX2" fmla="*/ 2392677 w 2542032"/>
              <a:gd name="csY2" fmla="*/ 0 h 896112"/>
              <a:gd name="csX3" fmla="*/ 2542032 w 2542032"/>
              <a:gd name="csY3" fmla="*/ 149355 h 896112"/>
              <a:gd name="csX4" fmla="*/ 2542032 w 2542032"/>
              <a:gd name="csY4" fmla="*/ 746757 h 896112"/>
              <a:gd name="csX5" fmla="*/ 2392677 w 2542032"/>
              <a:gd name="csY5" fmla="*/ 896112 h 896112"/>
              <a:gd name="csX6" fmla="*/ 149355 w 2542032"/>
              <a:gd name="csY6" fmla="*/ 896112 h 896112"/>
              <a:gd name="csX7" fmla="*/ 0 w 2542032"/>
              <a:gd name="csY7" fmla="*/ 746757 h 896112"/>
              <a:gd name="csX8" fmla="*/ 381 w 2542032"/>
              <a:gd name="csY8" fmla="*/ 296361 h 896112"/>
              <a:gd name="csX9" fmla="*/ 0 w 2542032"/>
              <a:gd name="csY9" fmla="*/ 149355 h 896112"/>
              <a:gd name="csX0" fmla="*/ 0 w 2542032"/>
              <a:gd name="csY0" fmla="*/ 149355 h 896112"/>
              <a:gd name="csX1" fmla="*/ 149355 w 2542032"/>
              <a:gd name="csY1" fmla="*/ 0 h 896112"/>
              <a:gd name="csX2" fmla="*/ 2392677 w 2542032"/>
              <a:gd name="csY2" fmla="*/ 0 h 896112"/>
              <a:gd name="csX3" fmla="*/ 2542032 w 2542032"/>
              <a:gd name="csY3" fmla="*/ 149355 h 896112"/>
              <a:gd name="csX4" fmla="*/ 2542032 w 2542032"/>
              <a:gd name="csY4" fmla="*/ 746757 h 896112"/>
              <a:gd name="csX5" fmla="*/ 2392677 w 2542032"/>
              <a:gd name="csY5" fmla="*/ 896112 h 896112"/>
              <a:gd name="csX6" fmla="*/ 149355 w 2542032"/>
              <a:gd name="csY6" fmla="*/ 896112 h 896112"/>
              <a:gd name="csX7" fmla="*/ 0 w 2542032"/>
              <a:gd name="csY7" fmla="*/ 746757 h 896112"/>
              <a:gd name="csX8" fmla="*/ 381 w 2542032"/>
              <a:gd name="csY8" fmla="*/ 296361 h 896112"/>
              <a:gd name="csX9" fmla="*/ 0 w 2542032"/>
              <a:gd name="csY9" fmla="*/ 149355 h 896112"/>
              <a:gd name="csX0" fmla="*/ 1524 w 2543556"/>
              <a:gd name="csY0" fmla="*/ 149355 h 896112"/>
              <a:gd name="csX1" fmla="*/ 150879 w 2543556"/>
              <a:gd name="csY1" fmla="*/ 0 h 896112"/>
              <a:gd name="csX2" fmla="*/ 2394201 w 2543556"/>
              <a:gd name="csY2" fmla="*/ 0 h 896112"/>
              <a:gd name="csX3" fmla="*/ 2543556 w 2543556"/>
              <a:gd name="csY3" fmla="*/ 149355 h 896112"/>
              <a:gd name="csX4" fmla="*/ 2543556 w 2543556"/>
              <a:gd name="csY4" fmla="*/ 746757 h 896112"/>
              <a:gd name="csX5" fmla="*/ 2394201 w 2543556"/>
              <a:gd name="csY5" fmla="*/ 896112 h 896112"/>
              <a:gd name="csX6" fmla="*/ 150879 w 2543556"/>
              <a:gd name="csY6" fmla="*/ 896112 h 896112"/>
              <a:gd name="csX7" fmla="*/ 1524 w 2543556"/>
              <a:gd name="csY7" fmla="*/ 746757 h 896112"/>
              <a:gd name="csX8" fmla="*/ 0 w 2543556"/>
              <a:gd name="csY8" fmla="*/ 599256 h 896112"/>
              <a:gd name="csX9" fmla="*/ 1905 w 2543556"/>
              <a:gd name="csY9" fmla="*/ 296361 h 896112"/>
              <a:gd name="csX10" fmla="*/ 1524 w 2543556"/>
              <a:gd name="csY10" fmla="*/ 149355 h 896112"/>
              <a:gd name="csX0" fmla="*/ 1524 w 2543556"/>
              <a:gd name="csY0" fmla="*/ 149355 h 896112"/>
              <a:gd name="csX1" fmla="*/ 150879 w 2543556"/>
              <a:gd name="csY1" fmla="*/ 0 h 896112"/>
              <a:gd name="csX2" fmla="*/ 2394201 w 2543556"/>
              <a:gd name="csY2" fmla="*/ 0 h 896112"/>
              <a:gd name="csX3" fmla="*/ 2543556 w 2543556"/>
              <a:gd name="csY3" fmla="*/ 149355 h 896112"/>
              <a:gd name="csX4" fmla="*/ 2543556 w 2543556"/>
              <a:gd name="csY4" fmla="*/ 746757 h 896112"/>
              <a:gd name="csX5" fmla="*/ 2394201 w 2543556"/>
              <a:gd name="csY5" fmla="*/ 896112 h 896112"/>
              <a:gd name="csX6" fmla="*/ 150879 w 2543556"/>
              <a:gd name="csY6" fmla="*/ 896112 h 896112"/>
              <a:gd name="csX7" fmla="*/ 1524 w 2543556"/>
              <a:gd name="csY7" fmla="*/ 746757 h 896112"/>
              <a:gd name="csX8" fmla="*/ 0 w 2543556"/>
              <a:gd name="csY8" fmla="*/ 599256 h 896112"/>
              <a:gd name="csX9" fmla="*/ 1905 w 2543556"/>
              <a:gd name="csY9" fmla="*/ 296361 h 896112"/>
              <a:gd name="csX10" fmla="*/ 1524 w 2543556"/>
              <a:gd name="csY10" fmla="*/ 149355 h 896112"/>
              <a:gd name="csX0" fmla="*/ 1524 w 2543556"/>
              <a:gd name="csY0" fmla="*/ 149355 h 896112"/>
              <a:gd name="csX1" fmla="*/ 150879 w 2543556"/>
              <a:gd name="csY1" fmla="*/ 0 h 896112"/>
              <a:gd name="csX2" fmla="*/ 2394201 w 2543556"/>
              <a:gd name="csY2" fmla="*/ 0 h 896112"/>
              <a:gd name="csX3" fmla="*/ 2543556 w 2543556"/>
              <a:gd name="csY3" fmla="*/ 149355 h 896112"/>
              <a:gd name="csX4" fmla="*/ 2543175 w 2543556"/>
              <a:gd name="csY4" fmla="*/ 456381 h 896112"/>
              <a:gd name="csX5" fmla="*/ 2543556 w 2543556"/>
              <a:gd name="csY5" fmla="*/ 746757 h 896112"/>
              <a:gd name="csX6" fmla="*/ 2394201 w 2543556"/>
              <a:gd name="csY6" fmla="*/ 896112 h 896112"/>
              <a:gd name="csX7" fmla="*/ 150879 w 2543556"/>
              <a:gd name="csY7" fmla="*/ 896112 h 896112"/>
              <a:gd name="csX8" fmla="*/ 1524 w 2543556"/>
              <a:gd name="csY8" fmla="*/ 746757 h 896112"/>
              <a:gd name="csX9" fmla="*/ 0 w 2543556"/>
              <a:gd name="csY9" fmla="*/ 599256 h 896112"/>
              <a:gd name="csX10" fmla="*/ 1905 w 2543556"/>
              <a:gd name="csY10" fmla="*/ 296361 h 896112"/>
              <a:gd name="csX11" fmla="*/ 1524 w 2543556"/>
              <a:gd name="csY11" fmla="*/ 149355 h 896112"/>
              <a:gd name="csX0" fmla="*/ 1524 w 2543556"/>
              <a:gd name="csY0" fmla="*/ 149355 h 896112"/>
              <a:gd name="csX1" fmla="*/ 150879 w 2543556"/>
              <a:gd name="csY1" fmla="*/ 0 h 896112"/>
              <a:gd name="csX2" fmla="*/ 2394201 w 2543556"/>
              <a:gd name="csY2" fmla="*/ 0 h 896112"/>
              <a:gd name="csX3" fmla="*/ 2543556 w 2543556"/>
              <a:gd name="csY3" fmla="*/ 149355 h 896112"/>
              <a:gd name="csX4" fmla="*/ 2543175 w 2543556"/>
              <a:gd name="csY4" fmla="*/ 456381 h 896112"/>
              <a:gd name="csX5" fmla="*/ 2543556 w 2543556"/>
              <a:gd name="csY5" fmla="*/ 746757 h 896112"/>
              <a:gd name="csX6" fmla="*/ 2394201 w 2543556"/>
              <a:gd name="csY6" fmla="*/ 896112 h 896112"/>
              <a:gd name="csX7" fmla="*/ 150879 w 2543556"/>
              <a:gd name="csY7" fmla="*/ 896112 h 896112"/>
              <a:gd name="csX8" fmla="*/ 1524 w 2543556"/>
              <a:gd name="csY8" fmla="*/ 746757 h 896112"/>
              <a:gd name="csX9" fmla="*/ 0 w 2543556"/>
              <a:gd name="csY9" fmla="*/ 599256 h 896112"/>
              <a:gd name="csX10" fmla="*/ 1905 w 2543556"/>
              <a:gd name="csY10" fmla="*/ 296361 h 896112"/>
              <a:gd name="csX11" fmla="*/ 1524 w 2543556"/>
              <a:gd name="csY11" fmla="*/ 149355 h 8961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2543556" h="896112">
                <a:moveTo>
                  <a:pt x="1524" y="149355"/>
                </a:moveTo>
                <a:cubicBezTo>
                  <a:pt x="1524" y="66869"/>
                  <a:pt x="68393" y="0"/>
                  <a:pt x="150879" y="0"/>
                </a:cubicBezTo>
                <a:lnTo>
                  <a:pt x="2394201" y="0"/>
                </a:lnTo>
                <a:cubicBezTo>
                  <a:pt x="2476687" y="0"/>
                  <a:pt x="2543556" y="66869"/>
                  <a:pt x="2543556" y="149355"/>
                </a:cubicBezTo>
                <a:lnTo>
                  <a:pt x="2543175" y="456381"/>
                </a:lnTo>
                <a:cubicBezTo>
                  <a:pt x="2543365" y="601569"/>
                  <a:pt x="2543429" y="649965"/>
                  <a:pt x="2543556" y="746757"/>
                </a:cubicBezTo>
                <a:cubicBezTo>
                  <a:pt x="2543556" y="829243"/>
                  <a:pt x="2476687" y="896112"/>
                  <a:pt x="2394201" y="896112"/>
                </a:cubicBezTo>
                <a:lnTo>
                  <a:pt x="150879" y="896112"/>
                </a:lnTo>
                <a:cubicBezTo>
                  <a:pt x="68393" y="896112"/>
                  <a:pt x="1524" y="829243"/>
                  <a:pt x="1524" y="746757"/>
                </a:cubicBezTo>
                <a:lnTo>
                  <a:pt x="0" y="599256"/>
                </a:lnTo>
                <a:cubicBezTo>
                  <a:pt x="952" y="447808"/>
                  <a:pt x="1270" y="397326"/>
                  <a:pt x="1905" y="296361"/>
                </a:cubicBezTo>
                <a:cubicBezTo>
                  <a:pt x="1714" y="222858"/>
                  <a:pt x="1651" y="198357"/>
                  <a:pt x="1524" y="14935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Environment</a:t>
            </a:r>
          </a:p>
        </p:txBody>
      </p:sp>
      <p:cxnSp>
        <p:nvCxnSpPr>
          <p:cNvPr id="8" name="Verbinder: gewinkelt 7">
            <a:extLst>
              <a:ext uri="{FF2B5EF4-FFF2-40B4-BE49-F238E27FC236}">
                <a16:creationId xmlns:a16="http://schemas.microsoft.com/office/drawing/2014/main" id="{8ACD4BFE-3926-D3D9-3EA0-290E39BBEEA9}"/>
              </a:ext>
            </a:extLst>
          </p:cNvPr>
          <p:cNvCxnSpPr>
            <a:cxnSpLocks/>
            <a:stCxn id="25" idx="4"/>
            <a:endCxn id="6" idx="4"/>
          </p:cNvCxnSpPr>
          <p:nvPr/>
        </p:nvCxnSpPr>
        <p:spPr>
          <a:xfrm>
            <a:off x="7366635" y="3165237"/>
            <a:ext cx="12700" cy="1949688"/>
          </a:xfrm>
          <a:prstGeom prst="bentConnector3">
            <a:avLst>
              <a:gd name="adj1" fmla="val 474493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hteck: abgerundete Ecken 5">
            <a:extLst>
              <a:ext uri="{FF2B5EF4-FFF2-40B4-BE49-F238E27FC236}">
                <a16:creationId xmlns:a16="http://schemas.microsoft.com/office/drawing/2014/main" id="{C1C277BF-B792-3970-05F7-867B286C7B14}"/>
              </a:ext>
            </a:extLst>
          </p:cNvPr>
          <p:cNvSpPr/>
          <p:nvPr/>
        </p:nvSpPr>
        <p:spPr>
          <a:xfrm>
            <a:off x="4823460" y="2708856"/>
            <a:ext cx="2543556" cy="896112"/>
          </a:xfrm>
          <a:custGeom>
            <a:avLst/>
            <a:gdLst>
              <a:gd name="csX0" fmla="*/ 0 w 2542032"/>
              <a:gd name="csY0" fmla="*/ 149355 h 896112"/>
              <a:gd name="csX1" fmla="*/ 149355 w 2542032"/>
              <a:gd name="csY1" fmla="*/ 0 h 896112"/>
              <a:gd name="csX2" fmla="*/ 2392677 w 2542032"/>
              <a:gd name="csY2" fmla="*/ 0 h 896112"/>
              <a:gd name="csX3" fmla="*/ 2542032 w 2542032"/>
              <a:gd name="csY3" fmla="*/ 149355 h 896112"/>
              <a:gd name="csX4" fmla="*/ 2542032 w 2542032"/>
              <a:gd name="csY4" fmla="*/ 746757 h 896112"/>
              <a:gd name="csX5" fmla="*/ 2392677 w 2542032"/>
              <a:gd name="csY5" fmla="*/ 896112 h 896112"/>
              <a:gd name="csX6" fmla="*/ 149355 w 2542032"/>
              <a:gd name="csY6" fmla="*/ 896112 h 896112"/>
              <a:gd name="csX7" fmla="*/ 0 w 2542032"/>
              <a:gd name="csY7" fmla="*/ 746757 h 896112"/>
              <a:gd name="csX8" fmla="*/ 0 w 2542032"/>
              <a:gd name="csY8" fmla="*/ 149355 h 896112"/>
              <a:gd name="csX0" fmla="*/ 0 w 2542032"/>
              <a:gd name="csY0" fmla="*/ 149355 h 896112"/>
              <a:gd name="csX1" fmla="*/ 149355 w 2542032"/>
              <a:gd name="csY1" fmla="*/ 0 h 896112"/>
              <a:gd name="csX2" fmla="*/ 2392677 w 2542032"/>
              <a:gd name="csY2" fmla="*/ 0 h 896112"/>
              <a:gd name="csX3" fmla="*/ 2542032 w 2542032"/>
              <a:gd name="csY3" fmla="*/ 149355 h 896112"/>
              <a:gd name="csX4" fmla="*/ 2542032 w 2542032"/>
              <a:gd name="csY4" fmla="*/ 746757 h 896112"/>
              <a:gd name="csX5" fmla="*/ 2392677 w 2542032"/>
              <a:gd name="csY5" fmla="*/ 896112 h 896112"/>
              <a:gd name="csX6" fmla="*/ 149355 w 2542032"/>
              <a:gd name="csY6" fmla="*/ 896112 h 896112"/>
              <a:gd name="csX7" fmla="*/ 0 w 2542032"/>
              <a:gd name="csY7" fmla="*/ 746757 h 896112"/>
              <a:gd name="csX8" fmla="*/ 381 w 2542032"/>
              <a:gd name="csY8" fmla="*/ 296361 h 896112"/>
              <a:gd name="csX9" fmla="*/ 0 w 2542032"/>
              <a:gd name="csY9" fmla="*/ 149355 h 896112"/>
              <a:gd name="csX0" fmla="*/ 0 w 2542032"/>
              <a:gd name="csY0" fmla="*/ 149355 h 896112"/>
              <a:gd name="csX1" fmla="*/ 149355 w 2542032"/>
              <a:gd name="csY1" fmla="*/ 0 h 896112"/>
              <a:gd name="csX2" fmla="*/ 2392677 w 2542032"/>
              <a:gd name="csY2" fmla="*/ 0 h 896112"/>
              <a:gd name="csX3" fmla="*/ 2542032 w 2542032"/>
              <a:gd name="csY3" fmla="*/ 149355 h 896112"/>
              <a:gd name="csX4" fmla="*/ 2542032 w 2542032"/>
              <a:gd name="csY4" fmla="*/ 746757 h 896112"/>
              <a:gd name="csX5" fmla="*/ 2392677 w 2542032"/>
              <a:gd name="csY5" fmla="*/ 896112 h 896112"/>
              <a:gd name="csX6" fmla="*/ 149355 w 2542032"/>
              <a:gd name="csY6" fmla="*/ 896112 h 896112"/>
              <a:gd name="csX7" fmla="*/ 0 w 2542032"/>
              <a:gd name="csY7" fmla="*/ 746757 h 896112"/>
              <a:gd name="csX8" fmla="*/ 381 w 2542032"/>
              <a:gd name="csY8" fmla="*/ 296361 h 896112"/>
              <a:gd name="csX9" fmla="*/ 0 w 2542032"/>
              <a:gd name="csY9" fmla="*/ 149355 h 896112"/>
              <a:gd name="csX0" fmla="*/ 1524 w 2543556"/>
              <a:gd name="csY0" fmla="*/ 149355 h 896112"/>
              <a:gd name="csX1" fmla="*/ 150879 w 2543556"/>
              <a:gd name="csY1" fmla="*/ 0 h 896112"/>
              <a:gd name="csX2" fmla="*/ 2394201 w 2543556"/>
              <a:gd name="csY2" fmla="*/ 0 h 896112"/>
              <a:gd name="csX3" fmla="*/ 2543556 w 2543556"/>
              <a:gd name="csY3" fmla="*/ 149355 h 896112"/>
              <a:gd name="csX4" fmla="*/ 2543556 w 2543556"/>
              <a:gd name="csY4" fmla="*/ 746757 h 896112"/>
              <a:gd name="csX5" fmla="*/ 2394201 w 2543556"/>
              <a:gd name="csY5" fmla="*/ 896112 h 896112"/>
              <a:gd name="csX6" fmla="*/ 150879 w 2543556"/>
              <a:gd name="csY6" fmla="*/ 896112 h 896112"/>
              <a:gd name="csX7" fmla="*/ 1524 w 2543556"/>
              <a:gd name="csY7" fmla="*/ 746757 h 896112"/>
              <a:gd name="csX8" fmla="*/ 0 w 2543556"/>
              <a:gd name="csY8" fmla="*/ 599256 h 896112"/>
              <a:gd name="csX9" fmla="*/ 1905 w 2543556"/>
              <a:gd name="csY9" fmla="*/ 296361 h 896112"/>
              <a:gd name="csX10" fmla="*/ 1524 w 2543556"/>
              <a:gd name="csY10" fmla="*/ 149355 h 896112"/>
              <a:gd name="csX0" fmla="*/ 1524 w 2543556"/>
              <a:gd name="csY0" fmla="*/ 149355 h 896112"/>
              <a:gd name="csX1" fmla="*/ 150879 w 2543556"/>
              <a:gd name="csY1" fmla="*/ 0 h 896112"/>
              <a:gd name="csX2" fmla="*/ 2394201 w 2543556"/>
              <a:gd name="csY2" fmla="*/ 0 h 896112"/>
              <a:gd name="csX3" fmla="*/ 2543556 w 2543556"/>
              <a:gd name="csY3" fmla="*/ 149355 h 896112"/>
              <a:gd name="csX4" fmla="*/ 2543556 w 2543556"/>
              <a:gd name="csY4" fmla="*/ 746757 h 896112"/>
              <a:gd name="csX5" fmla="*/ 2394201 w 2543556"/>
              <a:gd name="csY5" fmla="*/ 896112 h 896112"/>
              <a:gd name="csX6" fmla="*/ 150879 w 2543556"/>
              <a:gd name="csY6" fmla="*/ 896112 h 896112"/>
              <a:gd name="csX7" fmla="*/ 1524 w 2543556"/>
              <a:gd name="csY7" fmla="*/ 746757 h 896112"/>
              <a:gd name="csX8" fmla="*/ 0 w 2543556"/>
              <a:gd name="csY8" fmla="*/ 599256 h 896112"/>
              <a:gd name="csX9" fmla="*/ 1905 w 2543556"/>
              <a:gd name="csY9" fmla="*/ 296361 h 896112"/>
              <a:gd name="csX10" fmla="*/ 1524 w 2543556"/>
              <a:gd name="csY10" fmla="*/ 149355 h 896112"/>
              <a:gd name="csX0" fmla="*/ 1524 w 2543556"/>
              <a:gd name="csY0" fmla="*/ 149355 h 896112"/>
              <a:gd name="csX1" fmla="*/ 150879 w 2543556"/>
              <a:gd name="csY1" fmla="*/ 0 h 896112"/>
              <a:gd name="csX2" fmla="*/ 2394201 w 2543556"/>
              <a:gd name="csY2" fmla="*/ 0 h 896112"/>
              <a:gd name="csX3" fmla="*/ 2543556 w 2543556"/>
              <a:gd name="csY3" fmla="*/ 149355 h 896112"/>
              <a:gd name="csX4" fmla="*/ 2543175 w 2543556"/>
              <a:gd name="csY4" fmla="*/ 456381 h 896112"/>
              <a:gd name="csX5" fmla="*/ 2543556 w 2543556"/>
              <a:gd name="csY5" fmla="*/ 746757 h 896112"/>
              <a:gd name="csX6" fmla="*/ 2394201 w 2543556"/>
              <a:gd name="csY6" fmla="*/ 896112 h 896112"/>
              <a:gd name="csX7" fmla="*/ 150879 w 2543556"/>
              <a:gd name="csY7" fmla="*/ 896112 h 896112"/>
              <a:gd name="csX8" fmla="*/ 1524 w 2543556"/>
              <a:gd name="csY8" fmla="*/ 746757 h 896112"/>
              <a:gd name="csX9" fmla="*/ 0 w 2543556"/>
              <a:gd name="csY9" fmla="*/ 599256 h 896112"/>
              <a:gd name="csX10" fmla="*/ 1905 w 2543556"/>
              <a:gd name="csY10" fmla="*/ 296361 h 896112"/>
              <a:gd name="csX11" fmla="*/ 1524 w 2543556"/>
              <a:gd name="csY11" fmla="*/ 149355 h 896112"/>
              <a:gd name="csX0" fmla="*/ 1524 w 2543556"/>
              <a:gd name="csY0" fmla="*/ 149355 h 896112"/>
              <a:gd name="csX1" fmla="*/ 150879 w 2543556"/>
              <a:gd name="csY1" fmla="*/ 0 h 896112"/>
              <a:gd name="csX2" fmla="*/ 2394201 w 2543556"/>
              <a:gd name="csY2" fmla="*/ 0 h 896112"/>
              <a:gd name="csX3" fmla="*/ 2543556 w 2543556"/>
              <a:gd name="csY3" fmla="*/ 149355 h 896112"/>
              <a:gd name="csX4" fmla="*/ 2543175 w 2543556"/>
              <a:gd name="csY4" fmla="*/ 456381 h 896112"/>
              <a:gd name="csX5" fmla="*/ 2543556 w 2543556"/>
              <a:gd name="csY5" fmla="*/ 746757 h 896112"/>
              <a:gd name="csX6" fmla="*/ 2394201 w 2543556"/>
              <a:gd name="csY6" fmla="*/ 896112 h 896112"/>
              <a:gd name="csX7" fmla="*/ 150879 w 2543556"/>
              <a:gd name="csY7" fmla="*/ 896112 h 896112"/>
              <a:gd name="csX8" fmla="*/ 1524 w 2543556"/>
              <a:gd name="csY8" fmla="*/ 746757 h 896112"/>
              <a:gd name="csX9" fmla="*/ 0 w 2543556"/>
              <a:gd name="csY9" fmla="*/ 599256 h 896112"/>
              <a:gd name="csX10" fmla="*/ 1905 w 2543556"/>
              <a:gd name="csY10" fmla="*/ 296361 h 896112"/>
              <a:gd name="csX11" fmla="*/ 1524 w 2543556"/>
              <a:gd name="csY11" fmla="*/ 149355 h 8961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2543556" h="896112">
                <a:moveTo>
                  <a:pt x="1524" y="149355"/>
                </a:moveTo>
                <a:cubicBezTo>
                  <a:pt x="1524" y="66869"/>
                  <a:pt x="68393" y="0"/>
                  <a:pt x="150879" y="0"/>
                </a:cubicBezTo>
                <a:lnTo>
                  <a:pt x="2394201" y="0"/>
                </a:lnTo>
                <a:cubicBezTo>
                  <a:pt x="2476687" y="0"/>
                  <a:pt x="2543556" y="66869"/>
                  <a:pt x="2543556" y="149355"/>
                </a:cubicBezTo>
                <a:lnTo>
                  <a:pt x="2543175" y="456381"/>
                </a:lnTo>
                <a:cubicBezTo>
                  <a:pt x="2543365" y="601569"/>
                  <a:pt x="2543429" y="649965"/>
                  <a:pt x="2543556" y="746757"/>
                </a:cubicBezTo>
                <a:cubicBezTo>
                  <a:pt x="2543556" y="829243"/>
                  <a:pt x="2476687" y="896112"/>
                  <a:pt x="2394201" y="896112"/>
                </a:cubicBezTo>
                <a:lnTo>
                  <a:pt x="150879" y="896112"/>
                </a:lnTo>
                <a:cubicBezTo>
                  <a:pt x="68393" y="896112"/>
                  <a:pt x="1524" y="829243"/>
                  <a:pt x="1524" y="746757"/>
                </a:cubicBezTo>
                <a:lnTo>
                  <a:pt x="0" y="599256"/>
                </a:lnTo>
                <a:cubicBezTo>
                  <a:pt x="952" y="447808"/>
                  <a:pt x="1270" y="397326"/>
                  <a:pt x="1905" y="296361"/>
                </a:cubicBezTo>
                <a:cubicBezTo>
                  <a:pt x="1714" y="222858"/>
                  <a:pt x="1651" y="198357"/>
                  <a:pt x="1524" y="14935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Agent</a:t>
            </a:r>
          </a:p>
        </p:txBody>
      </p:sp>
      <p:cxnSp>
        <p:nvCxnSpPr>
          <p:cNvPr id="29" name="Verbinder: gewinkelt 28">
            <a:extLst>
              <a:ext uri="{FF2B5EF4-FFF2-40B4-BE49-F238E27FC236}">
                <a16:creationId xmlns:a16="http://schemas.microsoft.com/office/drawing/2014/main" id="{45810ACB-FA08-3425-D4D8-71CC07187BCF}"/>
              </a:ext>
            </a:extLst>
          </p:cNvPr>
          <p:cNvCxnSpPr>
            <a:cxnSpLocks/>
            <a:stCxn id="6" idx="10"/>
            <a:endCxn id="25" idx="8"/>
          </p:cNvCxnSpPr>
          <p:nvPr/>
        </p:nvCxnSpPr>
        <p:spPr>
          <a:xfrm flipH="1" flipV="1">
            <a:off x="4824984" y="3455613"/>
            <a:ext cx="381" cy="1499292"/>
          </a:xfrm>
          <a:prstGeom prst="bentConnector3">
            <a:avLst>
              <a:gd name="adj1" fmla="val 10644829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Verbinder: gewinkelt 32">
            <a:extLst>
              <a:ext uri="{FF2B5EF4-FFF2-40B4-BE49-F238E27FC236}">
                <a16:creationId xmlns:a16="http://schemas.microsoft.com/office/drawing/2014/main" id="{B8193FEE-4251-BEFD-7284-A578A9675B55}"/>
              </a:ext>
            </a:extLst>
          </p:cNvPr>
          <p:cNvCxnSpPr>
            <a:cxnSpLocks/>
            <a:stCxn id="6" idx="9"/>
            <a:endCxn id="25" idx="10"/>
          </p:cNvCxnSpPr>
          <p:nvPr/>
        </p:nvCxnSpPr>
        <p:spPr>
          <a:xfrm flipV="1">
            <a:off x="4823460" y="3005217"/>
            <a:ext cx="1905" cy="2252583"/>
          </a:xfrm>
          <a:prstGeom prst="bentConnector3">
            <a:avLst>
              <a:gd name="adj1" fmla="val -4854451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feld 36">
            <a:extLst>
              <a:ext uri="{FF2B5EF4-FFF2-40B4-BE49-F238E27FC236}">
                <a16:creationId xmlns:a16="http://schemas.microsoft.com/office/drawing/2014/main" id="{B945E3D6-7FC3-35FC-420E-DAE96A7A14B7}"/>
              </a:ext>
            </a:extLst>
          </p:cNvPr>
          <p:cNvSpPr txBox="1"/>
          <p:nvPr/>
        </p:nvSpPr>
        <p:spPr>
          <a:xfrm>
            <a:off x="7931551" y="3946842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Action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13F1E265-34DD-727D-BCC0-C53D483DC47E}"/>
              </a:ext>
            </a:extLst>
          </p:cNvPr>
          <p:cNvSpPr txBox="1"/>
          <p:nvPr/>
        </p:nvSpPr>
        <p:spPr>
          <a:xfrm>
            <a:off x="4427220" y="3946842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Reward</a:t>
            </a:r>
            <a:endParaRPr lang="de-DE" dirty="0"/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D76CE9B5-1A71-2AC8-620E-640619E5356A}"/>
              </a:ext>
            </a:extLst>
          </p:cNvPr>
          <p:cNvSpPr txBox="1"/>
          <p:nvPr/>
        </p:nvSpPr>
        <p:spPr>
          <a:xfrm>
            <a:off x="3175948" y="3961764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State</a:t>
            </a:r>
          </a:p>
        </p:txBody>
      </p:sp>
    </p:spTree>
    <p:extLst>
      <p:ext uri="{BB962C8B-B14F-4D97-AF65-F5344CB8AC3E}">
        <p14:creationId xmlns:p14="http://schemas.microsoft.com/office/powerpoint/2010/main" val="1819024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8DE27-C589-D5D1-1CE6-935220AA6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C115738D-7222-618D-6C3E-6AE10A441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Methods [2]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82ECEA4-28B1-457F-561F-2BF1E5DDF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E06AF3E4-A4C3-C0ED-144F-C8129BDA7620}"/>
              </a:ext>
            </a:extLst>
          </p:cNvPr>
          <p:cNvSpPr/>
          <p:nvPr/>
        </p:nvSpPr>
        <p:spPr>
          <a:xfrm>
            <a:off x="4835779" y="1810800"/>
            <a:ext cx="2543556" cy="89611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Reinforcement Learning</a:t>
            </a: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FA6AF5E9-12C0-FA07-1C06-E70060DBF035}"/>
              </a:ext>
            </a:extLst>
          </p:cNvPr>
          <p:cNvSpPr/>
          <p:nvPr/>
        </p:nvSpPr>
        <p:spPr>
          <a:xfrm>
            <a:off x="2292223" y="2974848"/>
            <a:ext cx="2543556" cy="89611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Traditional Methods</a:t>
            </a:r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C28A637D-074F-7092-1395-5D706D2B8CB2}"/>
              </a:ext>
            </a:extLst>
          </p:cNvPr>
          <p:cNvSpPr/>
          <p:nvPr/>
        </p:nvSpPr>
        <p:spPr>
          <a:xfrm>
            <a:off x="7379335" y="2980944"/>
            <a:ext cx="2543556" cy="89611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Modern Methods</a:t>
            </a:r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C2A87782-9A7A-EC5B-64D8-EDDAFDAC2FE1}"/>
              </a:ext>
            </a:extLst>
          </p:cNvPr>
          <p:cNvSpPr/>
          <p:nvPr/>
        </p:nvSpPr>
        <p:spPr>
          <a:xfrm>
            <a:off x="492223" y="4262628"/>
            <a:ext cx="1800000" cy="89611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Value-</a:t>
            </a:r>
            <a:r>
              <a:rPr lang="de-DE" dirty="0" err="1">
                <a:solidFill>
                  <a:schemeClr val="tx1"/>
                </a:solidFill>
              </a:rPr>
              <a:t>based</a:t>
            </a:r>
            <a:endParaRPr lang="de-DE" dirty="0">
              <a:solidFill>
                <a:schemeClr val="tx1"/>
              </a:solidFill>
            </a:endParaRP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(Q-</a:t>
            </a:r>
            <a:r>
              <a:rPr lang="de-DE" sz="1200" dirty="0" err="1">
                <a:solidFill>
                  <a:schemeClr val="tx1"/>
                </a:solidFill>
              </a:rPr>
              <a:t>learning</a:t>
            </a:r>
            <a:r>
              <a:rPr lang="de-DE" sz="12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ABF5371E-821F-9F13-3038-935C15581C58}"/>
              </a:ext>
            </a:extLst>
          </p:cNvPr>
          <p:cNvSpPr/>
          <p:nvPr/>
        </p:nvSpPr>
        <p:spPr>
          <a:xfrm>
            <a:off x="2664001" y="4262628"/>
            <a:ext cx="1800000" cy="89611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Policy-</a:t>
            </a:r>
            <a:r>
              <a:rPr lang="de-DE" dirty="0" err="1">
                <a:solidFill>
                  <a:schemeClr val="tx1"/>
                </a:solidFill>
              </a:rPr>
              <a:t>based</a:t>
            </a:r>
            <a:endParaRPr lang="de-DE" dirty="0">
              <a:solidFill>
                <a:schemeClr val="tx1"/>
              </a:solidFill>
            </a:endParaRP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(REINFORCE, SCST)</a:t>
            </a:r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E3E3D646-1486-21E3-E020-11AF8545BC2D}"/>
              </a:ext>
            </a:extLst>
          </p:cNvPr>
          <p:cNvSpPr/>
          <p:nvPr/>
        </p:nvSpPr>
        <p:spPr>
          <a:xfrm>
            <a:off x="4835779" y="4262628"/>
            <a:ext cx="1800000" cy="89611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Action-</a:t>
            </a:r>
            <a:r>
              <a:rPr lang="de-DE" dirty="0" err="1">
                <a:solidFill>
                  <a:schemeClr val="tx1"/>
                </a:solidFill>
              </a:rPr>
              <a:t>critic</a:t>
            </a:r>
            <a:endParaRPr lang="de-DE" dirty="0">
              <a:solidFill>
                <a:schemeClr val="tx1"/>
              </a:solidFill>
            </a:endParaRP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(PPO)</a:t>
            </a:r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445E53C7-7906-F000-D9A7-8004AE00884E}"/>
              </a:ext>
            </a:extLst>
          </p:cNvPr>
          <p:cNvSpPr/>
          <p:nvPr/>
        </p:nvSpPr>
        <p:spPr>
          <a:xfrm>
            <a:off x="7751113" y="4262628"/>
            <a:ext cx="1800000" cy="89611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Preference-</a:t>
            </a:r>
            <a:r>
              <a:rPr lang="de-DE" dirty="0" err="1">
                <a:solidFill>
                  <a:schemeClr val="tx1"/>
                </a:solidFill>
              </a:rPr>
              <a:t>based</a:t>
            </a:r>
            <a:endParaRPr lang="de-DE" dirty="0">
              <a:solidFill>
                <a:schemeClr val="tx1"/>
              </a:solidFill>
            </a:endParaRP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(RLHF, DPO)</a:t>
            </a:r>
          </a:p>
        </p:txBody>
      </p:sp>
      <p:cxnSp>
        <p:nvCxnSpPr>
          <p:cNvPr id="34" name="Verbinder: gewinkelt 33">
            <a:extLst>
              <a:ext uri="{FF2B5EF4-FFF2-40B4-BE49-F238E27FC236}">
                <a16:creationId xmlns:a16="http://schemas.microsoft.com/office/drawing/2014/main" id="{E01F66C8-6385-A812-87F1-D8502D94F06D}"/>
              </a:ext>
            </a:extLst>
          </p:cNvPr>
          <p:cNvCxnSpPr>
            <a:stCxn id="23" idx="3"/>
            <a:endCxn id="26" idx="0"/>
          </p:cNvCxnSpPr>
          <p:nvPr/>
        </p:nvCxnSpPr>
        <p:spPr>
          <a:xfrm>
            <a:off x="7379335" y="2258856"/>
            <a:ext cx="1271778" cy="722088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Verbinder: gewinkelt 34">
            <a:extLst>
              <a:ext uri="{FF2B5EF4-FFF2-40B4-BE49-F238E27FC236}">
                <a16:creationId xmlns:a16="http://schemas.microsoft.com/office/drawing/2014/main" id="{6D201B1A-95A8-0DE5-7C8B-F6C7CE944B7A}"/>
              </a:ext>
            </a:extLst>
          </p:cNvPr>
          <p:cNvCxnSpPr>
            <a:cxnSpLocks/>
            <a:stCxn id="23" idx="1"/>
            <a:endCxn id="24" idx="0"/>
          </p:cNvCxnSpPr>
          <p:nvPr/>
        </p:nvCxnSpPr>
        <p:spPr>
          <a:xfrm rot="10800000" flipV="1">
            <a:off x="3564001" y="2258856"/>
            <a:ext cx="1271778" cy="71599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Verbinder: gewinkelt 49">
            <a:extLst>
              <a:ext uri="{FF2B5EF4-FFF2-40B4-BE49-F238E27FC236}">
                <a16:creationId xmlns:a16="http://schemas.microsoft.com/office/drawing/2014/main" id="{F7797E47-04D2-C34F-7B4F-01FBC6BD56AF}"/>
              </a:ext>
            </a:extLst>
          </p:cNvPr>
          <p:cNvCxnSpPr>
            <a:cxnSpLocks/>
            <a:stCxn id="24" idx="1"/>
            <a:endCxn id="27" idx="0"/>
          </p:cNvCxnSpPr>
          <p:nvPr/>
        </p:nvCxnSpPr>
        <p:spPr>
          <a:xfrm rot="10800000" flipV="1">
            <a:off x="1392223" y="3422904"/>
            <a:ext cx="900000" cy="839724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Verbinder: gewinkelt 52">
            <a:extLst>
              <a:ext uri="{FF2B5EF4-FFF2-40B4-BE49-F238E27FC236}">
                <a16:creationId xmlns:a16="http://schemas.microsoft.com/office/drawing/2014/main" id="{759B5313-7F86-E0CA-0E14-315D68DB2D65}"/>
              </a:ext>
            </a:extLst>
          </p:cNvPr>
          <p:cNvCxnSpPr>
            <a:cxnSpLocks/>
            <a:stCxn id="24" idx="3"/>
            <a:endCxn id="30" idx="0"/>
          </p:cNvCxnSpPr>
          <p:nvPr/>
        </p:nvCxnSpPr>
        <p:spPr>
          <a:xfrm>
            <a:off x="4835779" y="3422904"/>
            <a:ext cx="900000" cy="839724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EE2E151C-D3D8-7AAA-F0AF-4EDD449ECB76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3564001" y="3870960"/>
            <a:ext cx="0" cy="3916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BE3E9C00-24E8-B164-D59E-858B04BD200D}"/>
              </a:ext>
            </a:extLst>
          </p:cNvPr>
          <p:cNvCxnSpPr>
            <a:cxnSpLocks/>
            <a:stCxn id="26" idx="2"/>
            <a:endCxn id="31" idx="0"/>
          </p:cNvCxnSpPr>
          <p:nvPr/>
        </p:nvCxnSpPr>
        <p:spPr>
          <a:xfrm>
            <a:off x="8651113" y="3877056"/>
            <a:ext cx="0" cy="38557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5178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74616-86A0-AC74-0424-9B9C67699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5BA7B5-2737-8952-DA81-609B417B17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Algorithms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35EEDA9-46DB-49FB-1AD5-23FD63D021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4842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27CE6DE1-6809-F4A3-653E-968805CB10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3038" y="3264310"/>
            <a:ext cx="11484000" cy="2441690"/>
          </a:xfrm>
        </p:spPr>
        <p:txBody>
          <a:bodyPr anchor="ctr"/>
          <a:lstStyle/>
          <a:p>
            <a:r>
              <a:rPr lang="en-US" dirty="0"/>
              <a:t>Increases the likelihood of action sequences that obtain high returns</a:t>
            </a:r>
          </a:p>
          <a:p>
            <a:r>
              <a:rPr lang="en-US" dirty="0"/>
              <a:t>Simple</a:t>
            </a:r>
          </a:p>
          <a:p>
            <a:r>
              <a:rPr lang="en-US" dirty="0"/>
              <a:t>Unbiased gradient estimator, i.e. it updates in the correct direction</a:t>
            </a:r>
          </a:p>
          <a:p>
            <a:r>
              <a:rPr lang="en-US" dirty="0"/>
              <a:t>Has high variance because it relies on Monte-Carlo returns 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D03640D-FA64-DFA6-E1C4-06A13A2F8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REINFORCE [3]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D68FE33-923D-D7E1-EC5B-37BFB762F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Policy-</a:t>
            </a:r>
            <a:r>
              <a:rPr lang="de-DE" dirty="0" err="1"/>
              <a:t>based</a:t>
            </a:r>
            <a:r>
              <a:rPr lang="de-DE" dirty="0"/>
              <a:t> </a:t>
            </a:r>
            <a:r>
              <a:rPr lang="de-DE" dirty="0" err="1"/>
              <a:t>method</a:t>
            </a:r>
            <a:endParaRPr lang="de-DE" dirty="0"/>
          </a:p>
        </p:txBody>
      </p:sp>
      <p:pic>
        <p:nvPicPr>
          <p:cNvPr id="6" name="Grafik 5" descr="Ein Bild, das Schrift, Text, weiß, Reihe enthält.&#10;&#10;KI-generierte Inhalte können fehlerhaft sein.">
            <a:extLst>
              <a:ext uri="{FF2B5EF4-FFF2-40B4-BE49-F238E27FC236}">
                <a16:creationId xmlns:a16="http://schemas.microsoft.com/office/drawing/2014/main" id="{B736F26D-5FD3-ECD3-78A3-2EEEA9AAF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304" y="1810800"/>
            <a:ext cx="5625392" cy="11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536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CC1E2-A073-F820-9E17-3DE2C4783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2E3A1113-14A2-66FB-4E7F-EB83E923CF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3038" y="3264310"/>
            <a:ext cx="11484000" cy="2441690"/>
          </a:xfrm>
        </p:spPr>
        <p:txBody>
          <a:bodyPr anchor="ctr"/>
          <a:lstStyle/>
          <a:p>
            <a:r>
              <a:rPr lang="en-US" dirty="0"/>
              <a:t>Modifies REINFORCE by using the model’s own greedy-decoded sequence as a </a:t>
            </a:r>
            <a:r>
              <a:rPr lang="en-US" b="1" dirty="0"/>
              <a:t>baseline</a:t>
            </a:r>
            <a:r>
              <a:rPr lang="en-US" dirty="0"/>
              <a:t>(choosing the next token by highest probability)</a:t>
            </a:r>
          </a:p>
          <a:p>
            <a:r>
              <a:rPr lang="en-US" dirty="0"/>
              <a:t>Reduces gradient variance</a:t>
            </a:r>
          </a:p>
          <a:p>
            <a:r>
              <a:rPr lang="en-US" dirty="0"/>
              <a:t>Directly optimizes sequence-level metrics (e.g., </a:t>
            </a:r>
            <a:r>
              <a:rPr lang="en-US" dirty="0" err="1"/>
              <a:t>CIDEr</a:t>
            </a:r>
            <a:r>
              <a:rPr lang="en-US" dirty="0"/>
              <a:t>, BLEU) without requiring a critic network.</a:t>
            </a:r>
          </a:p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2C2268F-686F-6CDB-831B-97EE181E3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Self-Critical </a:t>
            </a:r>
            <a:r>
              <a:rPr lang="de-DE" dirty="0" err="1"/>
              <a:t>Sequence</a:t>
            </a:r>
            <a:r>
              <a:rPr lang="de-DE" dirty="0"/>
              <a:t> Training</a:t>
            </a:r>
            <a:r>
              <a:rPr lang="de-DE" b="0" dirty="0"/>
              <a:t> </a:t>
            </a:r>
            <a:r>
              <a:rPr lang="de-DE" dirty="0"/>
              <a:t>(SCST) [4]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B9006BB-F640-0C4F-5F43-A16238D1F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Policy-</a:t>
            </a:r>
            <a:r>
              <a:rPr lang="de-DE" dirty="0" err="1"/>
              <a:t>based</a:t>
            </a:r>
            <a:r>
              <a:rPr lang="de-DE" dirty="0"/>
              <a:t> </a:t>
            </a:r>
            <a:r>
              <a:rPr lang="de-DE" dirty="0" err="1"/>
              <a:t>method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5AC0CC8-2AFC-3974-15CF-5C531C94E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205" y="2107950"/>
            <a:ext cx="6047590" cy="53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726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5CE62-5848-4DFB-2543-21094CD73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1467C38-3703-CD0A-FB6C-09B3DAD648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3038" y="3264310"/>
            <a:ext cx="11484000" cy="2441690"/>
          </a:xfrm>
        </p:spPr>
        <p:txBody>
          <a:bodyPr anchor="ctr"/>
          <a:lstStyle/>
          <a:p>
            <a:r>
              <a:rPr lang="en-US" dirty="0"/>
              <a:t>Prevents large, destabilizing updates. </a:t>
            </a:r>
          </a:p>
          <a:p>
            <a:r>
              <a:rPr lang="en-US" dirty="0"/>
              <a:t>One of the most widely used deep RL algorithms</a:t>
            </a:r>
          </a:p>
          <a:p>
            <a:r>
              <a:rPr lang="en-US" dirty="0"/>
              <a:t>Stable</a:t>
            </a:r>
          </a:p>
          <a:p>
            <a:r>
              <a:rPr lang="en-US" dirty="0"/>
              <a:t>Sample-efficient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E1A3C23-24C7-87F7-90D3-949DD01D9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Proximal Policy </a:t>
            </a:r>
            <a:r>
              <a:rPr lang="de-DE" dirty="0" err="1"/>
              <a:t>Optimization</a:t>
            </a:r>
            <a:r>
              <a:rPr lang="de-DE" b="0" dirty="0"/>
              <a:t> </a:t>
            </a:r>
            <a:r>
              <a:rPr lang="de-DE" dirty="0"/>
              <a:t>(PPO) [5]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69A4BC8-476A-249D-189A-3694D3956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Actor-</a:t>
            </a:r>
            <a:r>
              <a:rPr lang="de-DE" dirty="0" err="1"/>
              <a:t>critic</a:t>
            </a:r>
            <a:r>
              <a:rPr lang="de-DE" dirty="0"/>
              <a:t> </a:t>
            </a:r>
            <a:r>
              <a:rPr lang="de-DE" dirty="0" err="1"/>
              <a:t>method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F9BBB57-9BAE-5E91-0B33-8EB9C7B55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4159" y="2151948"/>
            <a:ext cx="7603681" cy="58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986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A8AC3-DB7A-A4CB-E03F-9E1C88DB2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16B1C3D4-D382-23B7-20F6-107CE6EBC9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3038" y="3264310"/>
            <a:ext cx="11484000" cy="2441690"/>
          </a:xfrm>
        </p:spPr>
        <p:txBody>
          <a:bodyPr anchor="ctr"/>
          <a:lstStyle/>
          <a:p>
            <a:r>
              <a:rPr lang="en-US" dirty="0"/>
              <a:t>Learns a reward model from human-labeled preference data and optimize policy </a:t>
            </a:r>
            <a:r>
              <a:rPr lang="en-US" dirty="0" err="1"/>
              <a:t>w.r.t.</a:t>
            </a:r>
            <a:r>
              <a:rPr lang="en-US" dirty="0"/>
              <a:t> this reward</a:t>
            </a:r>
          </a:p>
          <a:p>
            <a:r>
              <a:rPr lang="de-DE" dirty="0" err="1"/>
              <a:t>Aligns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human </a:t>
            </a:r>
            <a:r>
              <a:rPr lang="de-DE" dirty="0" err="1"/>
              <a:t>preferences</a:t>
            </a:r>
            <a:endParaRPr lang="de-DE" dirty="0"/>
          </a:p>
          <a:p>
            <a:r>
              <a:rPr lang="de-DE" dirty="0"/>
              <a:t>Works </a:t>
            </a:r>
            <a:r>
              <a:rPr lang="de-DE" dirty="0" err="1"/>
              <a:t>well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language</a:t>
            </a:r>
            <a:r>
              <a:rPr lang="de-DE" dirty="0"/>
              <a:t> </a:t>
            </a:r>
            <a:r>
              <a:rPr lang="de-DE" dirty="0" err="1"/>
              <a:t>quality</a:t>
            </a:r>
            <a:endParaRPr lang="de-DE" dirty="0"/>
          </a:p>
          <a:p>
            <a:r>
              <a:rPr lang="de-DE" dirty="0" err="1"/>
              <a:t>Requires</a:t>
            </a:r>
            <a:r>
              <a:rPr lang="de-DE" dirty="0"/>
              <a:t> expensive human </a:t>
            </a:r>
            <a:r>
              <a:rPr lang="de-DE" dirty="0" err="1"/>
              <a:t>labeling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B63A52A-3748-EC63-8412-75D036595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Reinforcement Learning </a:t>
            </a:r>
            <a:r>
              <a:rPr lang="de-DE" dirty="0" err="1"/>
              <a:t>with</a:t>
            </a:r>
            <a:r>
              <a:rPr lang="de-DE" dirty="0"/>
              <a:t> Human Feedback (RLHF) [6]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1369A0F-5EE8-6EB4-495A-CC8E2EAF2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Preference-</a:t>
            </a:r>
            <a:r>
              <a:rPr lang="de-DE" dirty="0" err="1"/>
              <a:t>based</a:t>
            </a:r>
            <a:r>
              <a:rPr lang="de-DE" dirty="0"/>
              <a:t> </a:t>
            </a:r>
            <a:r>
              <a:rPr lang="de-DE" dirty="0" err="1"/>
              <a:t>method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CB4571D-9541-3039-A8F8-2EF958C8D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1587" y="2176689"/>
            <a:ext cx="7688826" cy="63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655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C0106-61C8-6B96-7115-B9E5788B0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E7E8FD0-5311-1F3D-A541-67094D6C78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3038" y="3264310"/>
            <a:ext cx="11484000" cy="2441690"/>
          </a:xfrm>
        </p:spPr>
        <p:txBody>
          <a:bodyPr anchor="ctr"/>
          <a:lstStyle/>
          <a:p>
            <a:r>
              <a:rPr lang="en-US" dirty="0"/>
              <a:t>Directly optimizes the model using pairs of preferred vs. rejected outputs</a:t>
            </a:r>
          </a:p>
          <a:p>
            <a:r>
              <a:rPr lang="en-US" dirty="0"/>
              <a:t>Widely used for LLM alignment</a:t>
            </a:r>
          </a:p>
          <a:p>
            <a:r>
              <a:rPr lang="en-US" dirty="0"/>
              <a:t>Avoids reinforcement learning rollouts</a:t>
            </a:r>
          </a:p>
          <a:p>
            <a:r>
              <a:rPr lang="en-US" dirty="0"/>
              <a:t>Stable, efficient, and easy to train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3868453-EA26-5CCE-E8E9-26136E2F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Direct</a:t>
            </a:r>
            <a:r>
              <a:rPr lang="de-DE" dirty="0"/>
              <a:t> Preference </a:t>
            </a:r>
            <a:r>
              <a:rPr lang="de-DE" dirty="0" err="1"/>
              <a:t>Optimization</a:t>
            </a:r>
            <a:r>
              <a:rPr lang="de-DE" dirty="0"/>
              <a:t> (DPO) [7]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AA771F1-B28C-B4A0-36E1-523FD1D58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Preference-</a:t>
            </a:r>
            <a:r>
              <a:rPr lang="de-DE" dirty="0" err="1"/>
              <a:t>based</a:t>
            </a:r>
            <a:r>
              <a:rPr lang="de-DE" dirty="0"/>
              <a:t> </a:t>
            </a:r>
            <a:r>
              <a:rPr lang="de-DE" dirty="0" err="1"/>
              <a:t>method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01C9122-B655-D8E4-C793-F17BA2C89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05" y="2224568"/>
            <a:ext cx="12119466" cy="54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243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1A8D8316-65E7-F62B-9B01-250BB7FB9C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3038" y="1071715"/>
            <a:ext cx="11484000" cy="4689987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Part 1: Key Concepts in RL — Spinning Up  documentation. (n.d.). </a:t>
            </a:r>
            <a:r>
              <a:rPr lang="en-US" dirty="0">
                <a:hlinkClick r:id="rId2"/>
              </a:rPr>
              <a:t>https://spinningup.openai.com/en/latest/spinningup/rl_intro.html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Part 2: Kinds of RL Algorithms — Spinning Up  documentation. (n.d.). </a:t>
            </a:r>
            <a:r>
              <a:rPr lang="en-US" dirty="0">
                <a:hlinkClick r:id="rId3"/>
              </a:rPr>
              <a:t>https://spinningup.openai.com/en/latest/spinningup/rl_intro2.html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Williams, R. J. (1992). Simple statistical gradient-following algorithms for connectionist reinforcement learning. </a:t>
            </a:r>
            <a:r>
              <a:rPr lang="en-US" i="1" dirty="0"/>
              <a:t>Machine learning</a:t>
            </a:r>
            <a:r>
              <a:rPr lang="en-US" dirty="0"/>
              <a:t>, </a:t>
            </a:r>
            <a:r>
              <a:rPr lang="en-US" i="1" dirty="0"/>
              <a:t>8</a:t>
            </a:r>
            <a:r>
              <a:rPr lang="en-US" dirty="0"/>
              <a:t>(3), 229-256.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Rennie, S. J., </a:t>
            </a:r>
            <a:r>
              <a:rPr lang="en-US" dirty="0" err="1"/>
              <a:t>Marcheret</a:t>
            </a:r>
            <a:r>
              <a:rPr lang="en-US" dirty="0"/>
              <a:t>, E., </a:t>
            </a:r>
            <a:r>
              <a:rPr lang="en-US" dirty="0" err="1"/>
              <a:t>Mroueh</a:t>
            </a:r>
            <a:r>
              <a:rPr lang="en-US" dirty="0"/>
              <a:t>, Y., Ross, J., &amp; Goel, V. (2017). Self-critical sequence training for image captioning. In </a:t>
            </a:r>
            <a:r>
              <a:rPr lang="en-US" i="1" dirty="0"/>
              <a:t>Proceedings of the IEEE conference on computer vision and pattern recognition</a:t>
            </a:r>
            <a:r>
              <a:rPr lang="en-US" dirty="0"/>
              <a:t> (pp. 7008-7024).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Schulman, J., Wolski, F., </a:t>
            </a:r>
            <a:r>
              <a:rPr lang="de-DE" dirty="0" err="1"/>
              <a:t>Dhariwal</a:t>
            </a:r>
            <a:r>
              <a:rPr lang="de-DE" dirty="0"/>
              <a:t>, P., Radford, A., &amp; </a:t>
            </a:r>
            <a:r>
              <a:rPr lang="de-DE" dirty="0" err="1"/>
              <a:t>Klimov</a:t>
            </a:r>
            <a:r>
              <a:rPr lang="de-DE" dirty="0"/>
              <a:t>, O. (2017). Proximal </a:t>
            </a:r>
            <a:r>
              <a:rPr lang="de-DE" dirty="0" err="1"/>
              <a:t>policy</a:t>
            </a:r>
            <a:r>
              <a:rPr lang="de-DE" dirty="0"/>
              <a:t> </a:t>
            </a:r>
            <a:r>
              <a:rPr lang="de-DE" dirty="0" err="1"/>
              <a:t>optimization</a:t>
            </a:r>
            <a:r>
              <a:rPr lang="de-DE" dirty="0"/>
              <a:t> </a:t>
            </a:r>
            <a:r>
              <a:rPr lang="de-DE" dirty="0" err="1"/>
              <a:t>algorithms</a:t>
            </a:r>
            <a:r>
              <a:rPr lang="de-DE" dirty="0"/>
              <a:t>. </a:t>
            </a:r>
            <a:r>
              <a:rPr lang="de-DE" i="1" dirty="0" err="1"/>
              <a:t>arXiv</a:t>
            </a:r>
            <a:r>
              <a:rPr lang="de-DE" i="1" dirty="0"/>
              <a:t> </a:t>
            </a:r>
            <a:r>
              <a:rPr lang="de-DE" i="1" dirty="0" err="1"/>
              <a:t>preprint</a:t>
            </a:r>
            <a:r>
              <a:rPr lang="de-DE" i="1" dirty="0"/>
              <a:t> arXiv:1707.06347</a:t>
            </a:r>
            <a:r>
              <a:rPr lang="de-DE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Christiano, P. F., </a:t>
            </a:r>
            <a:r>
              <a:rPr lang="en-US" dirty="0" err="1"/>
              <a:t>Leike</a:t>
            </a:r>
            <a:r>
              <a:rPr lang="en-US" dirty="0"/>
              <a:t>, J., Brown, T., Martic, M., Legg, S., &amp; Amodei, D. (2017). Deep reinforcement learning from human preferences. </a:t>
            </a:r>
            <a:r>
              <a:rPr lang="en-US" i="1" dirty="0"/>
              <a:t>Advances in neural information processing systems</a:t>
            </a:r>
            <a:r>
              <a:rPr lang="en-US" dirty="0"/>
              <a:t>, </a:t>
            </a:r>
            <a:r>
              <a:rPr lang="en-US" i="1" dirty="0"/>
              <a:t>30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Rafailov, R., Sharma, A., Mitchell, E., Manning, C. D., Ermon, S., &amp; Finn, C. (2023). Direct preference optimization: Your language model is secretly a reward model. </a:t>
            </a:r>
            <a:r>
              <a:rPr lang="en-US" i="1" dirty="0"/>
              <a:t>Advances in neural information processing systems</a:t>
            </a:r>
            <a:r>
              <a:rPr lang="en-US" dirty="0"/>
              <a:t>, </a:t>
            </a:r>
            <a:r>
              <a:rPr lang="en-US" i="1" dirty="0"/>
              <a:t>36</a:t>
            </a:r>
            <a:r>
              <a:rPr lang="en-US" dirty="0"/>
              <a:t>, 53728-53741.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B098B0F-C639-273F-1FE4-C2BC64B00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878831089"/>
      </p:ext>
    </p:extLst>
  </p:cSld>
  <p:clrMapOvr>
    <a:masterClrMapping/>
  </p:clrMapOvr>
</p:sld>
</file>

<file path=ppt/theme/theme1.xml><?xml version="1.0" encoding="utf-8"?>
<a:theme xmlns:a="http://schemas.openxmlformats.org/drawingml/2006/main" name="Präsentation_Master_RWTH_Institute_16zu9">
  <a:themeElements>
    <a:clrScheme name="RWTH Farben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6165"/>
      </a:accent1>
      <a:accent2>
        <a:srgbClr val="0098A1"/>
      </a:accent2>
      <a:accent3>
        <a:srgbClr val="57AB27"/>
      </a:accent3>
      <a:accent4>
        <a:srgbClr val="BDCD00"/>
      </a:accent4>
      <a:accent5>
        <a:srgbClr val="F6A800"/>
      </a:accent5>
      <a:accent6>
        <a:srgbClr val="CC071E"/>
      </a:accent6>
      <a:hlink>
        <a:srgbClr val="612158"/>
      </a:hlink>
      <a:folHlink>
        <a:srgbClr val="7A6FA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5_Presentation_Template.potx" id="{7171C32C-714E-4AC9-8070-78E18E66E008}" vid="{0D342B9F-AA1A-4E22-AFF2-99CA19B7D0F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ReinforcementLearning</Template>
  <TotalTime>0</TotalTime>
  <Words>592</Words>
  <Application>Microsoft Office PowerPoint</Application>
  <PresentationFormat>Breitbild</PresentationFormat>
  <Paragraphs>65</Paragraphs>
  <Slides>11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8" baseType="lpstr">
      <vt:lpstr>MS PGothic</vt:lpstr>
      <vt:lpstr>Arial</vt:lpstr>
      <vt:lpstr>Calibri</vt:lpstr>
      <vt:lpstr>Cambria Math</vt:lpstr>
      <vt:lpstr>Symbol</vt:lpstr>
      <vt:lpstr>Wingdings</vt:lpstr>
      <vt:lpstr>Präsentation_Master_RWTH_Institute_16zu9</vt:lpstr>
      <vt:lpstr>Reinforcement Learning</vt:lpstr>
      <vt:lpstr>Concept</vt:lpstr>
      <vt:lpstr>Key Components [1]</vt:lpstr>
      <vt:lpstr>Methods [2]</vt:lpstr>
      <vt:lpstr>Algorithms</vt:lpstr>
      <vt:lpstr>REINFORCE [3]</vt:lpstr>
      <vt:lpstr>Self-Critical Sequence Training (SCST) [4]</vt:lpstr>
      <vt:lpstr>Proximal Policy Optimization (PPO) [5]</vt:lpstr>
      <vt:lpstr>Reinforcement Learning with Human Feedback (RLHF) [6]</vt:lpstr>
      <vt:lpstr>Direct Preference Optimization (DPO) [7]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Antonia Gustke</dc:creator>
  <cp:lastModifiedBy>Antonia Gustke</cp:lastModifiedBy>
  <cp:revision>7</cp:revision>
  <dcterms:created xsi:type="dcterms:W3CDTF">2025-12-11T16:48:32Z</dcterms:created>
  <dcterms:modified xsi:type="dcterms:W3CDTF">2025-12-11T19:33:28Z</dcterms:modified>
</cp:coreProperties>
</file>